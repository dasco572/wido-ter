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34" r:id="rId1"/>
  </p:sldMasterIdLst>
  <p:notesMasterIdLst>
    <p:notesMasterId r:id="rId20"/>
  </p:notesMasterIdLst>
  <p:sldIdLst>
    <p:sldId id="256" r:id="rId2"/>
    <p:sldId id="269" r:id="rId3"/>
    <p:sldId id="257" r:id="rId4"/>
    <p:sldId id="258" r:id="rId5"/>
    <p:sldId id="259" r:id="rId6"/>
    <p:sldId id="270" r:id="rId7"/>
    <p:sldId id="261" r:id="rId8"/>
    <p:sldId id="260" r:id="rId9"/>
    <p:sldId id="262" r:id="rId10"/>
    <p:sldId id="263" r:id="rId11"/>
    <p:sldId id="271" r:id="rId12"/>
    <p:sldId id="264" r:id="rId13"/>
    <p:sldId id="272" r:id="rId14"/>
    <p:sldId id="265" r:id="rId15"/>
    <p:sldId id="266" r:id="rId16"/>
    <p:sldId id="273" r:id="rId17"/>
    <p:sldId id="267" r:id="rId18"/>
    <p:sldId id="268" r:id="rId1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71" d="100"/>
          <a:sy n="71" d="100"/>
        </p:scale>
        <p:origin x="41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6957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124995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207279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625135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6656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21575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99397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58497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359212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045607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352141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858221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4483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751379418"/>
      </p:ext>
    </p:extLst>
  </p:cSld>
  <p:clrMap bg1="dk1" tx1="lt1" bg2="dk2" tx2="lt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 id="2147484046"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2"/>
        </a:solidFill>
        <a:effectLst/>
      </p:bgPr>
    </p:bg>
    <p:spTree>
      <p:nvGrpSpPr>
        <p:cNvPr id="1" name=""/>
        <p:cNvGrpSpPr/>
        <p:nvPr/>
      </p:nvGrpSpPr>
      <p:grpSpPr>
        <a:xfrm>
          <a:off x="0" y="0"/>
          <a:ext cx="0" cy="0"/>
          <a:chOff x="0" y="0"/>
          <a:chExt cx="0" cy="0"/>
        </a:xfrm>
      </p:grpSpPr>
      <p:sp>
        <p:nvSpPr>
          <p:cNvPr id="2" name="Shape 0"/>
          <p:cNvSpPr/>
          <p:nvPr/>
        </p:nvSpPr>
        <p:spPr>
          <a:xfrm>
            <a:off x="7955280" y="1280160"/>
            <a:ext cx="1559052" cy="0"/>
          </a:xfrm>
          <a:prstGeom prst="line">
            <a:avLst/>
          </a:prstGeom>
          <a:noFill/>
          <a:ln w="15875">
            <a:solidFill>
              <a:srgbClr val="1C7293">
                <a:alpha val="70000"/>
              </a:srgbClr>
            </a:solidFill>
            <a:prstDash val="solid"/>
          </a:ln>
        </p:spPr>
      </p:sp>
      <p:sp>
        <p:nvSpPr>
          <p:cNvPr id="3" name="Shape 1"/>
          <p:cNvSpPr/>
          <p:nvPr/>
        </p:nvSpPr>
        <p:spPr>
          <a:xfrm>
            <a:off x="7955280" y="1280160"/>
            <a:ext cx="1417320" cy="992124"/>
          </a:xfrm>
          <a:prstGeom prst="line">
            <a:avLst/>
          </a:prstGeom>
          <a:noFill/>
          <a:ln w="15875">
            <a:solidFill>
              <a:srgbClr val="1C7293">
                <a:alpha val="70000"/>
              </a:srgbClr>
            </a:solidFill>
            <a:prstDash val="solid"/>
          </a:ln>
        </p:spPr>
      </p:sp>
      <p:sp>
        <p:nvSpPr>
          <p:cNvPr id="4" name="Shape 2"/>
          <p:cNvSpPr/>
          <p:nvPr/>
        </p:nvSpPr>
        <p:spPr>
          <a:xfrm>
            <a:off x="9514332" y="571500"/>
            <a:ext cx="1417320" cy="850392"/>
          </a:xfrm>
          <a:prstGeom prst="line">
            <a:avLst/>
          </a:prstGeom>
          <a:noFill/>
          <a:ln w="15875">
            <a:solidFill>
              <a:srgbClr val="1C7293">
                <a:alpha val="70000"/>
              </a:srgbClr>
            </a:solidFill>
            <a:prstDash val="solid"/>
          </a:ln>
        </p:spPr>
      </p:sp>
      <p:sp>
        <p:nvSpPr>
          <p:cNvPr id="5" name="Shape 3"/>
          <p:cNvSpPr/>
          <p:nvPr/>
        </p:nvSpPr>
        <p:spPr>
          <a:xfrm>
            <a:off x="9372600" y="2272284"/>
            <a:ext cx="1559052" cy="0"/>
          </a:xfrm>
          <a:prstGeom prst="line">
            <a:avLst/>
          </a:prstGeom>
          <a:noFill/>
          <a:ln w="15875">
            <a:solidFill>
              <a:srgbClr val="1C7293">
                <a:alpha val="70000"/>
              </a:srgbClr>
            </a:solidFill>
            <a:prstDash val="solid"/>
          </a:ln>
        </p:spPr>
      </p:sp>
      <p:sp>
        <p:nvSpPr>
          <p:cNvPr id="6" name="Shape 4"/>
          <p:cNvSpPr/>
          <p:nvPr/>
        </p:nvSpPr>
        <p:spPr>
          <a:xfrm>
            <a:off x="7955280" y="1280160"/>
            <a:ext cx="566928" cy="1842516"/>
          </a:xfrm>
          <a:prstGeom prst="line">
            <a:avLst/>
          </a:prstGeom>
          <a:noFill/>
          <a:ln w="15875">
            <a:solidFill>
              <a:srgbClr val="1C7293">
                <a:alpha val="70000"/>
              </a:srgbClr>
            </a:solidFill>
            <a:prstDash val="solid"/>
          </a:ln>
        </p:spPr>
      </p:sp>
      <p:sp>
        <p:nvSpPr>
          <p:cNvPr id="7" name="Shape 5"/>
          <p:cNvSpPr/>
          <p:nvPr/>
        </p:nvSpPr>
        <p:spPr>
          <a:xfrm>
            <a:off x="9372600" y="2272284"/>
            <a:ext cx="0" cy="850392"/>
          </a:xfrm>
          <a:prstGeom prst="line">
            <a:avLst/>
          </a:prstGeom>
          <a:noFill/>
          <a:ln w="15875">
            <a:solidFill>
              <a:srgbClr val="1C7293">
                <a:alpha val="70000"/>
              </a:srgbClr>
            </a:solidFill>
            <a:prstDash val="solid"/>
          </a:ln>
        </p:spPr>
      </p:sp>
      <p:sp>
        <p:nvSpPr>
          <p:cNvPr id="8" name="Shape 6"/>
          <p:cNvSpPr/>
          <p:nvPr/>
        </p:nvSpPr>
        <p:spPr>
          <a:xfrm>
            <a:off x="7785202" y="1110082"/>
            <a:ext cx="340157" cy="340157"/>
          </a:xfrm>
          <a:prstGeom prst="ellipse">
            <a:avLst/>
          </a:prstGeom>
          <a:solidFill>
            <a:srgbClr val="1C7293"/>
          </a:solidFill>
          <a:ln/>
        </p:spPr>
      </p:sp>
      <p:sp>
        <p:nvSpPr>
          <p:cNvPr id="9" name="Shape 7"/>
          <p:cNvSpPr/>
          <p:nvPr/>
        </p:nvSpPr>
        <p:spPr>
          <a:xfrm>
            <a:off x="9344254" y="401422"/>
            <a:ext cx="340157" cy="340157"/>
          </a:xfrm>
          <a:prstGeom prst="ellipse">
            <a:avLst/>
          </a:prstGeom>
          <a:solidFill>
            <a:srgbClr val="1C7293"/>
          </a:solidFill>
          <a:ln/>
        </p:spPr>
      </p:sp>
      <p:sp>
        <p:nvSpPr>
          <p:cNvPr id="10" name="Shape 8"/>
          <p:cNvSpPr/>
          <p:nvPr/>
        </p:nvSpPr>
        <p:spPr>
          <a:xfrm>
            <a:off x="9202522" y="2102206"/>
            <a:ext cx="340157" cy="340157"/>
          </a:xfrm>
          <a:prstGeom prst="ellipse">
            <a:avLst/>
          </a:prstGeom>
          <a:solidFill>
            <a:srgbClr val="1C7293"/>
          </a:solidFill>
          <a:ln/>
        </p:spPr>
      </p:sp>
      <p:sp>
        <p:nvSpPr>
          <p:cNvPr id="11" name="Shape 9"/>
          <p:cNvSpPr/>
          <p:nvPr/>
        </p:nvSpPr>
        <p:spPr>
          <a:xfrm>
            <a:off x="10761574" y="1251814"/>
            <a:ext cx="340157" cy="340157"/>
          </a:xfrm>
          <a:prstGeom prst="ellipse">
            <a:avLst/>
          </a:prstGeom>
          <a:solidFill>
            <a:srgbClr val="1C7293"/>
          </a:solidFill>
          <a:ln/>
        </p:spPr>
      </p:sp>
      <p:sp>
        <p:nvSpPr>
          <p:cNvPr id="12" name="Shape 10"/>
          <p:cNvSpPr/>
          <p:nvPr/>
        </p:nvSpPr>
        <p:spPr>
          <a:xfrm>
            <a:off x="8352130" y="2952598"/>
            <a:ext cx="340157" cy="340157"/>
          </a:xfrm>
          <a:prstGeom prst="ellipse">
            <a:avLst/>
          </a:prstGeom>
          <a:solidFill>
            <a:srgbClr val="1C7293"/>
          </a:solidFill>
          <a:ln/>
        </p:spPr>
      </p:sp>
      <p:sp>
        <p:nvSpPr>
          <p:cNvPr id="13" name="Shape 11"/>
          <p:cNvSpPr/>
          <p:nvPr/>
        </p:nvSpPr>
        <p:spPr>
          <a:xfrm>
            <a:off x="9144000" y="4023360"/>
            <a:ext cx="1207008" cy="0"/>
          </a:xfrm>
          <a:prstGeom prst="line">
            <a:avLst/>
          </a:prstGeom>
          <a:noFill/>
          <a:ln w="15875">
            <a:solidFill>
              <a:srgbClr val="2EC4B6">
                <a:alpha val="70000"/>
              </a:srgbClr>
            </a:solidFill>
            <a:prstDash val="solid"/>
          </a:ln>
        </p:spPr>
      </p:sp>
      <p:sp>
        <p:nvSpPr>
          <p:cNvPr id="14" name="Shape 12"/>
          <p:cNvSpPr/>
          <p:nvPr/>
        </p:nvSpPr>
        <p:spPr>
          <a:xfrm>
            <a:off x="9144000" y="4023360"/>
            <a:ext cx="1097280" cy="768096"/>
          </a:xfrm>
          <a:prstGeom prst="line">
            <a:avLst/>
          </a:prstGeom>
          <a:noFill/>
          <a:ln w="15875">
            <a:solidFill>
              <a:srgbClr val="2EC4B6">
                <a:alpha val="70000"/>
              </a:srgbClr>
            </a:solidFill>
            <a:prstDash val="solid"/>
          </a:ln>
        </p:spPr>
      </p:sp>
      <p:sp>
        <p:nvSpPr>
          <p:cNvPr id="15" name="Shape 13"/>
          <p:cNvSpPr/>
          <p:nvPr/>
        </p:nvSpPr>
        <p:spPr>
          <a:xfrm>
            <a:off x="10351008" y="3474720"/>
            <a:ext cx="1097280" cy="658368"/>
          </a:xfrm>
          <a:prstGeom prst="line">
            <a:avLst/>
          </a:prstGeom>
          <a:noFill/>
          <a:ln w="15875">
            <a:solidFill>
              <a:srgbClr val="2EC4B6">
                <a:alpha val="70000"/>
              </a:srgbClr>
            </a:solidFill>
            <a:prstDash val="solid"/>
          </a:ln>
        </p:spPr>
      </p:sp>
      <p:sp>
        <p:nvSpPr>
          <p:cNvPr id="16" name="Shape 14"/>
          <p:cNvSpPr/>
          <p:nvPr/>
        </p:nvSpPr>
        <p:spPr>
          <a:xfrm>
            <a:off x="10241280" y="4791456"/>
            <a:ext cx="1207008" cy="0"/>
          </a:xfrm>
          <a:prstGeom prst="line">
            <a:avLst/>
          </a:prstGeom>
          <a:noFill/>
          <a:ln w="15875">
            <a:solidFill>
              <a:srgbClr val="2EC4B6">
                <a:alpha val="70000"/>
              </a:srgbClr>
            </a:solidFill>
            <a:prstDash val="solid"/>
          </a:ln>
        </p:spPr>
      </p:sp>
      <p:sp>
        <p:nvSpPr>
          <p:cNvPr id="17" name="Shape 15"/>
          <p:cNvSpPr/>
          <p:nvPr/>
        </p:nvSpPr>
        <p:spPr>
          <a:xfrm>
            <a:off x="9144000" y="4023360"/>
            <a:ext cx="438912" cy="1426464"/>
          </a:xfrm>
          <a:prstGeom prst="line">
            <a:avLst/>
          </a:prstGeom>
          <a:noFill/>
          <a:ln w="15875">
            <a:solidFill>
              <a:srgbClr val="2EC4B6">
                <a:alpha val="70000"/>
              </a:srgbClr>
            </a:solidFill>
            <a:prstDash val="solid"/>
          </a:ln>
        </p:spPr>
      </p:sp>
      <p:sp>
        <p:nvSpPr>
          <p:cNvPr id="18" name="Shape 16"/>
          <p:cNvSpPr/>
          <p:nvPr/>
        </p:nvSpPr>
        <p:spPr>
          <a:xfrm>
            <a:off x="10241280" y="4791456"/>
            <a:ext cx="0" cy="658368"/>
          </a:xfrm>
          <a:prstGeom prst="line">
            <a:avLst/>
          </a:prstGeom>
          <a:noFill/>
          <a:ln w="15875">
            <a:solidFill>
              <a:srgbClr val="2EC4B6">
                <a:alpha val="70000"/>
              </a:srgbClr>
            </a:solidFill>
            <a:prstDash val="solid"/>
          </a:ln>
        </p:spPr>
      </p:sp>
      <p:sp>
        <p:nvSpPr>
          <p:cNvPr id="19" name="Shape 17"/>
          <p:cNvSpPr/>
          <p:nvPr/>
        </p:nvSpPr>
        <p:spPr>
          <a:xfrm>
            <a:off x="9012326" y="3891686"/>
            <a:ext cx="263347" cy="263347"/>
          </a:xfrm>
          <a:prstGeom prst="ellipse">
            <a:avLst/>
          </a:prstGeom>
          <a:solidFill>
            <a:srgbClr val="1C7293"/>
          </a:solidFill>
          <a:ln/>
        </p:spPr>
      </p:sp>
      <p:sp>
        <p:nvSpPr>
          <p:cNvPr id="20" name="Shape 18"/>
          <p:cNvSpPr/>
          <p:nvPr/>
        </p:nvSpPr>
        <p:spPr>
          <a:xfrm>
            <a:off x="10219334" y="3343046"/>
            <a:ext cx="263347" cy="263347"/>
          </a:xfrm>
          <a:prstGeom prst="ellipse">
            <a:avLst/>
          </a:prstGeom>
          <a:solidFill>
            <a:srgbClr val="2EC4B6"/>
          </a:solidFill>
          <a:ln/>
        </p:spPr>
      </p:sp>
      <p:sp>
        <p:nvSpPr>
          <p:cNvPr id="21" name="Shape 19"/>
          <p:cNvSpPr/>
          <p:nvPr/>
        </p:nvSpPr>
        <p:spPr>
          <a:xfrm>
            <a:off x="10109606" y="4659782"/>
            <a:ext cx="263347" cy="263347"/>
          </a:xfrm>
          <a:prstGeom prst="ellipse">
            <a:avLst/>
          </a:prstGeom>
          <a:solidFill>
            <a:srgbClr val="1C7293"/>
          </a:solidFill>
          <a:ln/>
        </p:spPr>
      </p:sp>
      <p:sp>
        <p:nvSpPr>
          <p:cNvPr id="22" name="Shape 20"/>
          <p:cNvSpPr/>
          <p:nvPr/>
        </p:nvSpPr>
        <p:spPr>
          <a:xfrm>
            <a:off x="11316614" y="4001414"/>
            <a:ext cx="263347" cy="263347"/>
          </a:xfrm>
          <a:prstGeom prst="ellipse">
            <a:avLst/>
          </a:prstGeom>
          <a:solidFill>
            <a:srgbClr val="2EC4B6"/>
          </a:solidFill>
          <a:ln/>
        </p:spPr>
      </p:sp>
      <p:sp>
        <p:nvSpPr>
          <p:cNvPr id="23" name="Shape 21"/>
          <p:cNvSpPr/>
          <p:nvPr/>
        </p:nvSpPr>
        <p:spPr>
          <a:xfrm>
            <a:off x="9451238" y="5318150"/>
            <a:ext cx="263347" cy="263347"/>
          </a:xfrm>
          <a:prstGeom prst="ellipse">
            <a:avLst/>
          </a:prstGeom>
          <a:solidFill>
            <a:srgbClr val="1C7293"/>
          </a:solidFill>
          <a:ln/>
        </p:spPr>
      </p:sp>
      <p:sp>
        <p:nvSpPr>
          <p:cNvPr id="24" name="Text 22"/>
          <p:cNvSpPr/>
          <p:nvPr/>
        </p:nvSpPr>
        <p:spPr>
          <a:xfrm>
            <a:off x="822960" y="1051560"/>
            <a:ext cx="9144000" cy="365760"/>
          </a:xfrm>
          <a:prstGeom prst="rect">
            <a:avLst/>
          </a:prstGeom>
          <a:noFill/>
          <a:ln/>
        </p:spPr>
        <p:txBody>
          <a:bodyPr wrap="square" lIns="0" tIns="0" rIns="0" bIns="0" rtlCol="0" anchor="ctr"/>
          <a:lstStyle/>
          <a:p>
            <a:pPr marL="0" indent="0">
              <a:buNone/>
            </a:pPr>
            <a:r>
              <a:rPr lang="en-US" sz="1300" b="1" kern="0" spc="300" dirty="0">
                <a:solidFill>
                  <a:srgbClr val="8FE3DA"/>
                </a:solidFill>
                <a:latin typeface="Calibri" pitchFamily="34" charset="0"/>
                <a:ea typeface="Calibri" pitchFamily="34" charset="-122"/>
                <a:cs typeface="Calibri" pitchFamily="34" charset="-120"/>
              </a:rPr>
              <a:t>TRAVAIL D'ÉTUDE ET DE RECHERCHE  ·  SUJET 33</a:t>
            </a:r>
            <a:endParaRPr lang="en-US" sz="1300" dirty="0"/>
          </a:p>
        </p:txBody>
      </p:sp>
      <p:sp>
        <p:nvSpPr>
          <p:cNvPr id="25" name="Text 23"/>
          <p:cNvSpPr/>
          <p:nvPr/>
        </p:nvSpPr>
        <p:spPr>
          <a:xfrm>
            <a:off x="786384" y="1417320"/>
            <a:ext cx="7315200" cy="1371600"/>
          </a:xfrm>
          <a:prstGeom prst="rect">
            <a:avLst/>
          </a:prstGeom>
          <a:noFill/>
          <a:ln/>
        </p:spPr>
        <p:txBody>
          <a:bodyPr wrap="square" lIns="0" tIns="0" rIns="0" bIns="0" rtlCol="0" anchor="ctr"/>
          <a:lstStyle/>
          <a:p>
            <a:pPr marL="0" indent="0">
              <a:buNone/>
            </a:pPr>
            <a:r>
              <a:rPr lang="en-US" sz="9200" b="1" dirty="0">
                <a:solidFill>
                  <a:srgbClr val="FFFFFF"/>
                </a:solidFill>
                <a:latin typeface="Georgia" pitchFamily="34" charset="0"/>
                <a:ea typeface="Georgia" pitchFamily="34" charset="-122"/>
                <a:cs typeface="Georgia" pitchFamily="34" charset="-120"/>
              </a:rPr>
              <a:t>WIDO</a:t>
            </a:r>
            <a:endParaRPr lang="en-US" sz="9200" dirty="0"/>
          </a:p>
        </p:txBody>
      </p:sp>
      <p:sp>
        <p:nvSpPr>
          <p:cNvPr id="26" name="Text 24"/>
          <p:cNvSpPr/>
          <p:nvPr/>
        </p:nvSpPr>
        <p:spPr>
          <a:xfrm>
            <a:off x="822960" y="2788920"/>
            <a:ext cx="7863840" cy="1005840"/>
          </a:xfrm>
          <a:prstGeom prst="rect">
            <a:avLst/>
          </a:prstGeom>
          <a:noFill/>
          <a:ln/>
        </p:spPr>
        <p:txBody>
          <a:bodyPr wrap="square" lIns="0" tIns="0" rIns="0" bIns="0" rtlCol="0" anchor="ctr"/>
          <a:lstStyle/>
          <a:p>
            <a:pPr marL="0" indent="0">
              <a:lnSpc>
                <a:spcPct val="115000"/>
              </a:lnSpc>
              <a:buNone/>
            </a:pPr>
            <a:r>
              <a:rPr lang="en-US" sz="2300" i="1" dirty="0">
                <a:solidFill>
                  <a:srgbClr val="8FE3DA"/>
                </a:solidFill>
                <a:latin typeface="Georgia" pitchFamily="34" charset="0"/>
                <a:ea typeface="Georgia" pitchFamily="34" charset="-122"/>
                <a:cs typeface="Georgia" pitchFamily="34" charset="-120"/>
              </a:rPr>
              <a:t>Moteur sémantique d'interrogation</a:t>
            </a:r>
            <a:endParaRPr lang="en-US" sz="2300" dirty="0"/>
          </a:p>
          <a:p>
            <a:pPr marL="0" indent="0">
              <a:lnSpc>
                <a:spcPct val="115000"/>
              </a:lnSpc>
              <a:buNone/>
            </a:pPr>
            <a:r>
              <a:rPr lang="en-US" sz="2300" i="1" dirty="0">
                <a:solidFill>
                  <a:srgbClr val="8FE3DA"/>
                </a:solidFill>
                <a:latin typeface="Georgia" pitchFamily="34" charset="0"/>
                <a:ea typeface="Georgia" pitchFamily="34" charset="-122"/>
                <a:cs typeface="Georgia" pitchFamily="34" charset="-120"/>
              </a:rPr>
              <a:t>du graphe de connaissances JeuxDeMots</a:t>
            </a:r>
            <a:endParaRPr lang="en-US" sz="2300" dirty="0"/>
          </a:p>
        </p:txBody>
      </p:sp>
      <p:sp>
        <p:nvSpPr>
          <p:cNvPr id="27" name="Shape 25"/>
          <p:cNvSpPr/>
          <p:nvPr/>
        </p:nvSpPr>
        <p:spPr>
          <a:xfrm>
            <a:off x="841248" y="3977640"/>
            <a:ext cx="1371600" cy="45720"/>
          </a:xfrm>
          <a:prstGeom prst="rect">
            <a:avLst/>
          </a:prstGeom>
          <a:solidFill>
            <a:srgbClr val="2EC4B6"/>
          </a:solidFill>
          <a:ln/>
        </p:spPr>
      </p:sp>
      <p:sp>
        <p:nvSpPr>
          <p:cNvPr id="28" name="Text 26"/>
          <p:cNvSpPr/>
          <p:nvPr/>
        </p:nvSpPr>
        <p:spPr>
          <a:xfrm>
            <a:off x="822960" y="4343400"/>
            <a:ext cx="10515600" cy="365760"/>
          </a:xfrm>
          <a:prstGeom prst="rect">
            <a:avLst/>
          </a:prstGeom>
          <a:noFill/>
          <a:ln/>
        </p:spPr>
        <p:txBody>
          <a:bodyPr wrap="square" lIns="0" tIns="0" rIns="0" bIns="0" rtlCol="0" anchor="ctr"/>
          <a:lstStyle/>
          <a:p>
            <a:pPr marL="0" indent="0">
              <a:buNone/>
            </a:pPr>
            <a:r>
              <a:rPr lang="en-US" sz="1500" b="1" dirty="0" err="1">
                <a:solidFill>
                  <a:srgbClr val="8FE3DA"/>
                </a:solidFill>
                <a:latin typeface="Calibri" pitchFamily="34" charset="0"/>
                <a:ea typeface="Calibri" pitchFamily="34" charset="-122"/>
                <a:cs typeface="Calibri" pitchFamily="34" charset="-120"/>
              </a:rPr>
              <a:t>Étudiants</a:t>
            </a:r>
            <a:r>
              <a:rPr lang="en-US" sz="1500" b="1" dirty="0">
                <a:solidFill>
                  <a:srgbClr val="8FE3DA"/>
                </a:solidFill>
                <a:latin typeface="Calibri" pitchFamily="34" charset="0"/>
                <a:ea typeface="Calibri" pitchFamily="34" charset="-122"/>
                <a:cs typeface="Calibri" pitchFamily="34" charset="-120"/>
              </a:rPr>
              <a:t>  :  </a:t>
            </a:r>
            <a:r>
              <a:rPr lang="en-US" sz="1500" dirty="0">
                <a:solidFill>
                  <a:srgbClr val="FFFFFF"/>
                </a:solidFill>
                <a:latin typeface="Calibri" pitchFamily="34" charset="0"/>
                <a:ea typeface="Calibri" pitchFamily="34" charset="-122"/>
                <a:cs typeface="Calibri" pitchFamily="34" charset="-120"/>
              </a:rPr>
              <a:t>Mohamed </a:t>
            </a:r>
            <a:r>
              <a:rPr lang="en-US" sz="1500" dirty="0" err="1">
                <a:solidFill>
                  <a:srgbClr val="FFFFFF"/>
                </a:solidFill>
                <a:latin typeface="Calibri" pitchFamily="34" charset="0"/>
                <a:ea typeface="Calibri" pitchFamily="34" charset="-122"/>
                <a:cs typeface="Calibri" pitchFamily="34" charset="-120"/>
              </a:rPr>
              <a:t>Tedjini</a:t>
            </a:r>
            <a:r>
              <a:rPr lang="en-US" sz="1500" dirty="0">
                <a:solidFill>
                  <a:srgbClr val="FFFFFF"/>
                </a:solidFill>
                <a:latin typeface="Calibri" pitchFamily="34" charset="0"/>
                <a:ea typeface="Calibri" pitchFamily="34" charset="-122"/>
                <a:cs typeface="Calibri" pitchFamily="34" charset="-120"/>
              </a:rPr>
              <a:t> - Dangué Sacko - Mazigh </a:t>
            </a:r>
            <a:r>
              <a:rPr lang="en-US" sz="1500" dirty="0" err="1">
                <a:solidFill>
                  <a:srgbClr val="FFFFFF"/>
                </a:solidFill>
                <a:latin typeface="Calibri" pitchFamily="34" charset="0"/>
                <a:ea typeface="Calibri" pitchFamily="34" charset="-122"/>
                <a:cs typeface="Calibri" pitchFamily="34" charset="-120"/>
              </a:rPr>
              <a:t>Idir</a:t>
            </a:r>
            <a:r>
              <a:rPr lang="en-US" sz="1500" dirty="0">
                <a:solidFill>
                  <a:srgbClr val="FFFFFF"/>
                </a:solidFill>
                <a:latin typeface="Calibri" pitchFamily="34" charset="0"/>
                <a:ea typeface="Calibri" pitchFamily="34" charset="-122"/>
                <a:cs typeface="Calibri" pitchFamily="34" charset="-120"/>
              </a:rPr>
              <a:t> - Maurice-</a:t>
            </a:r>
            <a:r>
              <a:rPr lang="en-US" sz="1500" dirty="0" err="1">
                <a:solidFill>
                  <a:srgbClr val="FFFFFF"/>
                </a:solidFill>
                <a:latin typeface="Calibri" pitchFamily="34" charset="0"/>
                <a:ea typeface="Calibri" pitchFamily="34" charset="-122"/>
                <a:cs typeface="Calibri" pitchFamily="34" charset="-120"/>
              </a:rPr>
              <a:t>Aimé</a:t>
            </a:r>
            <a:r>
              <a:rPr lang="en-US" sz="1500" dirty="0">
                <a:solidFill>
                  <a:srgbClr val="FFFFFF"/>
                </a:solidFill>
                <a:latin typeface="Calibri" pitchFamily="34" charset="0"/>
                <a:ea typeface="Calibri" pitchFamily="34" charset="-122"/>
                <a:cs typeface="Calibri" pitchFamily="34" charset="-120"/>
              </a:rPr>
              <a:t> Djobo</a:t>
            </a:r>
            <a:endParaRPr lang="en-US" sz="1500" dirty="0"/>
          </a:p>
        </p:txBody>
      </p:sp>
      <p:sp>
        <p:nvSpPr>
          <p:cNvPr id="29" name="Text 27"/>
          <p:cNvSpPr/>
          <p:nvPr/>
        </p:nvSpPr>
        <p:spPr>
          <a:xfrm>
            <a:off x="822960" y="4754880"/>
            <a:ext cx="10515600" cy="365760"/>
          </a:xfrm>
          <a:prstGeom prst="rect">
            <a:avLst/>
          </a:prstGeom>
          <a:noFill/>
          <a:ln/>
        </p:spPr>
        <p:txBody>
          <a:bodyPr wrap="square" lIns="0" tIns="0" rIns="0" bIns="0" rtlCol="0" anchor="ctr"/>
          <a:lstStyle/>
          <a:p>
            <a:pPr marL="0" indent="0">
              <a:buNone/>
            </a:pPr>
            <a:r>
              <a:rPr lang="en-US" sz="1500" b="1" dirty="0" err="1">
                <a:solidFill>
                  <a:srgbClr val="8FE3DA"/>
                </a:solidFill>
                <a:latin typeface="Calibri" pitchFamily="34" charset="0"/>
                <a:ea typeface="Calibri" pitchFamily="34" charset="-122"/>
                <a:cs typeface="Calibri" pitchFamily="34" charset="-120"/>
              </a:rPr>
              <a:t>Encadrant</a:t>
            </a:r>
            <a:r>
              <a:rPr lang="en-US" sz="1500" b="1" dirty="0">
                <a:solidFill>
                  <a:srgbClr val="8FE3DA"/>
                </a:solidFill>
                <a:latin typeface="Calibri" pitchFamily="34" charset="0"/>
                <a:ea typeface="Calibri" pitchFamily="34" charset="-122"/>
                <a:cs typeface="Calibri" pitchFamily="34" charset="-120"/>
              </a:rPr>
              <a:t>  :  </a:t>
            </a:r>
            <a:r>
              <a:rPr lang="en-US" sz="1500" dirty="0">
                <a:solidFill>
                  <a:srgbClr val="FFFFFF"/>
                </a:solidFill>
                <a:latin typeface="Calibri" pitchFamily="34" charset="0"/>
                <a:ea typeface="Calibri" pitchFamily="34" charset="-122"/>
                <a:cs typeface="Calibri" pitchFamily="34" charset="-120"/>
              </a:rPr>
              <a:t>Mathieu Lafourcade</a:t>
            </a:r>
            <a:endParaRPr lang="en-US" sz="1500" dirty="0"/>
          </a:p>
        </p:txBody>
      </p:sp>
      <p:sp>
        <p:nvSpPr>
          <p:cNvPr id="30" name="Text 28"/>
          <p:cNvSpPr/>
          <p:nvPr/>
        </p:nvSpPr>
        <p:spPr>
          <a:xfrm>
            <a:off x="822960" y="5989320"/>
            <a:ext cx="10515600" cy="365760"/>
          </a:xfrm>
          <a:prstGeom prst="rect">
            <a:avLst/>
          </a:prstGeom>
          <a:noFill/>
          <a:ln/>
        </p:spPr>
        <p:txBody>
          <a:bodyPr wrap="square" lIns="0" tIns="0" rIns="0" bIns="0" rtlCol="0" anchor="ctr"/>
          <a:lstStyle/>
          <a:p>
            <a:pPr marL="0" indent="0">
              <a:buNone/>
            </a:pPr>
            <a:r>
              <a:rPr lang="en-US" sz="1250" dirty="0">
                <a:solidFill>
                  <a:srgbClr val="9FC4CE"/>
                </a:solidFill>
                <a:latin typeface="Calibri" pitchFamily="34" charset="0"/>
                <a:ea typeface="Calibri" pitchFamily="34" charset="-122"/>
                <a:cs typeface="Calibri" pitchFamily="34" charset="-120"/>
              </a:rPr>
              <a:t>Master 1 Informatique  Intégration de </a:t>
            </a:r>
            <a:r>
              <a:rPr lang="en-US" sz="1250" dirty="0" err="1">
                <a:solidFill>
                  <a:srgbClr val="9FC4CE"/>
                </a:solidFill>
                <a:latin typeface="Calibri" pitchFamily="34" charset="0"/>
                <a:ea typeface="Calibri" pitchFamily="34" charset="-122"/>
                <a:cs typeface="Calibri" pitchFamily="34" charset="-120"/>
              </a:rPr>
              <a:t>Compétences</a:t>
            </a:r>
            <a:r>
              <a:rPr lang="en-US" sz="1250" dirty="0">
                <a:solidFill>
                  <a:srgbClr val="9FC4CE"/>
                </a:solidFill>
                <a:latin typeface="Calibri" pitchFamily="34" charset="0"/>
                <a:ea typeface="Calibri" pitchFamily="34" charset="-122"/>
                <a:cs typeface="Calibri" pitchFamily="34" charset="-120"/>
              </a:rPr>
              <a:t> (</a:t>
            </a:r>
            <a:r>
              <a:rPr lang="en-US" sz="1250" dirty="0" err="1">
                <a:solidFill>
                  <a:srgbClr val="9FC4CE"/>
                </a:solidFill>
                <a:latin typeface="Calibri" pitchFamily="34" charset="0"/>
                <a:ea typeface="Calibri" pitchFamily="34" charset="-122"/>
                <a:cs typeface="Calibri" pitchFamily="34" charset="-120"/>
              </a:rPr>
              <a:t>Ico</a:t>
            </a:r>
            <a:r>
              <a:rPr lang="en-US" sz="1250" dirty="0">
                <a:solidFill>
                  <a:srgbClr val="9FC4CE"/>
                </a:solidFill>
                <a:latin typeface="Calibri" pitchFamily="34" charset="0"/>
                <a:ea typeface="Calibri" pitchFamily="34" charset="-122"/>
                <a:cs typeface="Calibri" pitchFamily="34" charset="-120"/>
              </a:rPr>
              <a:t>)· Université de Montpellier · 2025–2026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PLAN DE LA PRÉSENTATION</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Comment nous allons présenter WIDO</a:t>
            </a:r>
            <a:endParaRPr lang="en-US" sz="3000" dirty="0"/>
          </a:p>
        </p:txBody>
      </p:sp>
      <p:sp>
        <p:nvSpPr>
          <p:cNvPr id="6" name="Shape 3"/>
          <p:cNvSpPr/>
          <p:nvPr/>
        </p:nvSpPr>
        <p:spPr>
          <a:xfrm>
            <a:off x="548640" y="1874520"/>
            <a:ext cx="5394960" cy="4297680"/>
          </a:xfrm>
          <a:prstGeom prst="roundRect">
            <a:avLst>
              <a:gd name="adj" fmla="val 2128"/>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7" name="Shape 4"/>
          <p:cNvSpPr/>
          <p:nvPr/>
        </p:nvSpPr>
        <p:spPr>
          <a:xfrm>
            <a:off x="548640" y="1874520"/>
            <a:ext cx="5394960" cy="82296"/>
          </a:xfrm>
          <a:prstGeom prst="rect">
            <a:avLst/>
          </a:prstGeom>
          <a:solidFill>
            <a:srgbClr val="1C7293"/>
          </a:solidFill>
          <a:ln/>
        </p:spPr>
      </p:sp>
      <p:sp>
        <p:nvSpPr>
          <p:cNvPr id="8" name="Shape 5"/>
          <p:cNvSpPr/>
          <p:nvPr/>
        </p:nvSpPr>
        <p:spPr>
          <a:xfrm>
            <a:off x="914400" y="2194560"/>
            <a:ext cx="658368" cy="658368"/>
          </a:xfrm>
          <a:prstGeom prst="ellipse">
            <a:avLst/>
          </a:prstGeom>
          <a:solidFill>
            <a:srgbClr val="FFFFFF"/>
          </a:solidFill>
          <a:ln w="19050">
            <a:solidFill>
              <a:srgbClr val="1C7293"/>
            </a:solidFill>
            <a:prstDash val="solid"/>
          </a:ln>
        </p:spPr>
      </p:sp>
      <p:pic>
        <p:nvPicPr>
          <p:cNvPr id="9" name="Image 1" descr="preencoded.png"/>
          <p:cNvPicPr>
            <a:picLocks noChangeAspect="1"/>
          </p:cNvPicPr>
          <p:nvPr/>
        </p:nvPicPr>
        <p:blipFill>
          <a:blip r:embed="rId3"/>
          <a:stretch>
            <a:fillRect/>
          </a:stretch>
        </p:blipFill>
        <p:spPr>
          <a:xfrm>
            <a:off x="1069848" y="2350008"/>
            <a:ext cx="347472" cy="347472"/>
          </a:xfrm>
          <a:prstGeom prst="rect">
            <a:avLst/>
          </a:prstGeom>
        </p:spPr>
      </p:pic>
      <p:sp>
        <p:nvSpPr>
          <p:cNvPr id="10" name="Text 6"/>
          <p:cNvSpPr/>
          <p:nvPr/>
        </p:nvSpPr>
        <p:spPr>
          <a:xfrm>
            <a:off x="1737360" y="2212848"/>
            <a:ext cx="3931920" cy="640080"/>
          </a:xfrm>
          <a:prstGeom prst="rect">
            <a:avLst/>
          </a:prstGeom>
          <a:noFill/>
          <a:ln/>
        </p:spPr>
        <p:txBody>
          <a:bodyPr wrap="square" lIns="0" tIns="0" rIns="0" bIns="0" rtlCol="0" anchor="ctr"/>
          <a:lstStyle/>
          <a:p>
            <a:pPr marL="0" indent="0">
              <a:buNone/>
            </a:pPr>
            <a:r>
              <a:rPr lang="en-US" sz="1900" b="1" dirty="0">
                <a:solidFill>
                  <a:srgbClr val="12303C"/>
                </a:solidFill>
                <a:latin typeface="Georgia" pitchFamily="34" charset="0"/>
                <a:ea typeface="Georgia" pitchFamily="34" charset="-122"/>
                <a:cs typeface="Georgia" pitchFamily="34" charset="-120"/>
              </a:rPr>
              <a:t>Première partie — Les bases</a:t>
            </a:r>
            <a:endParaRPr lang="en-US" sz="1900" dirty="0"/>
          </a:p>
        </p:txBody>
      </p:sp>
      <p:sp>
        <p:nvSpPr>
          <p:cNvPr id="11" name="Text 7"/>
          <p:cNvSpPr/>
          <p:nvPr/>
        </p:nvSpPr>
        <p:spPr>
          <a:xfrm>
            <a:off x="960120" y="3154680"/>
            <a:ext cx="4617720" cy="2834640"/>
          </a:xfrm>
          <a:prstGeom prst="rect">
            <a:avLst/>
          </a:prstGeom>
          <a:noFill/>
          <a:ln/>
        </p:spPr>
        <p:txBody>
          <a:bodyPr wrap="square" lIns="0" tIns="0" rIns="0" bIns="0" rtlCol="0" anchor="ctr"/>
          <a:lstStyle/>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Contexte : JeuxDeMots &amp; problématique</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Objectifs fonctionnels &amp; techniques</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Le langage de requêtes &amp; exemples</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Architecture &amp; parseur (AST)</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Couche d'accès JeuxDeMots &amp; cache</a:t>
            </a:r>
            <a:endParaRPr lang="en-US" sz="1400" dirty="0"/>
          </a:p>
        </p:txBody>
      </p:sp>
      <p:sp>
        <p:nvSpPr>
          <p:cNvPr id="12" name="Shape 8"/>
          <p:cNvSpPr/>
          <p:nvPr/>
        </p:nvSpPr>
        <p:spPr>
          <a:xfrm>
            <a:off x="6263640" y="1874520"/>
            <a:ext cx="5394960" cy="4297680"/>
          </a:xfrm>
          <a:prstGeom prst="roundRect">
            <a:avLst>
              <a:gd name="adj" fmla="val 2128"/>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13" name="Shape 9"/>
          <p:cNvSpPr/>
          <p:nvPr/>
        </p:nvSpPr>
        <p:spPr>
          <a:xfrm>
            <a:off x="6263640" y="1874520"/>
            <a:ext cx="5394960" cy="82296"/>
          </a:xfrm>
          <a:prstGeom prst="rect">
            <a:avLst/>
          </a:prstGeom>
          <a:solidFill>
            <a:srgbClr val="2EC4B6"/>
          </a:solidFill>
          <a:ln/>
        </p:spPr>
      </p:sp>
      <p:sp>
        <p:nvSpPr>
          <p:cNvPr id="14" name="Shape 10"/>
          <p:cNvSpPr/>
          <p:nvPr/>
        </p:nvSpPr>
        <p:spPr>
          <a:xfrm>
            <a:off x="6629400" y="2194560"/>
            <a:ext cx="658368" cy="658368"/>
          </a:xfrm>
          <a:prstGeom prst="ellipse">
            <a:avLst/>
          </a:prstGeom>
          <a:solidFill>
            <a:srgbClr val="FFFFFF"/>
          </a:solidFill>
          <a:ln w="19050">
            <a:solidFill>
              <a:srgbClr val="2EC4B6"/>
            </a:solidFill>
            <a:prstDash val="solid"/>
          </a:ln>
        </p:spPr>
      </p:sp>
      <p:pic>
        <p:nvPicPr>
          <p:cNvPr id="15" name="Image 2" descr="preencoded.png"/>
          <p:cNvPicPr>
            <a:picLocks noChangeAspect="1"/>
          </p:cNvPicPr>
          <p:nvPr/>
        </p:nvPicPr>
        <p:blipFill>
          <a:blip r:embed="rId4"/>
          <a:stretch>
            <a:fillRect/>
          </a:stretch>
        </p:blipFill>
        <p:spPr>
          <a:xfrm>
            <a:off x="6784848" y="2350008"/>
            <a:ext cx="347472" cy="347472"/>
          </a:xfrm>
          <a:prstGeom prst="rect">
            <a:avLst/>
          </a:prstGeom>
        </p:spPr>
      </p:pic>
      <p:sp>
        <p:nvSpPr>
          <p:cNvPr id="16" name="Text 11"/>
          <p:cNvSpPr/>
          <p:nvPr/>
        </p:nvSpPr>
        <p:spPr>
          <a:xfrm>
            <a:off x="7452360" y="2212848"/>
            <a:ext cx="3931920" cy="640080"/>
          </a:xfrm>
          <a:prstGeom prst="rect">
            <a:avLst/>
          </a:prstGeom>
          <a:noFill/>
          <a:ln/>
        </p:spPr>
        <p:txBody>
          <a:bodyPr wrap="square" lIns="0" tIns="0" rIns="0" bIns="0" rtlCol="0" anchor="ctr"/>
          <a:lstStyle/>
          <a:p>
            <a:pPr marL="0" indent="0">
              <a:buNone/>
            </a:pPr>
            <a:r>
              <a:rPr lang="en-US" sz="1900" b="1" dirty="0">
                <a:solidFill>
                  <a:srgbClr val="12303C"/>
                </a:solidFill>
                <a:latin typeface="Georgia" pitchFamily="34" charset="0"/>
                <a:ea typeface="Georgia" pitchFamily="34" charset="-122"/>
                <a:cs typeface="Georgia" pitchFamily="34" charset="-120"/>
              </a:rPr>
              <a:t>Seconde partie — Le moteur</a:t>
            </a:r>
            <a:endParaRPr lang="en-US" sz="1900" dirty="0"/>
          </a:p>
        </p:txBody>
      </p:sp>
      <p:sp>
        <p:nvSpPr>
          <p:cNvPr id="17" name="Text 12"/>
          <p:cNvSpPr/>
          <p:nvPr/>
        </p:nvSpPr>
        <p:spPr>
          <a:xfrm>
            <a:off x="6675120" y="3154680"/>
            <a:ext cx="4617720" cy="2834640"/>
          </a:xfrm>
          <a:prstGeom prst="rect">
            <a:avLst/>
          </a:prstGeom>
          <a:noFill/>
          <a:ln/>
        </p:spPr>
        <p:txBody>
          <a:bodyPr wrap="square" lIns="0" tIns="0" rIns="0" bIns="0" rtlCol="0" anchor="ctr"/>
          <a:lstStyle/>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Heuristique d'ordre d'exécution</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Jointures &amp; explosion combinatoire</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Exécution multi-variables &amp; preuves</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Métriques, benchmark &amp; conclusion</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Démonstration sur des requêtes réelles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CONTEXTE DU PROJET</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JeuxDeMots et la problématique</a:t>
            </a:r>
            <a:endParaRPr lang="en-US" sz="3000" dirty="0"/>
          </a:p>
        </p:txBody>
      </p:sp>
      <p:sp>
        <p:nvSpPr>
          <p:cNvPr id="6" name="Text 3"/>
          <p:cNvSpPr/>
          <p:nvPr/>
        </p:nvSpPr>
        <p:spPr>
          <a:xfrm>
            <a:off x="548640" y="1828800"/>
            <a:ext cx="5486400" cy="36576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JeuxDeMots, un graphe de connaissances</a:t>
            </a:r>
            <a:endParaRPr lang="en-US" sz="1600" dirty="0"/>
          </a:p>
        </p:txBody>
      </p:sp>
      <p:sp>
        <p:nvSpPr>
          <p:cNvPr id="7" name="Text 4"/>
          <p:cNvSpPr/>
          <p:nvPr/>
        </p:nvSpPr>
        <p:spPr>
          <a:xfrm>
            <a:off x="548640" y="2240280"/>
            <a:ext cx="5486400" cy="1097280"/>
          </a:xfrm>
          <a:prstGeom prst="rect">
            <a:avLst/>
          </a:prstGeom>
          <a:noFill/>
          <a:ln/>
        </p:spPr>
        <p:txBody>
          <a:bodyPr wrap="square" lIns="0" tIns="0" rIns="0" bIns="0" rtlCol="0" anchor="ctr"/>
          <a:lstStyle/>
          <a:p>
            <a:pPr marL="0" indent="0">
              <a:lnSpc>
                <a:spcPct val="118000"/>
              </a:lnSpc>
              <a:buNone/>
            </a:pPr>
            <a:r>
              <a:rPr lang="en-US" sz="1450" dirty="0">
                <a:solidFill>
                  <a:srgbClr val="3C5560"/>
                </a:solidFill>
                <a:latin typeface="Calibri" pitchFamily="34" charset="0"/>
                <a:ea typeface="Calibri" pitchFamily="34" charset="-122"/>
                <a:cs typeface="Calibri" pitchFamily="34" charset="-120"/>
              </a:rPr>
              <a:t>Une base lexicale et sémantique où les mots sont des </a:t>
            </a:r>
            <a:r>
              <a:rPr lang="en-US" sz="1450" b="1" dirty="0">
                <a:solidFill>
                  <a:srgbClr val="12303C"/>
                </a:solidFill>
                <a:latin typeface="Calibri" pitchFamily="34" charset="0"/>
                <a:ea typeface="Calibri" pitchFamily="34" charset="-122"/>
                <a:cs typeface="Calibri" pitchFamily="34" charset="-120"/>
              </a:rPr>
              <a:t>nœuds</a:t>
            </a:r>
            <a:r>
              <a:rPr lang="en-US" sz="1450" dirty="0">
                <a:solidFill>
                  <a:srgbClr val="3C5560"/>
                </a:solidFill>
                <a:latin typeface="Calibri" pitchFamily="34" charset="0"/>
                <a:ea typeface="Calibri" pitchFamily="34" charset="-122"/>
                <a:cs typeface="Calibri" pitchFamily="34" charset="-120"/>
              </a:rPr>
              <a:t> reliés par des </a:t>
            </a:r>
            <a:r>
              <a:rPr lang="en-US" sz="1450" b="1" dirty="0">
                <a:solidFill>
                  <a:srgbClr val="12303C"/>
                </a:solidFill>
                <a:latin typeface="Calibri" pitchFamily="34" charset="0"/>
                <a:ea typeface="Calibri" pitchFamily="34" charset="-122"/>
                <a:cs typeface="Calibri" pitchFamily="34" charset="-120"/>
              </a:rPr>
              <a:t>relations typées et pondérées</a:t>
            </a:r>
            <a:r>
              <a:rPr lang="en-US" sz="1450" dirty="0">
                <a:solidFill>
                  <a:srgbClr val="3C5560"/>
                </a:solidFill>
                <a:latin typeface="Calibri" pitchFamily="34" charset="0"/>
                <a:ea typeface="Calibri" pitchFamily="34" charset="-122"/>
                <a:cs typeface="Calibri" pitchFamily="34" charset="-120"/>
              </a:rPr>
              <a:t>. </a:t>
            </a:r>
            <a:r>
              <a:rPr lang="en-US" sz="1450" dirty="0" err="1">
                <a:solidFill>
                  <a:srgbClr val="3C5560"/>
                </a:solidFill>
                <a:latin typeface="Calibri" pitchFamily="34" charset="0"/>
                <a:ea typeface="Calibri" pitchFamily="34" charset="-122"/>
                <a:cs typeface="Calibri" pitchFamily="34" charset="-120"/>
              </a:rPr>
              <a:t>L’interface</a:t>
            </a:r>
            <a:r>
              <a:rPr lang="en-US" sz="1450" dirty="0">
                <a:solidFill>
                  <a:srgbClr val="3C5560"/>
                </a:solidFill>
                <a:latin typeface="Calibri" pitchFamily="34" charset="0"/>
                <a:ea typeface="Calibri" pitchFamily="34" charset="-122"/>
                <a:cs typeface="Calibri" pitchFamily="34" charset="-120"/>
              </a:rPr>
              <a:t> ne crée pas la base : il construit une couche d'interrogation au-dessus de l'API existante.</a:t>
            </a:r>
            <a:endParaRPr lang="en-US" sz="1450" dirty="0"/>
          </a:p>
        </p:txBody>
      </p:sp>
      <p:sp>
        <p:nvSpPr>
          <p:cNvPr id="8" name="Shape 5"/>
          <p:cNvSpPr/>
          <p:nvPr/>
        </p:nvSpPr>
        <p:spPr>
          <a:xfrm>
            <a:off x="548640" y="3520440"/>
            <a:ext cx="5486400" cy="457200"/>
          </a:xfrm>
          <a:prstGeom prst="roundRect">
            <a:avLst>
              <a:gd name="adj" fmla="val 14000"/>
            </a:avLst>
          </a:prstGeom>
          <a:solidFill>
            <a:srgbClr val="F2F7F8"/>
          </a:solidFill>
          <a:ln w="12700">
            <a:solidFill>
              <a:srgbClr val="CDDDE0"/>
            </a:solidFill>
            <a:prstDash val="solid"/>
          </a:ln>
        </p:spPr>
      </p:sp>
      <p:sp>
        <p:nvSpPr>
          <p:cNvPr id="9" name="Text 6"/>
          <p:cNvSpPr/>
          <p:nvPr/>
        </p:nvSpPr>
        <p:spPr>
          <a:xfrm>
            <a:off x="731520" y="3520440"/>
            <a:ext cx="5120640" cy="457200"/>
          </a:xfrm>
          <a:prstGeom prst="rect">
            <a:avLst/>
          </a:prstGeom>
          <a:noFill/>
          <a:ln/>
        </p:spPr>
        <p:txBody>
          <a:bodyPr wrap="square" lIns="0" tIns="0" rIns="0" bIns="0" rtlCol="0" anchor="ctr"/>
          <a:lstStyle/>
          <a:p>
            <a:pPr marL="0" indent="0">
              <a:buNone/>
            </a:pPr>
            <a:r>
              <a:rPr lang="en-US" sz="1350" b="1" dirty="0">
                <a:solidFill>
                  <a:srgbClr val="12303C"/>
                </a:solidFill>
                <a:latin typeface="Consolas" pitchFamily="34" charset="0"/>
                <a:ea typeface="Consolas" pitchFamily="34" charset="-122"/>
                <a:cs typeface="Consolas" pitchFamily="34" charset="-120"/>
              </a:rPr>
              <a:t>chat  </a:t>
            </a:r>
            <a:r>
              <a:rPr lang="en-US" sz="1350" b="1" dirty="0">
                <a:solidFill>
                  <a:srgbClr val="2EC4B6"/>
                </a:solidFill>
                <a:latin typeface="Consolas" pitchFamily="34" charset="0"/>
                <a:ea typeface="Consolas" pitchFamily="34" charset="-122"/>
                <a:cs typeface="Consolas" pitchFamily="34" charset="-120"/>
              </a:rPr>
              <a:t>r_isa  </a:t>
            </a:r>
            <a:r>
              <a:rPr lang="en-US" sz="1350" b="1" dirty="0">
                <a:solidFill>
                  <a:srgbClr val="1C7293"/>
                </a:solidFill>
                <a:latin typeface="Consolas" pitchFamily="34" charset="0"/>
                <a:ea typeface="Consolas" pitchFamily="34" charset="-122"/>
                <a:cs typeface="Consolas" pitchFamily="34" charset="-120"/>
              </a:rPr>
              <a:t>animal</a:t>
            </a:r>
            <a:endParaRPr lang="en-US" sz="1350" dirty="0"/>
          </a:p>
        </p:txBody>
      </p:sp>
      <p:sp>
        <p:nvSpPr>
          <p:cNvPr id="10" name="Shape 7"/>
          <p:cNvSpPr/>
          <p:nvPr/>
        </p:nvSpPr>
        <p:spPr>
          <a:xfrm>
            <a:off x="548640" y="4087368"/>
            <a:ext cx="5486400" cy="457200"/>
          </a:xfrm>
          <a:prstGeom prst="roundRect">
            <a:avLst>
              <a:gd name="adj" fmla="val 14000"/>
            </a:avLst>
          </a:prstGeom>
          <a:solidFill>
            <a:srgbClr val="F2F7F8"/>
          </a:solidFill>
          <a:ln w="12700">
            <a:solidFill>
              <a:srgbClr val="CDDDE0"/>
            </a:solidFill>
            <a:prstDash val="solid"/>
          </a:ln>
        </p:spPr>
      </p:sp>
      <p:sp>
        <p:nvSpPr>
          <p:cNvPr id="11" name="Text 8"/>
          <p:cNvSpPr/>
          <p:nvPr/>
        </p:nvSpPr>
        <p:spPr>
          <a:xfrm>
            <a:off x="731520" y="4087368"/>
            <a:ext cx="5120640" cy="457200"/>
          </a:xfrm>
          <a:prstGeom prst="rect">
            <a:avLst/>
          </a:prstGeom>
          <a:noFill/>
          <a:ln/>
        </p:spPr>
        <p:txBody>
          <a:bodyPr wrap="square" lIns="0" tIns="0" rIns="0" bIns="0" rtlCol="0" anchor="ctr"/>
          <a:lstStyle/>
          <a:p>
            <a:pPr marL="0" indent="0">
              <a:buNone/>
            </a:pPr>
            <a:r>
              <a:rPr lang="en-US" sz="1350" b="1" dirty="0">
                <a:solidFill>
                  <a:srgbClr val="12303C"/>
                </a:solidFill>
                <a:latin typeface="Consolas" pitchFamily="34" charset="0"/>
                <a:ea typeface="Consolas" pitchFamily="34" charset="-122"/>
                <a:cs typeface="Consolas" pitchFamily="34" charset="-120"/>
              </a:rPr>
              <a:t>chat  </a:t>
            </a:r>
            <a:r>
              <a:rPr lang="en-US" sz="1350" b="1" dirty="0">
                <a:solidFill>
                  <a:srgbClr val="2EC4B6"/>
                </a:solidFill>
                <a:latin typeface="Consolas" pitchFamily="34" charset="0"/>
                <a:ea typeface="Consolas" pitchFamily="34" charset="-122"/>
                <a:cs typeface="Consolas" pitchFamily="34" charset="-120"/>
              </a:rPr>
              <a:t>r_has_part  </a:t>
            </a:r>
            <a:r>
              <a:rPr lang="en-US" sz="1350" b="1" dirty="0">
                <a:solidFill>
                  <a:srgbClr val="1C7293"/>
                </a:solidFill>
                <a:latin typeface="Consolas" pitchFamily="34" charset="0"/>
                <a:ea typeface="Consolas" pitchFamily="34" charset="-122"/>
                <a:cs typeface="Consolas" pitchFamily="34" charset="-120"/>
              </a:rPr>
              <a:t>queue</a:t>
            </a:r>
            <a:endParaRPr lang="en-US" sz="1350" dirty="0"/>
          </a:p>
        </p:txBody>
      </p:sp>
      <p:sp>
        <p:nvSpPr>
          <p:cNvPr id="12" name="Shape 9"/>
          <p:cNvSpPr/>
          <p:nvPr/>
        </p:nvSpPr>
        <p:spPr>
          <a:xfrm>
            <a:off x="548640" y="4654296"/>
            <a:ext cx="5486400" cy="457200"/>
          </a:xfrm>
          <a:prstGeom prst="roundRect">
            <a:avLst>
              <a:gd name="adj" fmla="val 14000"/>
            </a:avLst>
          </a:prstGeom>
          <a:solidFill>
            <a:srgbClr val="F2F7F8"/>
          </a:solidFill>
          <a:ln w="12700">
            <a:solidFill>
              <a:srgbClr val="CDDDE0"/>
            </a:solidFill>
            <a:prstDash val="solid"/>
          </a:ln>
        </p:spPr>
      </p:sp>
      <p:sp>
        <p:nvSpPr>
          <p:cNvPr id="13" name="Text 10"/>
          <p:cNvSpPr/>
          <p:nvPr/>
        </p:nvSpPr>
        <p:spPr>
          <a:xfrm>
            <a:off x="731520" y="4654296"/>
            <a:ext cx="5120640" cy="457200"/>
          </a:xfrm>
          <a:prstGeom prst="rect">
            <a:avLst/>
          </a:prstGeom>
          <a:noFill/>
          <a:ln/>
        </p:spPr>
        <p:txBody>
          <a:bodyPr wrap="square" lIns="0" tIns="0" rIns="0" bIns="0" rtlCol="0" anchor="ctr"/>
          <a:lstStyle/>
          <a:p>
            <a:pPr marL="0" indent="0">
              <a:buNone/>
            </a:pPr>
            <a:r>
              <a:rPr lang="en-US" sz="1350" b="1" dirty="0">
                <a:solidFill>
                  <a:srgbClr val="12303C"/>
                </a:solidFill>
                <a:latin typeface="Consolas" pitchFamily="34" charset="0"/>
                <a:ea typeface="Consolas" pitchFamily="34" charset="-122"/>
                <a:cs typeface="Consolas" pitchFamily="34" charset="-120"/>
              </a:rPr>
              <a:t>lion  </a:t>
            </a:r>
            <a:r>
              <a:rPr lang="en-US" sz="1350" b="1" dirty="0">
                <a:solidFill>
                  <a:srgbClr val="2EC4B6"/>
                </a:solidFill>
                <a:latin typeface="Consolas" pitchFamily="34" charset="0"/>
                <a:ea typeface="Consolas" pitchFamily="34" charset="-122"/>
                <a:cs typeface="Consolas" pitchFamily="34" charset="-120"/>
              </a:rPr>
              <a:t>r_can_eat  </a:t>
            </a:r>
            <a:r>
              <a:rPr lang="en-US" sz="1350" b="1" dirty="0">
                <a:solidFill>
                  <a:srgbClr val="1C7293"/>
                </a:solidFill>
                <a:latin typeface="Consolas" pitchFamily="34" charset="0"/>
                <a:ea typeface="Consolas" pitchFamily="34" charset="-122"/>
                <a:cs typeface="Consolas" pitchFamily="34" charset="-120"/>
              </a:rPr>
              <a:t>gazelle</a:t>
            </a:r>
            <a:endParaRPr lang="en-US" sz="1350" dirty="0"/>
          </a:p>
        </p:txBody>
      </p:sp>
      <p:sp>
        <p:nvSpPr>
          <p:cNvPr id="14" name="Shape 11"/>
          <p:cNvSpPr/>
          <p:nvPr/>
        </p:nvSpPr>
        <p:spPr>
          <a:xfrm>
            <a:off x="6400800" y="1828800"/>
            <a:ext cx="5212080" cy="4251960"/>
          </a:xfrm>
          <a:prstGeom prst="roundRect">
            <a:avLst>
              <a:gd name="adj" fmla="val 2151"/>
            </a:avLst>
          </a:prstGeom>
          <a:solidFill>
            <a:srgbClr val="0B3D52"/>
          </a:solidFill>
          <a:ln/>
          <a:effectLst>
            <a:outerShdw blurRad="88900" dist="38100" dir="8100000" algn="bl" rotWithShape="0">
              <a:srgbClr val="0B3D52">
                <a:alpha val="16000"/>
              </a:srgbClr>
            </a:outerShdw>
          </a:effectLst>
        </p:spPr>
      </p:sp>
      <p:sp>
        <p:nvSpPr>
          <p:cNvPr id="15" name="Text 12"/>
          <p:cNvSpPr/>
          <p:nvPr/>
        </p:nvSpPr>
        <p:spPr>
          <a:xfrm>
            <a:off x="6766560" y="2103120"/>
            <a:ext cx="4480560" cy="365760"/>
          </a:xfrm>
          <a:prstGeom prst="rect">
            <a:avLst/>
          </a:prstGeom>
          <a:noFill/>
          <a:ln/>
        </p:spPr>
        <p:txBody>
          <a:bodyPr wrap="square" lIns="0" tIns="0" rIns="0" bIns="0" rtlCol="0" anchor="ctr"/>
          <a:lstStyle/>
          <a:p>
            <a:pPr marL="0" indent="0">
              <a:buNone/>
            </a:pPr>
            <a:r>
              <a:rPr lang="en-US" sz="1250" b="1" kern="0" spc="200" dirty="0">
                <a:solidFill>
                  <a:srgbClr val="8FE3DA"/>
                </a:solidFill>
                <a:latin typeface="Calibri" pitchFamily="34" charset="0"/>
                <a:ea typeface="Calibri" pitchFamily="34" charset="-122"/>
                <a:cs typeface="Calibri" pitchFamily="34" charset="-120"/>
              </a:rPr>
              <a:t>PROBLÉMATIQUE</a:t>
            </a:r>
            <a:endParaRPr lang="en-US" sz="1250" dirty="0"/>
          </a:p>
        </p:txBody>
      </p:sp>
      <p:sp>
        <p:nvSpPr>
          <p:cNvPr id="16" name="Text 13"/>
          <p:cNvSpPr/>
          <p:nvPr/>
        </p:nvSpPr>
        <p:spPr>
          <a:xfrm>
            <a:off x="6766560" y="2468880"/>
            <a:ext cx="4480560" cy="1188720"/>
          </a:xfrm>
          <a:prstGeom prst="rect">
            <a:avLst/>
          </a:prstGeom>
          <a:noFill/>
          <a:ln/>
        </p:spPr>
        <p:txBody>
          <a:bodyPr wrap="square" lIns="0" tIns="0" rIns="0" bIns="0" rtlCol="0" anchor="ctr"/>
          <a:lstStyle/>
          <a:p>
            <a:pPr marL="0" indent="0">
              <a:lnSpc>
                <a:spcPct val="112000"/>
              </a:lnSpc>
              <a:buNone/>
            </a:pPr>
            <a:r>
              <a:rPr lang="en-US" sz="1700" i="1" dirty="0">
                <a:solidFill>
                  <a:srgbClr val="FFFFFF"/>
                </a:solidFill>
                <a:latin typeface="Georgia" pitchFamily="34" charset="0"/>
                <a:ea typeface="Georgia" pitchFamily="34" charset="-122"/>
                <a:cs typeface="Georgia" pitchFamily="34" charset="-120"/>
              </a:rPr>
              <a:t>Comment transformer une requête logique à variables en une série d'appels efficaces à l'API JeuxDeMots ?</a:t>
            </a:r>
            <a:endParaRPr lang="en-US" sz="1700" dirty="0"/>
          </a:p>
        </p:txBody>
      </p:sp>
      <p:sp>
        <p:nvSpPr>
          <p:cNvPr id="17" name="Text 14"/>
          <p:cNvSpPr/>
          <p:nvPr/>
        </p:nvSpPr>
        <p:spPr>
          <a:xfrm>
            <a:off x="6766560" y="3703320"/>
            <a:ext cx="4480560" cy="2194560"/>
          </a:xfrm>
          <a:prstGeom prst="rect">
            <a:avLst/>
          </a:prstGeom>
          <a:noFill/>
          <a:ln/>
        </p:spPr>
        <p:txBody>
          <a:bodyPr wrap="square" lIns="0" tIns="0" rIns="0" bIns="0" rtlCol="0" anchor="ctr"/>
          <a:lstStyle/>
          <a:p>
            <a:pPr marL="177800" indent="-177800">
              <a:spcAft>
                <a:spcPts val="700"/>
              </a:spcAft>
              <a:buSzPct val="100000"/>
              <a:buChar char="•"/>
            </a:pPr>
            <a:r>
              <a:rPr lang="en-US" sz="1400" dirty="0">
                <a:solidFill>
                  <a:srgbClr val="8FE3DA"/>
                </a:solidFill>
                <a:latin typeface="Calibri" pitchFamily="34" charset="0"/>
                <a:ea typeface="Calibri" pitchFamily="34" charset="-122"/>
                <a:cs typeface="Calibri" pitchFamily="34" charset="-120"/>
              </a:rPr>
              <a:t>Analyser parenthèses &amp; opérateurs logiques</a:t>
            </a:r>
            <a:endParaRPr lang="en-US" sz="1400" dirty="0"/>
          </a:p>
          <a:p>
            <a:pPr marL="177800" indent="-177800">
              <a:spcAft>
                <a:spcPts val="700"/>
              </a:spcAft>
              <a:buSzPct val="100000"/>
              <a:buChar char="•"/>
            </a:pPr>
            <a:r>
              <a:rPr lang="en-US" sz="1400" dirty="0">
                <a:solidFill>
                  <a:srgbClr val="8FE3DA"/>
                </a:solidFill>
                <a:latin typeface="Calibri" pitchFamily="34" charset="0"/>
                <a:ea typeface="Calibri" pitchFamily="34" charset="-122"/>
                <a:cs typeface="Calibri" pitchFamily="34" charset="-120"/>
              </a:rPr>
              <a:t>Traduire chaque clause en appels API</a:t>
            </a:r>
            <a:endParaRPr lang="en-US" sz="1400" dirty="0"/>
          </a:p>
          <a:p>
            <a:pPr marL="177800" indent="-177800">
              <a:spcAft>
                <a:spcPts val="700"/>
              </a:spcAft>
              <a:buSzPct val="100000"/>
              <a:buChar char="•"/>
            </a:pPr>
            <a:r>
              <a:rPr lang="en-US" sz="1400" dirty="0">
                <a:solidFill>
                  <a:srgbClr val="8FE3DA"/>
                </a:solidFill>
                <a:latin typeface="Calibri" pitchFamily="34" charset="0"/>
                <a:ea typeface="Calibri" pitchFamily="34" charset="-122"/>
                <a:cs typeface="Calibri" pitchFamily="34" charset="-120"/>
              </a:rPr>
              <a:t>Combiner les résultats sans tout comparer</a:t>
            </a:r>
            <a:endParaRPr lang="en-US" sz="1400" dirty="0"/>
          </a:p>
          <a:p>
            <a:pPr marL="177800" indent="-177800">
              <a:spcAft>
                <a:spcPts val="700"/>
              </a:spcAft>
              <a:buSzPct val="100000"/>
              <a:buChar char="•"/>
            </a:pPr>
            <a:r>
              <a:rPr lang="en-US" sz="1400" dirty="0">
                <a:solidFill>
                  <a:srgbClr val="8FE3DA"/>
                </a:solidFill>
                <a:latin typeface="Calibri" pitchFamily="34" charset="0"/>
                <a:ea typeface="Calibri" pitchFamily="34" charset="-122"/>
                <a:cs typeface="Calibri" pitchFamily="34" charset="-120"/>
              </a:rPr>
              <a:t>Gérer poids, identifiants &amp; ambiguïtés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CAP DU PROJET</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Objectifs fonctionnels &amp; techniques</a:t>
            </a:r>
            <a:endParaRPr lang="en-US" sz="3000" dirty="0"/>
          </a:p>
        </p:txBody>
      </p:sp>
      <p:sp>
        <p:nvSpPr>
          <p:cNvPr id="6" name="Shape 3"/>
          <p:cNvSpPr/>
          <p:nvPr/>
        </p:nvSpPr>
        <p:spPr>
          <a:xfrm>
            <a:off x="548640" y="1874520"/>
            <a:ext cx="5394960" cy="4297680"/>
          </a:xfrm>
          <a:prstGeom prst="roundRect">
            <a:avLst>
              <a:gd name="adj" fmla="val 2128"/>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7" name="Shape 4"/>
          <p:cNvSpPr/>
          <p:nvPr/>
        </p:nvSpPr>
        <p:spPr>
          <a:xfrm>
            <a:off x="548640" y="1874520"/>
            <a:ext cx="5394960" cy="82296"/>
          </a:xfrm>
          <a:prstGeom prst="rect">
            <a:avLst/>
          </a:prstGeom>
          <a:solidFill>
            <a:srgbClr val="1C7293"/>
          </a:solidFill>
          <a:ln/>
        </p:spPr>
      </p:sp>
      <p:sp>
        <p:nvSpPr>
          <p:cNvPr id="8" name="Shape 5"/>
          <p:cNvSpPr/>
          <p:nvPr/>
        </p:nvSpPr>
        <p:spPr>
          <a:xfrm>
            <a:off x="914400" y="2194560"/>
            <a:ext cx="658368" cy="658368"/>
          </a:xfrm>
          <a:prstGeom prst="ellipse">
            <a:avLst/>
          </a:prstGeom>
          <a:solidFill>
            <a:srgbClr val="FFFFFF"/>
          </a:solidFill>
          <a:ln w="19050">
            <a:solidFill>
              <a:srgbClr val="1C7293"/>
            </a:solidFill>
            <a:prstDash val="solid"/>
          </a:ln>
        </p:spPr>
      </p:sp>
      <p:pic>
        <p:nvPicPr>
          <p:cNvPr id="9" name="Image 1" descr="preencoded.png"/>
          <p:cNvPicPr>
            <a:picLocks noChangeAspect="1"/>
          </p:cNvPicPr>
          <p:nvPr/>
        </p:nvPicPr>
        <p:blipFill>
          <a:blip r:embed="rId4"/>
          <a:stretch>
            <a:fillRect/>
          </a:stretch>
        </p:blipFill>
        <p:spPr>
          <a:xfrm>
            <a:off x="1069848" y="2350008"/>
            <a:ext cx="347472" cy="347472"/>
          </a:xfrm>
          <a:prstGeom prst="rect">
            <a:avLst/>
          </a:prstGeom>
        </p:spPr>
      </p:pic>
      <p:sp>
        <p:nvSpPr>
          <p:cNvPr id="10" name="Text 6"/>
          <p:cNvSpPr/>
          <p:nvPr/>
        </p:nvSpPr>
        <p:spPr>
          <a:xfrm>
            <a:off x="1737360" y="2212848"/>
            <a:ext cx="3931920" cy="640080"/>
          </a:xfrm>
          <a:prstGeom prst="rect">
            <a:avLst/>
          </a:prstGeom>
          <a:noFill/>
          <a:ln/>
        </p:spPr>
        <p:txBody>
          <a:bodyPr wrap="square" lIns="0" tIns="0" rIns="0" bIns="0" rtlCol="0" anchor="ctr"/>
          <a:lstStyle/>
          <a:p>
            <a:pPr marL="0" indent="0">
              <a:buNone/>
            </a:pPr>
            <a:r>
              <a:rPr lang="en-US" sz="1900" b="1" dirty="0">
                <a:solidFill>
                  <a:srgbClr val="12303C"/>
                </a:solidFill>
                <a:latin typeface="Georgia" pitchFamily="34" charset="0"/>
                <a:ea typeface="Georgia" pitchFamily="34" charset="-122"/>
                <a:cs typeface="Georgia" pitchFamily="34" charset="-120"/>
              </a:rPr>
              <a:t>Objectifs fonctionnels</a:t>
            </a:r>
            <a:endParaRPr lang="en-US" sz="1900" dirty="0"/>
          </a:p>
        </p:txBody>
      </p:sp>
      <p:sp>
        <p:nvSpPr>
          <p:cNvPr id="11" name="Text 7"/>
          <p:cNvSpPr/>
          <p:nvPr/>
        </p:nvSpPr>
        <p:spPr>
          <a:xfrm>
            <a:off x="960120" y="3154680"/>
            <a:ext cx="4617720" cy="2834640"/>
          </a:xfrm>
          <a:prstGeom prst="rect">
            <a:avLst/>
          </a:prstGeom>
          <a:noFill/>
          <a:ln/>
        </p:spPr>
        <p:txBody>
          <a:bodyPr wrap="square" lIns="0" tIns="0" rIns="0" bIns="0" rtlCol="0" anchor="ctr"/>
          <a:lstStyle/>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Saisir une requête dans une interface web</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Analyser la requête et produire un AST</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Gérer une ou plusieurs variables</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Intersections, jointures et tri par score</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Afficher résultats, preuves et erreurs</a:t>
            </a:r>
            <a:endParaRPr lang="en-US" sz="1400" dirty="0"/>
          </a:p>
        </p:txBody>
      </p:sp>
      <p:sp>
        <p:nvSpPr>
          <p:cNvPr id="12" name="Shape 8"/>
          <p:cNvSpPr/>
          <p:nvPr/>
        </p:nvSpPr>
        <p:spPr>
          <a:xfrm>
            <a:off x="6263640" y="1874520"/>
            <a:ext cx="5394960" cy="4297680"/>
          </a:xfrm>
          <a:prstGeom prst="roundRect">
            <a:avLst>
              <a:gd name="adj" fmla="val 2128"/>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13" name="Shape 9"/>
          <p:cNvSpPr/>
          <p:nvPr/>
        </p:nvSpPr>
        <p:spPr>
          <a:xfrm>
            <a:off x="6263640" y="1874520"/>
            <a:ext cx="5394960" cy="82296"/>
          </a:xfrm>
          <a:prstGeom prst="rect">
            <a:avLst/>
          </a:prstGeom>
          <a:solidFill>
            <a:srgbClr val="2EC4B6"/>
          </a:solidFill>
          <a:ln/>
        </p:spPr>
      </p:sp>
      <p:sp>
        <p:nvSpPr>
          <p:cNvPr id="14" name="Shape 10"/>
          <p:cNvSpPr/>
          <p:nvPr/>
        </p:nvSpPr>
        <p:spPr>
          <a:xfrm>
            <a:off x="6629400" y="2194560"/>
            <a:ext cx="658368" cy="658368"/>
          </a:xfrm>
          <a:prstGeom prst="ellipse">
            <a:avLst/>
          </a:prstGeom>
          <a:solidFill>
            <a:srgbClr val="FFFFFF"/>
          </a:solidFill>
          <a:ln w="19050">
            <a:solidFill>
              <a:srgbClr val="2EC4B6"/>
            </a:solidFill>
            <a:prstDash val="solid"/>
          </a:ln>
        </p:spPr>
      </p:sp>
      <p:pic>
        <p:nvPicPr>
          <p:cNvPr id="15" name="Image 2" descr="preencoded.png"/>
          <p:cNvPicPr>
            <a:picLocks noChangeAspect="1"/>
          </p:cNvPicPr>
          <p:nvPr/>
        </p:nvPicPr>
        <p:blipFill>
          <a:blip r:embed="rId5"/>
          <a:stretch>
            <a:fillRect/>
          </a:stretch>
        </p:blipFill>
        <p:spPr>
          <a:xfrm>
            <a:off x="6784848" y="2350008"/>
            <a:ext cx="347472" cy="347472"/>
          </a:xfrm>
          <a:prstGeom prst="rect">
            <a:avLst/>
          </a:prstGeom>
        </p:spPr>
      </p:pic>
      <p:sp>
        <p:nvSpPr>
          <p:cNvPr id="16" name="Text 11"/>
          <p:cNvSpPr/>
          <p:nvPr/>
        </p:nvSpPr>
        <p:spPr>
          <a:xfrm>
            <a:off x="7452360" y="2212848"/>
            <a:ext cx="3931920" cy="640080"/>
          </a:xfrm>
          <a:prstGeom prst="rect">
            <a:avLst/>
          </a:prstGeom>
          <a:noFill/>
          <a:ln/>
        </p:spPr>
        <p:txBody>
          <a:bodyPr wrap="square" lIns="0" tIns="0" rIns="0" bIns="0" rtlCol="0" anchor="ctr"/>
          <a:lstStyle/>
          <a:p>
            <a:pPr marL="0" indent="0">
              <a:buNone/>
            </a:pPr>
            <a:r>
              <a:rPr lang="en-US" sz="1900" b="1" dirty="0">
                <a:solidFill>
                  <a:srgbClr val="12303C"/>
                </a:solidFill>
                <a:latin typeface="Georgia" pitchFamily="34" charset="0"/>
                <a:ea typeface="Georgia" pitchFamily="34" charset="-122"/>
                <a:cs typeface="Georgia" pitchFamily="34" charset="-120"/>
              </a:rPr>
              <a:t>Objectifs techniques</a:t>
            </a:r>
            <a:endParaRPr lang="en-US" sz="1900" dirty="0"/>
          </a:p>
        </p:txBody>
      </p:sp>
      <p:sp>
        <p:nvSpPr>
          <p:cNvPr id="17" name="Text 12"/>
          <p:cNvSpPr/>
          <p:nvPr/>
        </p:nvSpPr>
        <p:spPr>
          <a:xfrm>
            <a:off x="6675120" y="3154680"/>
            <a:ext cx="4617720" cy="2834640"/>
          </a:xfrm>
          <a:prstGeom prst="rect">
            <a:avLst/>
          </a:prstGeom>
          <a:noFill/>
          <a:ln/>
        </p:spPr>
        <p:txBody>
          <a:bodyPr wrap="square" lIns="0" tIns="0" rIns="0" bIns="0" rtlCol="0" anchor="ctr"/>
          <a:lstStyle/>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Serveur Node.js intermédiaire vers l'API</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Couche d'accès API dédiée + cache</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Pagination &amp; comparaison par identifiants</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Heuristique d'ordre d'exécution</a:t>
            </a:r>
            <a:endParaRPr lang="en-US" sz="1400" dirty="0"/>
          </a:p>
          <a:p>
            <a:pPr marL="177800" indent="-177800">
              <a:lnSpc>
                <a:spcPct val="105000"/>
              </a:lnSpc>
              <a:spcAft>
                <a:spcPts val="900"/>
              </a:spcAft>
              <a:buSzPct val="100000"/>
              <a:buChar char="•"/>
            </a:pPr>
            <a:r>
              <a:rPr lang="en-US" sz="1400" dirty="0">
                <a:solidFill>
                  <a:srgbClr val="3C5560"/>
                </a:solidFill>
                <a:latin typeface="Calibri" pitchFamily="34" charset="0"/>
                <a:ea typeface="Calibri" pitchFamily="34" charset="-122"/>
                <a:cs typeface="Calibri" pitchFamily="34" charset="-120"/>
              </a:rPr>
              <a:t>Mode normal borné / mode exhaustif + benchmark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LE LANGAGE DE REQUÊTES</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Une syntaxe formelle, proche de la logique</a:t>
            </a:r>
            <a:endParaRPr lang="en-US" sz="3000" dirty="0"/>
          </a:p>
        </p:txBody>
      </p:sp>
      <p:sp>
        <p:nvSpPr>
          <p:cNvPr id="6" name="Text 3"/>
          <p:cNvSpPr/>
          <p:nvPr/>
        </p:nvSpPr>
        <p:spPr>
          <a:xfrm>
            <a:off x="548640" y="1783080"/>
            <a:ext cx="11064240" cy="640080"/>
          </a:xfrm>
          <a:prstGeom prst="rect">
            <a:avLst/>
          </a:prstGeom>
          <a:noFill/>
          <a:ln/>
        </p:spPr>
        <p:txBody>
          <a:bodyPr wrap="square" lIns="0" tIns="0" rIns="0" bIns="0" rtlCol="0" anchor="ctr"/>
          <a:lstStyle/>
          <a:p>
            <a:pPr marL="0" indent="0">
              <a:lnSpc>
                <a:spcPct val="115000"/>
              </a:lnSpc>
              <a:buNone/>
            </a:pPr>
            <a:r>
              <a:rPr lang="en-US" sz="1500" dirty="0">
                <a:solidFill>
                  <a:srgbClr val="3C5560"/>
                </a:solidFill>
                <a:latin typeface="Calibri" pitchFamily="34" charset="0"/>
                <a:ea typeface="Calibri" pitchFamily="34" charset="-122"/>
                <a:cs typeface="Calibri" pitchFamily="34" charset="-120"/>
              </a:rPr>
              <a:t>Une requête n'est pas une phrase naturelle : c'est une expression formelle composée de clauses, de variables ($x) et d'opérateurs ET / OU.</a:t>
            </a:r>
            <a:endParaRPr lang="en-US" sz="1500" dirty="0"/>
          </a:p>
        </p:txBody>
      </p:sp>
      <p:sp>
        <p:nvSpPr>
          <p:cNvPr id="7" name="Shape 4"/>
          <p:cNvSpPr/>
          <p:nvPr/>
        </p:nvSpPr>
        <p:spPr>
          <a:xfrm>
            <a:off x="548640" y="2514600"/>
            <a:ext cx="2011680" cy="914400"/>
          </a:xfrm>
          <a:prstGeom prst="roundRect">
            <a:avLst>
              <a:gd name="adj" fmla="val 8000"/>
            </a:avLst>
          </a:prstGeom>
          <a:solidFill>
            <a:srgbClr val="F2F7F8"/>
          </a:solidFill>
          <a:ln w="12700">
            <a:solidFill>
              <a:srgbClr val="CDDDE0"/>
            </a:solidFill>
            <a:prstDash val="solid"/>
          </a:ln>
        </p:spPr>
      </p:sp>
      <p:sp>
        <p:nvSpPr>
          <p:cNvPr id="8" name="Text 5"/>
          <p:cNvSpPr/>
          <p:nvPr/>
        </p:nvSpPr>
        <p:spPr>
          <a:xfrm>
            <a:off x="54864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VARIABLE</a:t>
            </a:r>
            <a:endParaRPr lang="en-US" sz="1100" dirty="0"/>
          </a:p>
        </p:txBody>
      </p:sp>
      <p:sp>
        <p:nvSpPr>
          <p:cNvPr id="9" name="Text 6"/>
          <p:cNvSpPr/>
          <p:nvPr/>
        </p:nvSpPr>
        <p:spPr>
          <a:xfrm>
            <a:off x="548640" y="2944368"/>
            <a:ext cx="2011680" cy="411480"/>
          </a:xfrm>
          <a:prstGeom prst="rect">
            <a:avLst/>
          </a:prstGeom>
          <a:noFill/>
          <a:ln/>
        </p:spPr>
        <p:txBody>
          <a:bodyPr wrap="square" lIns="0" tIns="0" rIns="0" bIns="0" rtlCol="0" anchor="ctr"/>
          <a:lstStyle/>
          <a:p>
            <a:pPr marL="0" indent="0" algn="ctr">
              <a:buNone/>
            </a:pPr>
            <a:r>
              <a:rPr lang="en-US" sz="1600" b="1" dirty="0">
                <a:solidFill>
                  <a:srgbClr val="2EC4B6"/>
                </a:solidFill>
                <a:latin typeface="Consolas" pitchFamily="34" charset="0"/>
                <a:ea typeface="Consolas" pitchFamily="34" charset="-122"/>
                <a:cs typeface="Consolas" pitchFamily="34" charset="-120"/>
              </a:rPr>
              <a:t>$x</a:t>
            </a:r>
            <a:endParaRPr lang="en-US" sz="1600" dirty="0"/>
          </a:p>
        </p:txBody>
      </p:sp>
      <p:sp>
        <p:nvSpPr>
          <p:cNvPr id="10" name="Shape 7"/>
          <p:cNvSpPr/>
          <p:nvPr/>
        </p:nvSpPr>
        <p:spPr>
          <a:xfrm>
            <a:off x="2788920" y="2514600"/>
            <a:ext cx="2011680" cy="914400"/>
          </a:xfrm>
          <a:prstGeom prst="roundRect">
            <a:avLst>
              <a:gd name="adj" fmla="val 8000"/>
            </a:avLst>
          </a:prstGeom>
          <a:solidFill>
            <a:srgbClr val="F2F7F8"/>
          </a:solidFill>
          <a:ln w="12700">
            <a:solidFill>
              <a:srgbClr val="CDDDE0"/>
            </a:solidFill>
            <a:prstDash val="solid"/>
          </a:ln>
        </p:spPr>
      </p:sp>
      <p:sp>
        <p:nvSpPr>
          <p:cNvPr id="11" name="Text 8"/>
          <p:cNvSpPr/>
          <p:nvPr/>
        </p:nvSpPr>
        <p:spPr>
          <a:xfrm>
            <a:off x="278892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CONSTANTE</a:t>
            </a:r>
            <a:endParaRPr lang="en-US" sz="1100" dirty="0"/>
          </a:p>
        </p:txBody>
      </p:sp>
      <p:sp>
        <p:nvSpPr>
          <p:cNvPr id="12" name="Text 9"/>
          <p:cNvSpPr/>
          <p:nvPr/>
        </p:nvSpPr>
        <p:spPr>
          <a:xfrm>
            <a:off x="2788920" y="2944368"/>
            <a:ext cx="2011680" cy="411480"/>
          </a:xfrm>
          <a:prstGeom prst="rect">
            <a:avLst/>
          </a:prstGeom>
          <a:noFill/>
          <a:ln/>
        </p:spPr>
        <p:txBody>
          <a:bodyPr wrap="square" lIns="0" tIns="0" rIns="0" bIns="0" rtlCol="0" anchor="ctr"/>
          <a:lstStyle/>
          <a:p>
            <a:pPr marL="0" indent="0" algn="ctr">
              <a:buNone/>
            </a:pPr>
            <a:r>
              <a:rPr lang="en-US" sz="1600" b="1" dirty="0">
                <a:solidFill>
                  <a:srgbClr val="1C7293"/>
                </a:solidFill>
                <a:latin typeface="Consolas" pitchFamily="34" charset="0"/>
                <a:ea typeface="Consolas" pitchFamily="34" charset="-122"/>
                <a:cs typeface="Consolas" pitchFamily="34" charset="-120"/>
              </a:rPr>
              <a:t>animal</a:t>
            </a:r>
            <a:endParaRPr lang="en-US" sz="1600" dirty="0"/>
          </a:p>
        </p:txBody>
      </p:sp>
      <p:sp>
        <p:nvSpPr>
          <p:cNvPr id="13" name="Shape 10"/>
          <p:cNvSpPr/>
          <p:nvPr/>
        </p:nvSpPr>
        <p:spPr>
          <a:xfrm>
            <a:off x="5029200" y="2514600"/>
            <a:ext cx="2011680" cy="914400"/>
          </a:xfrm>
          <a:prstGeom prst="roundRect">
            <a:avLst>
              <a:gd name="adj" fmla="val 8000"/>
            </a:avLst>
          </a:prstGeom>
          <a:solidFill>
            <a:srgbClr val="F2F7F8"/>
          </a:solidFill>
          <a:ln w="12700">
            <a:solidFill>
              <a:srgbClr val="CDDDE0"/>
            </a:solidFill>
            <a:prstDash val="solid"/>
          </a:ln>
        </p:spPr>
      </p:sp>
      <p:sp>
        <p:nvSpPr>
          <p:cNvPr id="14" name="Text 11"/>
          <p:cNvSpPr/>
          <p:nvPr/>
        </p:nvSpPr>
        <p:spPr>
          <a:xfrm>
            <a:off x="502920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RELATION</a:t>
            </a:r>
            <a:endParaRPr lang="en-US" sz="1100" dirty="0"/>
          </a:p>
        </p:txBody>
      </p:sp>
      <p:sp>
        <p:nvSpPr>
          <p:cNvPr id="15" name="Text 12"/>
          <p:cNvSpPr/>
          <p:nvPr/>
        </p:nvSpPr>
        <p:spPr>
          <a:xfrm>
            <a:off x="5029200" y="2944368"/>
            <a:ext cx="2011680" cy="411480"/>
          </a:xfrm>
          <a:prstGeom prst="rect">
            <a:avLst/>
          </a:prstGeom>
          <a:noFill/>
          <a:ln/>
        </p:spPr>
        <p:txBody>
          <a:bodyPr wrap="square" lIns="0" tIns="0" rIns="0" bIns="0" rtlCol="0" anchor="ctr"/>
          <a:lstStyle/>
          <a:p>
            <a:pPr marL="0" indent="0" algn="ctr">
              <a:buNone/>
            </a:pPr>
            <a:r>
              <a:rPr lang="en-US" sz="1600" b="1" dirty="0">
                <a:solidFill>
                  <a:srgbClr val="0E4D63"/>
                </a:solidFill>
                <a:latin typeface="Consolas" pitchFamily="34" charset="0"/>
                <a:ea typeface="Consolas" pitchFamily="34" charset="-122"/>
                <a:cs typeface="Consolas" pitchFamily="34" charset="-120"/>
              </a:rPr>
              <a:t>r_isa</a:t>
            </a:r>
            <a:endParaRPr lang="en-US" sz="1600" dirty="0"/>
          </a:p>
        </p:txBody>
      </p:sp>
      <p:sp>
        <p:nvSpPr>
          <p:cNvPr id="16" name="Shape 13"/>
          <p:cNvSpPr/>
          <p:nvPr/>
        </p:nvSpPr>
        <p:spPr>
          <a:xfrm>
            <a:off x="7269480" y="2514600"/>
            <a:ext cx="2011680" cy="914400"/>
          </a:xfrm>
          <a:prstGeom prst="roundRect">
            <a:avLst>
              <a:gd name="adj" fmla="val 8000"/>
            </a:avLst>
          </a:prstGeom>
          <a:solidFill>
            <a:srgbClr val="F2F7F8"/>
          </a:solidFill>
          <a:ln w="12700">
            <a:solidFill>
              <a:srgbClr val="CDDDE0"/>
            </a:solidFill>
            <a:prstDash val="solid"/>
          </a:ln>
        </p:spPr>
      </p:sp>
      <p:sp>
        <p:nvSpPr>
          <p:cNvPr id="17" name="Text 14"/>
          <p:cNvSpPr/>
          <p:nvPr/>
        </p:nvSpPr>
        <p:spPr>
          <a:xfrm>
            <a:off x="726948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FILTRE</a:t>
            </a:r>
            <a:endParaRPr lang="en-US" sz="1100" dirty="0"/>
          </a:p>
        </p:txBody>
      </p:sp>
      <p:sp>
        <p:nvSpPr>
          <p:cNvPr id="18" name="Text 15"/>
          <p:cNvSpPr/>
          <p:nvPr/>
        </p:nvSpPr>
        <p:spPr>
          <a:xfrm>
            <a:off x="7269480" y="2944368"/>
            <a:ext cx="2011680" cy="411480"/>
          </a:xfrm>
          <a:prstGeom prst="rect">
            <a:avLst/>
          </a:prstGeom>
          <a:noFill/>
          <a:ln/>
        </p:spPr>
        <p:txBody>
          <a:bodyPr wrap="square" lIns="0" tIns="0" rIns="0" bIns="0" rtlCol="0" anchor="ctr"/>
          <a:lstStyle/>
          <a:p>
            <a:pPr marL="0" indent="0" algn="ctr">
              <a:buNone/>
            </a:pPr>
            <a:r>
              <a:rPr lang="en-US" sz="1600" b="1" dirty="0">
                <a:solidFill>
                  <a:srgbClr val="1C7293"/>
                </a:solidFill>
                <a:latin typeface="Consolas" pitchFamily="34" charset="0"/>
                <a:ea typeface="Consolas" pitchFamily="34" charset="-122"/>
                <a:cs typeface="Consolas" pitchFamily="34" charset="-120"/>
              </a:rPr>
              <a:t>$x = ch%</a:t>
            </a:r>
            <a:endParaRPr lang="en-US" sz="1600" dirty="0"/>
          </a:p>
        </p:txBody>
      </p:sp>
      <p:sp>
        <p:nvSpPr>
          <p:cNvPr id="19" name="Shape 16"/>
          <p:cNvSpPr/>
          <p:nvPr/>
        </p:nvSpPr>
        <p:spPr>
          <a:xfrm>
            <a:off x="9509760" y="2514600"/>
            <a:ext cx="2011680" cy="914400"/>
          </a:xfrm>
          <a:prstGeom prst="roundRect">
            <a:avLst>
              <a:gd name="adj" fmla="val 8000"/>
            </a:avLst>
          </a:prstGeom>
          <a:solidFill>
            <a:srgbClr val="F2F7F8"/>
          </a:solidFill>
          <a:ln w="12700">
            <a:solidFill>
              <a:srgbClr val="CDDDE0"/>
            </a:solidFill>
            <a:prstDash val="solid"/>
          </a:ln>
        </p:spPr>
      </p:sp>
      <p:sp>
        <p:nvSpPr>
          <p:cNvPr id="20" name="Text 17"/>
          <p:cNvSpPr/>
          <p:nvPr/>
        </p:nvSpPr>
        <p:spPr>
          <a:xfrm>
            <a:off x="950976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OPÉRATEURS</a:t>
            </a:r>
            <a:endParaRPr lang="en-US" sz="1100" dirty="0"/>
          </a:p>
        </p:txBody>
      </p:sp>
      <p:sp>
        <p:nvSpPr>
          <p:cNvPr id="21" name="Text 18"/>
          <p:cNvSpPr/>
          <p:nvPr/>
        </p:nvSpPr>
        <p:spPr>
          <a:xfrm>
            <a:off x="9509760" y="2944368"/>
            <a:ext cx="2011680" cy="411480"/>
          </a:xfrm>
          <a:prstGeom prst="rect">
            <a:avLst/>
          </a:prstGeom>
          <a:noFill/>
          <a:ln/>
        </p:spPr>
        <p:txBody>
          <a:bodyPr wrap="square" lIns="0" tIns="0" rIns="0" bIns="0" rtlCol="0" anchor="ctr"/>
          <a:lstStyle/>
          <a:p>
            <a:pPr marL="0" indent="0" algn="ctr">
              <a:buNone/>
            </a:pPr>
            <a:r>
              <a:rPr lang="en-US" sz="1600" b="1" dirty="0">
                <a:solidFill>
                  <a:srgbClr val="2EC4B6"/>
                </a:solidFill>
                <a:latin typeface="Consolas" pitchFamily="34" charset="0"/>
                <a:ea typeface="Consolas" pitchFamily="34" charset="-122"/>
                <a:cs typeface="Consolas" pitchFamily="34" charset="-120"/>
              </a:rPr>
              <a:t>ET · OU</a:t>
            </a:r>
            <a:endParaRPr lang="en-US" sz="1600" dirty="0"/>
          </a:p>
        </p:txBody>
      </p:sp>
      <p:sp>
        <p:nvSpPr>
          <p:cNvPr id="22" name="Text 19"/>
          <p:cNvSpPr/>
          <p:nvPr/>
        </p:nvSpPr>
        <p:spPr>
          <a:xfrm>
            <a:off x="548640" y="3703320"/>
            <a:ext cx="5486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EXEMPLES DE REQUÊTES</a:t>
            </a:r>
            <a:endParaRPr lang="en-US" sz="1250" dirty="0"/>
          </a:p>
        </p:txBody>
      </p:sp>
      <p:sp>
        <p:nvSpPr>
          <p:cNvPr id="23" name="Shape 20"/>
          <p:cNvSpPr/>
          <p:nvPr/>
        </p:nvSpPr>
        <p:spPr>
          <a:xfrm>
            <a:off x="548640" y="4114800"/>
            <a:ext cx="6949440" cy="530352"/>
          </a:xfrm>
          <a:prstGeom prst="roundRect">
            <a:avLst>
              <a:gd name="adj" fmla="val 10345"/>
            </a:avLst>
          </a:prstGeom>
          <a:solidFill>
            <a:srgbClr val="0B3D52"/>
          </a:solidFill>
          <a:ln/>
        </p:spPr>
      </p:sp>
      <p:sp>
        <p:nvSpPr>
          <p:cNvPr id="24" name="Text 21"/>
          <p:cNvSpPr/>
          <p:nvPr/>
        </p:nvSpPr>
        <p:spPr>
          <a:xfrm>
            <a:off x="713232" y="4114800"/>
            <a:ext cx="6620256" cy="530352"/>
          </a:xfrm>
          <a:prstGeom prst="rect">
            <a:avLst/>
          </a:prstGeom>
          <a:noFill/>
          <a:ln/>
        </p:spPr>
        <p:txBody>
          <a:bodyPr wrap="square" lIns="0" tIns="0" rIns="0" bIns="0" rtlCol="0" anchor="ctr"/>
          <a:lstStyle/>
          <a:p>
            <a:pPr marL="0" indent="0" algn="l">
              <a:buNone/>
            </a:pPr>
            <a:r>
              <a:rPr lang="en-US" sz="1300" dirty="0">
                <a:solidFill>
                  <a:srgbClr val="8FE3DA"/>
                </a:solidFill>
                <a:latin typeface="Consolas" pitchFamily="34" charset="0"/>
                <a:ea typeface="Consolas" pitchFamily="34" charset="-122"/>
                <a:cs typeface="Consolas" pitchFamily="34" charset="-120"/>
              </a:rPr>
              <a:t>($x r_isa animal) ET ($x r_has_part queue)</a:t>
            </a:r>
            <a:endParaRPr lang="en-US" sz="1300" dirty="0"/>
          </a:p>
        </p:txBody>
      </p:sp>
      <p:pic>
        <p:nvPicPr>
          <p:cNvPr id="25" name="Image 1" descr="preencoded.png"/>
          <p:cNvPicPr>
            <a:picLocks noChangeAspect="1"/>
          </p:cNvPicPr>
          <p:nvPr/>
        </p:nvPicPr>
        <p:blipFill>
          <a:blip r:embed="rId4"/>
          <a:stretch>
            <a:fillRect/>
          </a:stretch>
        </p:blipFill>
        <p:spPr>
          <a:xfrm>
            <a:off x="7635240" y="4261104"/>
            <a:ext cx="237744" cy="237744"/>
          </a:xfrm>
          <a:prstGeom prst="rect">
            <a:avLst/>
          </a:prstGeom>
        </p:spPr>
      </p:pic>
      <p:sp>
        <p:nvSpPr>
          <p:cNvPr id="26" name="Text 22"/>
          <p:cNvSpPr/>
          <p:nvPr/>
        </p:nvSpPr>
        <p:spPr>
          <a:xfrm>
            <a:off x="8001000" y="4114800"/>
            <a:ext cx="3611880" cy="530352"/>
          </a:xfrm>
          <a:prstGeom prst="rect">
            <a:avLst/>
          </a:prstGeom>
          <a:noFill/>
          <a:ln/>
        </p:spPr>
        <p:txBody>
          <a:bodyPr wrap="square" lIns="0" tIns="0" rIns="0" bIns="0" rtlCol="0" anchor="ctr"/>
          <a:lstStyle/>
          <a:p>
            <a:pPr marL="0" indent="0">
              <a:buNone/>
            </a:pPr>
            <a:r>
              <a:rPr lang="en-US" sz="1300" i="1" dirty="0">
                <a:solidFill>
                  <a:srgbClr val="3C5560"/>
                </a:solidFill>
                <a:latin typeface="Calibri" pitchFamily="34" charset="0"/>
                <a:ea typeface="Calibri" pitchFamily="34" charset="-122"/>
                <a:cs typeface="Calibri" pitchFamily="34" charset="-120"/>
              </a:rPr>
              <a:t>Les animaux qui ont une queue</a:t>
            </a:r>
            <a:endParaRPr lang="en-US" sz="1300" dirty="0"/>
          </a:p>
        </p:txBody>
      </p:sp>
      <p:sp>
        <p:nvSpPr>
          <p:cNvPr id="27" name="Shape 23"/>
          <p:cNvSpPr/>
          <p:nvPr/>
        </p:nvSpPr>
        <p:spPr>
          <a:xfrm>
            <a:off x="548640" y="4828032"/>
            <a:ext cx="6949440" cy="530352"/>
          </a:xfrm>
          <a:prstGeom prst="roundRect">
            <a:avLst>
              <a:gd name="adj" fmla="val 10345"/>
            </a:avLst>
          </a:prstGeom>
          <a:solidFill>
            <a:srgbClr val="0B3D52"/>
          </a:solidFill>
          <a:ln/>
        </p:spPr>
      </p:sp>
      <p:sp>
        <p:nvSpPr>
          <p:cNvPr id="28" name="Text 24"/>
          <p:cNvSpPr/>
          <p:nvPr/>
        </p:nvSpPr>
        <p:spPr>
          <a:xfrm>
            <a:off x="713232" y="4828032"/>
            <a:ext cx="6620256" cy="530352"/>
          </a:xfrm>
          <a:prstGeom prst="rect">
            <a:avLst/>
          </a:prstGeom>
          <a:noFill/>
          <a:ln/>
        </p:spPr>
        <p:txBody>
          <a:bodyPr wrap="square" lIns="0" tIns="0" rIns="0" bIns="0" rtlCol="0" anchor="ctr"/>
          <a:lstStyle/>
          <a:p>
            <a:pPr marL="0" indent="0" algn="l">
              <a:buNone/>
            </a:pPr>
            <a:r>
              <a:rPr lang="en-US" sz="1300" dirty="0">
                <a:solidFill>
                  <a:srgbClr val="8FE3DA"/>
                </a:solidFill>
                <a:latin typeface="Consolas" pitchFamily="34" charset="0"/>
                <a:ea typeface="Consolas" pitchFamily="34" charset="-122"/>
                <a:cs typeface="Consolas" pitchFamily="34" charset="-120"/>
              </a:rPr>
              <a:t>($x r_isa mammifère) OU ($x r_isa oiseau)</a:t>
            </a:r>
            <a:endParaRPr lang="en-US" sz="1300" dirty="0"/>
          </a:p>
        </p:txBody>
      </p:sp>
      <p:pic>
        <p:nvPicPr>
          <p:cNvPr id="29" name="Image 2" descr="preencoded.png"/>
          <p:cNvPicPr>
            <a:picLocks noChangeAspect="1"/>
          </p:cNvPicPr>
          <p:nvPr/>
        </p:nvPicPr>
        <p:blipFill>
          <a:blip r:embed="rId4"/>
          <a:stretch>
            <a:fillRect/>
          </a:stretch>
        </p:blipFill>
        <p:spPr>
          <a:xfrm>
            <a:off x="7635240" y="4974336"/>
            <a:ext cx="237744" cy="237744"/>
          </a:xfrm>
          <a:prstGeom prst="rect">
            <a:avLst/>
          </a:prstGeom>
        </p:spPr>
      </p:pic>
      <p:sp>
        <p:nvSpPr>
          <p:cNvPr id="30" name="Text 25"/>
          <p:cNvSpPr/>
          <p:nvPr/>
        </p:nvSpPr>
        <p:spPr>
          <a:xfrm>
            <a:off x="8001000" y="4828032"/>
            <a:ext cx="3611880" cy="530352"/>
          </a:xfrm>
          <a:prstGeom prst="rect">
            <a:avLst/>
          </a:prstGeom>
          <a:noFill/>
          <a:ln/>
        </p:spPr>
        <p:txBody>
          <a:bodyPr wrap="square" lIns="0" tIns="0" rIns="0" bIns="0" rtlCol="0" anchor="ctr"/>
          <a:lstStyle/>
          <a:p>
            <a:pPr marL="0" indent="0">
              <a:buNone/>
            </a:pPr>
            <a:r>
              <a:rPr lang="en-US" sz="1300" i="1" dirty="0">
                <a:solidFill>
                  <a:srgbClr val="3C5560"/>
                </a:solidFill>
                <a:latin typeface="Calibri" pitchFamily="34" charset="0"/>
                <a:ea typeface="Calibri" pitchFamily="34" charset="-122"/>
                <a:cs typeface="Calibri" pitchFamily="34" charset="-120"/>
              </a:rPr>
              <a:t>Mammifères ou oiseaux</a:t>
            </a:r>
            <a:endParaRPr lang="en-US" sz="1300" dirty="0"/>
          </a:p>
        </p:txBody>
      </p:sp>
      <p:sp>
        <p:nvSpPr>
          <p:cNvPr id="31" name="Shape 26"/>
          <p:cNvSpPr/>
          <p:nvPr/>
        </p:nvSpPr>
        <p:spPr>
          <a:xfrm>
            <a:off x="548640" y="5541264"/>
            <a:ext cx="6949440" cy="530352"/>
          </a:xfrm>
          <a:prstGeom prst="roundRect">
            <a:avLst>
              <a:gd name="adj" fmla="val 10345"/>
            </a:avLst>
          </a:prstGeom>
          <a:solidFill>
            <a:srgbClr val="0B3D52"/>
          </a:solidFill>
          <a:ln/>
        </p:spPr>
      </p:sp>
      <p:sp>
        <p:nvSpPr>
          <p:cNvPr id="32" name="Text 27"/>
          <p:cNvSpPr/>
          <p:nvPr/>
        </p:nvSpPr>
        <p:spPr>
          <a:xfrm>
            <a:off x="713232" y="5541264"/>
            <a:ext cx="6620256" cy="530352"/>
          </a:xfrm>
          <a:prstGeom prst="rect">
            <a:avLst/>
          </a:prstGeom>
          <a:noFill/>
          <a:ln/>
        </p:spPr>
        <p:txBody>
          <a:bodyPr wrap="square" lIns="0" tIns="0" rIns="0" bIns="0" rtlCol="0" anchor="ctr"/>
          <a:lstStyle/>
          <a:p>
            <a:pPr marL="0" indent="0" algn="l">
              <a:buNone/>
            </a:pPr>
            <a:r>
              <a:rPr lang="en-US" sz="1300" dirty="0">
                <a:solidFill>
                  <a:srgbClr val="8FE3DA"/>
                </a:solidFill>
                <a:latin typeface="Consolas" pitchFamily="34" charset="0"/>
                <a:ea typeface="Consolas" pitchFamily="34" charset="-122"/>
                <a:cs typeface="Consolas" pitchFamily="34" charset="-120"/>
              </a:rPr>
              <a:t>($x r_isa animal) ET ($y r_isa animal) ET ($x r_can_eat $y)</a:t>
            </a:r>
            <a:endParaRPr lang="en-US" sz="1300" dirty="0"/>
          </a:p>
        </p:txBody>
      </p:sp>
      <p:pic>
        <p:nvPicPr>
          <p:cNvPr id="33" name="Image 3" descr="preencoded.png"/>
          <p:cNvPicPr>
            <a:picLocks noChangeAspect="1"/>
          </p:cNvPicPr>
          <p:nvPr/>
        </p:nvPicPr>
        <p:blipFill>
          <a:blip r:embed="rId4"/>
          <a:stretch>
            <a:fillRect/>
          </a:stretch>
        </p:blipFill>
        <p:spPr>
          <a:xfrm>
            <a:off x="7635240" y="5687568"/>
            <a:ext cx="237744" cy="237744"/>
          </a:xfrm>
          <a:prstGeom prst="rect">
            <a:avLst/>
          </a:prstGeom>
        </p:spPr>
      </p:pic>
      <p:sp>
        <p:nvSpPr>
          <p:cNvPr id="34" name="Text 28"/>
          <p:cNvSpPr/>
          <p:nvPr/>
        </p:nvSpPr>
        <p:spPr>
          <a:xfrm>
            <a:off x="8001000" y="5541264"/>
            <a:ext cx="3611880" cy="530352"/>
          </a:xfrm>
          <a:prstGeom prst="rect">
            <a:avLst/>
          </a:prstGeom>
          <a:noFill/>
          <a:ln/>
        </p:spPr>
        <p:txBody>
          <a:bodyPr wrap="square" lIns="0" tIns="0" rIns="0" bIns="0" rtlCol="0" anchor="ctr"/>
          <a:lstStyle/>
          <a:p>
            <a:pPr marL="0" indent="0">
              <a:buNone/>
            </a:pPr>
            <a:r>
              <a:rPr lang="en-US" sz="1300" i="1" dirty="0">
                <a:solidFill>
                  <a:srgbClr val="3C5560"/>
                </a:solidFill>
                <a:latin typeface="Calibri" pitchFamily="34" charset="0"/>
                <a:ea typeface="Calibri" pitchFamily="34" charset="-122"/>
                <a:cs typeface="Calibri" pitchFamily="34" charset="-120"/>
              </a:rPr>
              <a:t>Couples d'animaux liés par « peut manger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EXEMPLES PROGRESSIFS</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Du plus simple au plus complexe — 3 niveaux</a:t>
            </a:r>
            <a:endParaRPr lang="en-US" sz="3000" dirty="0"/>
          </a:p>
        </p:txBody>
      </p:sp>
      <p:sp>
        <p:nvSpPr>
          <p:cNvPr id="6" name="Text 3"/>
          <p:cNvSpPr/>
          <p:nvPr/>
        </p:nvSpPr>
        <p:spPr>
          <a:xfrm>
            <a:off x="548640" y="1783080"/>
            <a:ext cx="11064240" cy="640080"/>
          </a:xfrm>
          <a:prstGeom prst="rect">
            <a:avLst/>
          </a:prstGeom>
          <a:noFill/>
          <a:ln/>
        </p:spPr>
        <p:txBody>
          <a:bodyPr wrap="square" lIns="0" tIns="0" rIns="0" bIns="0" rtlCol="0" anchor="ctr"/>
          <a:lstStyle/>
          <a:p>
            <a:pPr marL="0" indent="0">
              <a:lnSpc>
                <a:spcPct val="115000"/>
              </a:lnSpc>
              <a:buNone/>
            </a:pPr>
            <a:r>
              <a:rPr lang="en-US" sz="1500" dirty="0">
                <a:solidFill>
                  <a:srgbClr val="3C5560"/>
                </a:solidFill>
                <a:latin typeface="Calibri" pitchFamily="34" charset="0"/>
                <a:ea typeface="Calibri" pitchFamily="34" charset="-122"/>
                <a:cs typeface="Calibri" pitchFamily="34" charset="-120"/>
              </a:rPr>
              <a:t>Plus la requête est expressive, plus elle exploite la richesse du graphe. Trois niveaux pour montrer toute l’étendue du langage.</a:t>
            </a:r>
            <a:endParaRPr lang="en-US" sz="1500" dirty="0"/>
          </a:p>
        </p:txBody>
      </p:sp>
      <p:sp>
        <p:nvSpPr>
          <p:cNvPr id="7" name="Shape 4"/>
          <p:cNvSpPr/>
          <p:nvPr/>
        </p:nvSpPr>
        <p:spPr>
          <a:xfrm>
            <a:off x="548640" y="2514600"/>
            <a:ext cx="2011680" cy="914400"/>
          </a:xfrm>
          <a:prstGeom prst="roundRect">
            <a:avLst>
              <a:gd name="adj" fmla="val 8000"/>
            </a:avLst>
          </a:prstGeom>
          <a:solidFill>
            <a:srgbClr val="F2F7F8"/>
          </a:solidFill>
          <a:ln w="12700">
            <a:solidFill>
              <a:srgbClr val="CDDDE0"/>
            </a:solidFill>
            <a:prstDash val="solid"/>
          </a:ln>
        </p:spPr>
      </p:sp>
      <p:sp>
        <p:nvSpPr>
          <p:cNvPr id="8" name="Text 5"/>
          <p:cNvSpPr/>
          <p:nvPr/>
        </p:nvSpPr>
        <p:spPr>
          <a:xfrm>
            <a:off x="54864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NIVEAU 1</a:t>
            </a:r>
            <a:endParaRPr lang="en-US" sz="1100" dirty="0"/>
          </a:p>
        </p:txBody>
      </p:sp>
      <p:sp>
        <p:nvSpPr>
          <p:cNvPr id="9" name="Text 6"/>
          <p:cNvSpPr/>
          <p:nvPr/>
        </p:nvSpPr>
        <p:spPr>
          <a:xfrm>
            <a:off x="548640" y="2944368"/>
            <a:ext cx="2011680" cy="411480"/>
          </a:xfrm>
          <a:prstGeom prst="rect">
            <a:avLst/>
          </a:prstGeom>
          <a:noFill/>
          <a:ln/>
        </p:spPr>
        <p:txBody>
          <a:bodyPr wrap="square" lIns="0" tIns="0" rIns="0" bIns="0" rtlCol="0" anchor="ctr"/>
          <a:lstStyle/>
          <a:p>
            <a:pPr marL="0" indent="0" algn="ctr">
              <a:buNone/>
            </a:pPr>
            <a:r>
              <a:rPr lang="en-US" sz="1600" b="1" dirty="0">
                <a:solidFill>
                  <a:srgbClr val="2EC4B6"/>
                </a:solidFill>
                <a:latin typeface="Consolas" pitchFamily="34" charset="0"/>
                <a:ea typeface="Consolas" pitchFamily="34" charset="-122"/>
                <a:cs typeface="Consolas" pitchFamily="34" charset="-120"/>
              </a:rPr>
              <a:t>1 clause</a:t>
            </a:r>
            <a:endParaRPr lang="en-US" sz="1600" dirty="0"/>
          </a:p>
        </p:txBody>
      </p:sp>
      <p:sp>
        <p:nvSpPr>
          <p:cNvPr id="10" name="Shape 7"/>
          <p:cNvSpPr/>
          <p:nvPr/>
        </p:nvSpPr>
        <p:spPr>
          <a:xfrm>
            <a:off x="2788920" y="2514600"/>
            <a:ext cx="2011680" cy="914400"/>
          </a:xfrm>
          <a:prstGeom prst="roundRect">
            <a:avLst>
              <a:gd name="adj" fmla="val 8000"/>
            </a:avLst>
          </a:prstGeom>
          <a:solidFill>
            <a:srgbClr val="F2F7F8"/>
          </a:solidFill>
          <a:ln w="12700">
            <a:solidFill>
              <a:srgbClr val="CDDDE0"/>
            </a:solidFill>
            <a:prstDash val="solid"/>
          </a:ln>
        </p:spPr>
      </p:sp>
      <p:sp>
        <p:nvSpPr>
          <p:cNvPr id="11" name="Text 8"/>
          <p:cNvSpPr/>
          <p:nvPr/>
        </p:nvSpPr>
        <p:spPr>
          <a:xfrm>
            <a:off x="278892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NIVEAU 2</a:t>
            </a:r>
            <a:endParaRPr lang="en-US" sz="1100" dirty="0"/>
          </a:p>
        </p:txBody>
      </p:sp>
      <p:sp>
        <p:nvSpPr>
          <p:cNvPr id="12" name="Text 9"/>
          <p:cNvSpPr/>
          <p:nvPr/>
        </p:nvSpPr>
        <p:spPr>
          <a:xfrm>
            <a:off x="2788920" y="2944368"/>
            <a:ext cx="2011680" cy="411480"/>
          </a:xfrm>
          <a:prstGeom prst="rect">
            <a:avLst/>
          </a:prstGeom>
          <a:noFill/>
          <a:ln/>
        </p:spPr>
        <p:txBody>
          <a:bodyPr wrap="square" lIns="0" tIns="0" rIns="0" bIns="0" rtlCol="0" anchor="ctr"/>
          <a:lstStyle/>
          <a:p>
            <a:pPr marL="0" indent="0" algn="ctr">
              <a:buNone/>
            </a:pPr>
            <a:r>
              <a:rPr lang="en-US" sz="1600" b="1" dirty="0">
                <a:solidFill>
                  <a:srgbClr val="1C7293"/>
                </a:solidFill>
                <a:latin typeface="Consolas" pitchFamily="34" charset="0"/>
                <a:ea typeface="Consolas" pitchFamily="34" charset="-122"/>
                <a:cs typeface="Consolas" pitchFamily="34" charset="-120"/>
              </a:rPr>
              <a:t>2 clauses</a:t>
            </a:r>
            <a:endParaRPr lang="en-US" sz="1600" dirty="0"/>
          </a:p>
        </p:txBody>
      </p:sp>
      <p:sp>
        <p:nvSpPr>
          <p:cNvPr id="13" name="Shape 10"/>
          <p:cNvSpPr/>
          <p:nvPr/>
        </p:nvSpPr>
        <p:spPr>
          <a:xfrm>
            <a:off x="5029200" y="2514600"/>
            <a:ext cx="2011680" cy="914400"/>
          </a:xfrm>
          <a:prstGeom prst="roundRect">
            <a:avLst>
              <a:gd name="adj" fmla="val 8000"/>
            </a:avLst>
          </a:prstGeom>
          <a:solidFill>
            <a:srgbClr val="F2F7F8"/>
          </a:solidFill>
          <a:ln w="12700">
            <a:solidFill>
              <a:srgbClr val="CDDDE0"/>
            </a:solidFill>
            <a:prstDash val="solid"/>
          </a:ln>
        </p:spPr>
      </p:sp>
      <p:sp>
        <p:nvSpPr>
          <p:cNvPr id="14" name="Text 11"/>
          <p:cNvSpPr/>
          <p:nvPr/>
        </p:nvSpPr>
        <p:spPr>
          <a:xfrm>
            <a:off x="502920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NIVEAU 3</a:t>
            </a:r>
            <a:endParaRPr lang="en-US" sz="1100" dirty="0"/>
          </a:p>
        </p:txBody>
      </p:sp>
      <p:sp>
        <p:nvSpPr>
          <p:cNvPr id="15" name="Text 12"/>
          <p:cNvSpPr/>
          <p:nvPr/>
        </p:nvSpPr>
        <p:spPr>
          <a:xfrm>
            <a:off x="5029200" y="2944368"/>
            <a:ext cx="2011680" cy="411480"/>
          </a:xfrm>
          <a:prstGeom prst="rect">
            <a:avLst/>
          </a:prstGeom>
          <a:noFill/>
          <a:ln/>
        </p:spPr>
        <p:txBody>
          <a:bodyPr wrap="square" lIns="0" tIns="0" rIns="0" bIns="0" rtlCol="0" anchor="ctr"/>
          <a:lstStyle/>
          <a:p>
            <a:pPr marL="0" indent="0" algn="ctr">
              <a:buNone/>
            </a:pPr>
            <a:r>
              <a:rPr lang="en-US" sz="1600" b="1" dirty="0">
                <a:solidFill>
                  <a:srgbClr val="0E4D63"/>
                </a:solidFill>
                <a:latin typeface="Consolas" pitchFamily="34" charset="0"/>
                <a:ea typeface="Consolas" pitchFamily="34" charset="-122"/>
                <a:cs typeface="Consolas" pitchFamily="34" charset="-120"/>
              </a:rPr>
              <a:t>2 variables</a:t>
            </a:r>
            <a:endParaRPr lang="en-US" sz="1600" dirty="0"/>
          </a:p>
        </p:txBody>
      </p:sp>
      <p:sp>
        <p:nvSpPr>
          <p:cNvPr id="16" name="Shape 13"/>
          <p:cNvSpPr/>
          <p:nvPr/>
        </p:nvSpPr>
        <p:spPr>
          <a:xfrm>
            <a:off x="7269480" y="2514600"/>
            <a:ext cx="2011680" cy="914400"/>
          </a:xfrm>
          <a:prstGeom prst="roundRect">
            <a:avLst>
              <a:gd name="adj" fmla="val 8000"/>
            </a:avLst>
          </a:prstGeom>
          <a:solidFill>
            <a:srgbClr val="F2F7F8"/>
          </a:solidFill>
          <a:ln w="12700">
            <a:solidFill>
              <a:srgbClr val="CDDDE0"/>
            </a:solidFill>
            <a:prstDash val="solid"/>
          </a:ln>
        </p:spPr>
      </p:sp>
      <p:sp>
        <p:nvSpPr>
          <p:cNvPr id="17" name="Text 14"/>
          <p:cNvSpPr/>
          <p:nvPr/>
        </p:nvSpPr>
        <p:spPr>
          <a:xfrm>
            <a:off x="726948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TRI</a:t>
            </a:r>
            <a:endParaRPr lang="en-US" sz="1100" dirty="0"/>
          </a:p>
        </p:txBody>
      </p:sp>
      <p:sp>
        <p:nvSpPr>
          <p:cNvPr id="18" name="Text 15"/>
          <p:cNvSpPr/>
          <p:nvPr/>
        </p:nvSpPr>
        <p:spPr>
          <a:xfrm>
            <a:off x="7269480" y="2944368"/>
            <a:ext cx="2011680" cy="411480"/>
          </a:xfrm>
          <a:prstGeom prst="rect">
            <a:avLst/>
          </a:prstGeom>
          <a:noFill/>
          <a:ln/>
        </p:spPr>
        <p:txBody>
          <a:bodyPr wrap="square" lIns="0" tIns="0" rIns="0" bIns="0" rtlCol="0" anchor="ctr"/>
          <a:lstStyle/>
          <a:p>
            <a:pPr marL="0" indent="0" algn="ctr">
              <a:buNone/>
            </a:pPr>
            <a:r>
              <a:rPr lang="en-US" sz="1600" b="1" dirty="0">
                <a:solidFill>
                  <a:srgbClr val="1C7293"/>
                </a:solidFill>
                <a:latin typeface="Consolas" pitchFamily="34" charset="0"/>
                <a:ea typeface="Consolas" pitchFamily="34" charset="-122"/>
                <a:cs typeface="Consolas" pitchFamily="34" charset="-120"/>
              </a:rPr>
              <a:t>par poids JDM</a:t>
            </a:r>
            <a:endParaRPr lang="en-US" sz="1600" dirty="0"/>
          </a:p>
        </p:txBody>
      </p:sp>
      <p:sp>
        <p:nvSpPr>
          <p:cNvPr id="19" name="Shape 16"/>
          <p:cNvSpPr/>
          <p:nvPr/>
        </p:nvSpPr>
        <p:spPr>
          <a:xfrm>
            <a:off x="9509760" y="2514600"/>
            <a:ext cx="2011680" cy="914400"/>
          </a:xfrm>
          <a:prstGeom prst="roundRect">
            <a:avLst>
              <a:gd name="adj" fmla="val 8000"/>
            </a:avLst>
          </a:prstGeom>
          <a:solidFill>
            <a:srgbClr val="F2F7F8"/>
          </a:solidFill>
          <a:ln w="12700">
            <a:solidFill>
              <a:srgbClr val="CDDDE0"/>
            </a:solidFill>
            <a:prstDash val="solid"/>
          </a:ln>
        </p:spPr>
      </p:sp>
      <p:sp>
        <p:nvSpPr>
          <p:cNvPr id="20" name="Text 17"/>
          <p:cNvSpPr/>
          <p:nvPr/>
        </p:nvSpPr>
        <p:spPr>
          <a:xfrm>
            <a:off x="9509760" y="2651760"/>
            <a:ext cx="2011680" cy="274320"/>
          </a:xfrm>
          <a:prstGeom prst="rect">
            <a:avLst/>
          </a:prstGeom>
          <a:noFill/>
          <a:ln/>
        </p:spPr>
        <p:txBody>
          <a:bodyPr wrap="square" lIns="0" tIns="0" rIns="0" bIns="0" rtlCol="0" anchor="ctr"/>
          <a:lstStyle/>
          <a:p>
            <a:pPr marL="0" indent="0" algn="ctr">
              <a:buNone/>
            </a:pPr>
            <a:r>
              <a:rPr lang="en-US" sz="1100" b="1" kern="0" spc="150" dirty="0">
                <a:solidFill>
                  <a:srgbClr val="3C5560"/>
                </a:solidFill>
                <a:latin typeface="Calibri" pitchFamily="34" charset="0"/>
                <a:ea typeface="Calibri" pitchFamily="34" charset="-122"/>
                <a:cs typeface="Calibri" pitchFamily="34" charset="-120"/>
              </a:rPr>
              <a:t>PREUVES</a:t>
            </a:r>
            <a:endParaRPr lang="en-US" sz="1100" dirty="0"/>
          </a:p>
        </p:txBody>
      </p:sp>
      <p:sp>
        <p:nvSpPr>
          <p:cNvPr id="21" name="Text 18"/>
          <p:cNvSpPr/>
          <p:nvPr/>
        </p:nvSpPr>
        <p:spPr>
          <a:xfrm>
            <a:off x="9509760" y="2944368"/>
            <a:ext cx="2011680" cy="411480"/>
          </a:xfrm>
          <a:prstGeom prst="rect">
            <a:avLst/>
          </a:prstGeom>
          <a:noFill/>
          <a:ln/>
        </p:spPr>
        <p:txBody>
          <a:bodyPr wrap="square" lIns="0" tIns="0" rIns="0" bIns="0" rtlCol="0" anchor="ctr"/>
          <a:lstStyle/>
          <a:p>
            <a:pPr marL="0" indent="0" algn="ctr">
              <a:buNone/>
            </a:pPr>
            <a:r>
              <a:rPr lang="en-US" sz="1600" b="1" dirty="0">
                <a:solidFill>
                  <a:srgbClr val="2EC4B6"/>
                </a:solidFill>
                <a:latin typeface="Consolas" pitchFamily="34" charset="0"/>
                <a:ea typeface="Consolas" pitchFamily="34" charset="-122"/>
                <a:cs typeface="Consolas" pitchFamily="34" charset="-120"/>
              </a:rPr>
              <a:t>relations affichées</a:t>
            </a:r>
            <a:endParaRPr lang="en-US" sz="1600" dirty="0"/>
          </a:p>
        </p:txBody>
      </p:sp>
      <p:sp>
        <p:nvSpPr>
          <p:cNvPr id="22" name="Text 19"/>
          <p:cNvSpPr/>
          <p:nvPr/>
        </p:nvSpPr>
        <p:spPr>
          <a:xfrm>
            <a:off x="548640" y="3703320"/>
            <a:ext cx="5486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ÉTUDE DE CAS</a:t>
            </a:r>
            <a:endParaRPr lang="en-US" sz="1250" dirty="0"/>
          </a:p>
        </p:txBody>
      </p:sp>
      <p:sp>
        <p:nvSpPr>
          <p:cNvPr id="23" name="Shape 20"/>
          <p:cNvSpPr/>
          <p:nvPr/>
        </p:nvSpPr>
        <p:spPr>
          <a:xfrm>
            <a:off x="548640" y="4114800"/>
            <a:ext cx="6949440" cy="530352"/>
          </a:xfrm>
          <a:prstGeom prst="roundRect">
            <a:avLst>
              <a:gd name="adj" fmla="val 10345"/>
            </a:avLst>
          </a:prstGeom>
          <a:solidFill>
            <a:srgbClr val="0B3D52"/>
          </a:solidFill>
          <a:ln/>
        </p:spPr>
      </p:sp>
      <p:sp>
        <p:nvSpPr>
          <p:cNvPr id="24" name="Text 21"/>
          <p:cNvSpPr/>
          <p:nvPr/>
        </p:nvSpPr>
        <p:spPr>
          <a:xfrm>
            <a:off x="713232" y="4114800"/>
            <a:ext cx="6620256" cy="530352"/>
          </a:xfrm>
          <a:prstGeom prst="rect">
            <a:avLst/>
          </a:prstGeom>
          <a:noFill/>
          <a:ln/>
        </p:spPr>
        <p:txBody>
          <a:bodyPr wrap="square" lIns="0" tIns="0" rIns="0" bIns="0" rtlCol="0" anchor="ctr"/>
          <a:lstStyle/>
          <a:p>
            <a:pPr marL="0" indent="0" algn="l">
              <a:buNone/>
            </a:pPr>
            <a:r>
              <a:rPr lang="en-US" sz="1300" dirty="0">
                <a:solidFill>
                  <a:srgbClr val="8FE3DA"/>
                </a:solidFill>
                <a:latin typeface="Consolas" pitchFamily="34" charset="0"/>
                <a:ea typeface="Consolas" pitchFamily="34" charset="-122"/>
                <a:cs typeface="Consolas" pitchFamily="34" charset="-120"/>
              </a:rPr>
              <a:t>($x r_isa fruit)</a:t>
            </a:r>
            <a:endParaRPr lang="en-US" sz="1300" dirty="0"/>
          </a:p>
        </p:txBody>
      </p:sp>
      <p:pic>
        <p:nvPicPr>
          <p:cNvPr id="25" name="Image 1" descr="preencoded.png"/>
          <p:cNvPicPr>
            <a:picLocks noChangeAspect="1"/>
          </p:cNvPicPr>
          <p:nvPr/>
        </p:nvPicPr>
        <p:blipFill>
          <a:blip r:embed="rId3"/>
          <a:stretch>
            <a:fillRect/>
          </a:stretch>
        </p:blipFill>
        <p:spPr>
          <a:xfrm>
            <a:off x="7635240" y="4261104"/>
            <a:ext cx="237744" cy="237744"/>
          </a:xfrm>
          <a:prstGeom prst="rect">
            <a:avLst/>
          </a:prstGeom>
        </p:spPr>
      </p:pic>
      <p:sp>
        <p:nvSpPr>
          <p:cNvPr id="26" name="Text 22"/>
          <p:cNvSpPr/>
          <p:nvPr/>
        </p:nvSpPr>
        <p:spPr>
          <a:xfrm>
            <a:off x="8001000" y="4114800"/>
            <a:ext cx="3611880" cy="530352"/>
          </a:xfrm>
          <a:prstGeom prst="rect">
            <a:avLst/>
          </a:prstGeom>
          <a:noFill/>
          <a:ln/>
        </p:spPr>
        <p:txBody>
          <a:bodyPr wrap="square" lIns="0" tIns="0" rIns="0" bIns="0" rtlCol="0" anchor="ctr"/>
          <a:lstStyle/>
          <a:p>
            <a:pPr marL="0" indent="0">
              <a:buNone/>
            </a:pPr>
            <a:r>
              <a:rPr lang="en-US" sz="1300" i="1" dirty="0">
                <a:solidFill>
                  <a:srgbClr val="3C5560"/>
                </a:solidFill>
                <a:latin typeface="Calibri" pitchFamily="34" charset="0"/>
                <a:ea typeface="Calibri" pitchFamily="34" charset="-122"/>
                <a:cs typeface="Calibri" pitchFamily="34" charset="-120"/>
              </a:rPr>
              <a:t>Niveau 1 — lister tous les fruits du graphe</a:t>
            </a:r>
            <a:endParaRPr lang="en-US" sz="1300" dirty="0"/>
          </a:p>
        </p:txBody>
      </p:sp>
      <p:sp>
        <p:nvSpPr>
          <p:cNvPr id="27" name="Shape 23"/>
          <p:cNvSpPr/>
          <p:nvPr/>
        </p:nvSpPr>
        <p:spPr>
          <a:xfrm>
            <a:off x="548640" y="4828032"/>
            <a:ext cx="6949440" cy="530352"/>
          </a:xfrm>
          <a:prstGeom prst="roundRect">
            <a:avLst>
              <a:gd name="adj" fmla="val 10345"/>
            </a:avLst>
          </a:prstGeom>
          <a:solidFill>
            <a:srgbClr val="0B3D52"/>
          </a:solidFill>
          <a:ln/>
        </p:spPr>
      </p:sp>
      <p:sp>
        <p:nvSpPr>
          <p:cNvPr id="28" name="Text 24"/>
          <p:cNvSpPr/>
          <p:nvPr/>
        </p:nvSpPr>
        <p:spPr>
          <a:xfrm>
            <a:off x="713232" y="4828032"/>
            <a:ext cx="6620256" cy="530352"/>
          </a:xfrm>
          <a:prstGeom prst="rect">
            <a:avLst/>
          </a:prstGeom>
          <a:noFill/>
          <a:ln/>
        </p:spPr>
        <p:txBody>
          <a:bodyPr wrap="square" lIns="0" tIns="0" rIns="0" bIns="0" rtlCol="0" anchor="ctr"/>
          <a:lstStyle/>
          <a:p>
            <a:pPr marL="0" indent="0" algn="l">
              <a:buNone/>
            </a:pPr>
            <a:r>
              <a:rPr lang="en-US" sz="1300" dirty="0">
                <a:solidFill>
                  <a:srgbClr val="8FE3DA"/>
                </a:solidFill>
                <a:latin typeface="Consolas" pitchFamily="34" charset="0"/>
                <a:ea typeface="Consolas" pitchFamily="34" charset="-122"/>
                <a:cs typeface="Consolas" pitchFamily="34" charset="-120"/>
              </a:rPr>
              <a:t>($x r_isa fruit) ET ($x r_has_color rouge)</a:t>
            </a:r>
            <a:endParaRPr lang="en-US" sz="1300" dirty="0"/>
          </a:p>
        </p:txBody>
      </p:sp>
      <p:pic>
        <p:nvPicPr>
          <p:cNvPr id="29" name="Image 2" descr="preencoded.png"/>
          <p:cNvPicPr>
            <a:picLocks noChangeAspect="1"/>
          </p:cNvPicPr>
          <p:nvPr/>
        </p:nvPicPr>
        <p:blipFill>
          <a:blip r:embed="rId3"/>
          <a:stretch>
            <a:fillRect/>
          </a:stretch>
        </p:blipFill>
        <p:spPr>
          <a:xfrm>
            <a:off x="7635240" y="4974336"/>
            <a:ext cx="237744" cy="237744"/>
          </a:xfrm>
          <a:prstGeom prst="rect">
            <a:avLst/>
          </a:prstGeom>
        </p:spPr>
      </p:pic>
      <p:sp>
        <p:nvSpPr>
          <p:cNvPr id="30" name="Text 25"/>
          <p:cNvSpPr/>
          <p:nvPr/>
        </p:nvSpPr>
        <p:spPr>
          <a:xfrm>
            <a:off x="8001000" y="4828032"/>
            <a:ext cx="3611880" cy="530352"/>
          </a:xfrm>
          <a:prstGeom prst="rect">
            <a:avLst/>
          </a:prstGeom>
          <a:noFill/>
          <a:ln/>
        </p:spPr>
        <p:txBody>
          <a:bodyPr wrap="square" lIns="0" tIns="0" rIns="0" bIns="0" rtlCol="0" anchor="ctr"/>
          <a:lstStyle/>
          <a:p>
            <a:pPr marL="0" indent="0">
              <a:buNone/>
            </a:pPr>
            <a:r>
              <a:rPr lang="en-US" sz="1300" i="1" dirty="0">
                <a:solidFill>
                  <a:srgbClr val="3C5560"/>
                </a:solidFill>
                <a:latin typeface="Calibri" pitchFamily="34" charset="0"/>
                <a:ea typeface="Calibri" pitchFamily="34" charset="-122"/>
                <a:cs typeface="Calibri" pitchFamily="34" charset="-120"/>
              </a:rPr>
              <a:t>Niveau 2 — fruits rouges (intersection sur $x)</a:t>
            </a:r>
            <a:endParaRPr lang="en-US" sz="1300" dirty="0"/>
          </a:p>
        </p:txBody>
      </p:sp>
      <p:sp>
        <p:nvSpPr>
          <p:cNvPr id="31" name="Shape 26"/>
          <p:cNvSpPr/>
          <p:nvPr/>
        </p:nvSpPr>
        <p:spPr>
          <a:xfrm>
            <a:off x="548640" y="5541264"/>
            <a:ext cx="6949440" cy="530352"/>
          </a:xfrm>
          <a:prstGeom prst="roundRect">
            <a:avLst>
              <a:gd name="adj" fmla="val 10345"/>
            </a:avLst>
          </a:prstGeom>
          <a:solidFill>
            <a:srgbClr val="0B3D52"/>
          </a:solidFill>
          <a:ln/>
        </p:spPr>
      </p:sp>
      <p:sp>
        <p:nvSpPr>
          <p:cNvPr id="32" name="Text 27"/>
          <p:cNvSpPr/>
          <p:nvPr/>
        </p:nvSpPr>
        <p:spPr>
          <a:xfrm>
            <a:off x="713232" y="5541264"/>
            <a:ext cx="6620256" cy="530352"/>
          </a:xfrm>
          <a:prstGeom prst="rect">
            <a:avLst/>
          </a:prstGeom>
          <a:noFill/>
          <a:ln/>
        </p:spPr>
        <p:txBody>
          <a:bodyPr wrap="square" lIns="0" tIns="0" rIns="0" bIns="0" rtlCol="0" anchor="ctr"/>
          <a:lstStyle/>
          <a:p>
            <a:pPr marL="0" indent="0" algn="l">
              <a:buNone/>
            </a:pPr>
            <a:r>
              <a:rPr lang="en-US" sz="1300" dirty="0">
                <a:solidFill>
                  <a:srgbClr val="8FE3DA"/>
                </a:solidFill>
                <a:latin typeface="Consolas" pitchFamily="34" charset="0"/>
                <a:ea typeface="Consolas" pitchFamily="34" charset="-122"/>
                <a:cs typeface="Consolas" pitchFamily="34" charset="-120"/>
              </a:rPr>
              <a:t>($x r_isa pays) ET ($y r_isa ville) ET ($y r_capital $x)</a:t>
            </a:r>
            <a:endParaRPr lang="en-US" sz="1300" dirty="0"/>
          </a:p>
        </p:txBody>
      </p:sp>
      <p:pic>
        <p:nvPicPr>
          <p:cNvPr id="33" name="Image 3" descr="preencoded.png"/>
          <p:cNvPicPr>
            <a:picLocks noChangeAspect="1"/>
          </p:cNvPicPr>
          <p:nvPr/>
        </p:nvPicPr>
        <p:blipFill>
          <a:blip r:embed="rId3"/>
          <a:stretch>
            <a:fillRect/>
          </a:stretch>
        </p:blipFill>
        <p:spPr>
          <a:xfrm>
            <a:off x="7635240" y="5687568"/>
            <a:ext cx="237744" cy="237744"/>
          </a:xfrm>
          <a:prstGeom prst="rect">
            <a:avLst/>
          </a:prstGeom>
        </p:spPr>
      </p:pic>
      <p:sp>
        <p:nvSpPr>
          <p:cNvPr id="34" name="Text 28"/>
          <p:cNvSpPr/>
          <p:nvPr/>
        </p:nvSpPr>
        <p:spPr>
          <a:xfrm>
            <a:off x="8001000" y="5541264"/>
            <a:ext cx="3611880" cy="530352"/>
          </a:xfrm>
          <a:prstGeom prst="rect">
            <a:avLst/>
          </a:prstGeom>
          <a:noFill/>
          <a:ln/>
        </p:spPr>
        <p:txBody>
          <a:bodyPr wrap="square" lIns="0" tIns="0" rIns="0" bIns="0" rtlCol="0" anchor="ctr"/>
          <a:lstStyle/>
          <a:p>
            <a:pPr marL="0" indent="0">
              <a:buNone/>
            </a:pPr>
            <a:r>
              <a:rPr lang="en-US" sz="1300" i="1" dirty="0">
                <a:solidFill>
                  <a:srgbClr val="3C5560"/>
                </a:solidFill>
                <a:latin typeface="Calibri" pitchFamily="34" charset="0"/>
                <a:ea typeface="Calibri" pitchFamily="34" charset="-122"/>
                <a:cs typeface="Calibri" pitchFamily="34" charset="-120"/>
              </a:rPr>
              <a:t>Niveau 3 — couples (pays, capitale) par jointure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VUE D'ENSEMBLE</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Architecture générale du moteur</a:t>
            </a:r>
            <a:endParaRPr lang="en-US" sz="3000" dirty="0"/>
          </a:p>
        </p:txBody>
      </p:sp>
      <p:sp>
        <p:nvSpPr>
          <p:cNvPr id="6" name="Shape 3"/>
          <p:cNvSpPr/>
          <p:nvPr/>
        </p:nvSpPr>
        <p:spPr>
          <a:xfrm>
            <a:off x="548640" y="1667433"/>
            <a:ext cx="5943600" cy="676656"/>
          </a:xfrm>
          <a:prstGeom prst="roundRect">
            <a:avLst>
              <a:gd name="adj" fmla="val 9459"/>
            </a:avLst>
          </a:prstGeom>
          <a:solidFill>
            <a:srgbClr val="F2F7F8"/>
          </a:solidFill>
          <a:ln w="12700">
            <a:solidFill>
              <a:srgbClr val="CDDDE0"/>
            </a:solidFill>
            <a:prstDash val="solid"/>
          </a:ln>
        </p:spPr>
      </p:sp>
      <p:sp>
        <p:nvSpPr>
          <p:cNvPr id="7" name="Text 4"/>
          <p:cNvSpPr/>
          <p:nvPr/>
        </p:nvSpPr>
        <p:spPr>
          <a:xfrm>
            <a:off x="822960" y="1677655"/>
            <a:ext cx="5394960" cy="329184"/>
          </a:xfrm>
          <a:prstGeom prst="rect">
            <a:avLst/>
          </a:prstGeom>
          <a:noFill/>
          <a:ln/>
        </p:spPr>
        <p:txBody>
          <a:bodyPr wrap="square" lIns="0" tIns="0" rIns="0" bIns="0" rtlCol="0" anchor="ctr"/>
          <a:lstStyle/>
          <a:p>
            <a:pPr marL="0" indent="0">
              <a:buNone/>
            </a:pPr>
            <a:r>
              <a:rPr lang="en-US" sz="1550" b="1" dirty="0">
                <a:solidFill>
                  <a:srgbClr val="12303C"/>
                </a:solidFill>
                <a:latin typeface="Georgia" pitchFamily="34" charset="0"/>
                <a:ea typeface="Georgia" pitchFamily="34" charset="-122"/>
                <a:cs typeface="Georgia" pitchFamily="34" charset="-120"/>
              </a:rPr>
              <a:t>Interface web</a:t>
            </a:r>
            <a:endParaRPr lang="en-US" sz="1550" dirty="0"/>
          </a:p>
        </p:txBody>
      </p:sp>
      <p:sp>
        <p:nvSpPr>
          <p:cNvPr id="8" name="Text 5"/>
          <p:cNvSpPr/>
          <p:nvPr/>
        </p:nvSpPr>
        <p:spPr>
          <a:xfrm>
            <a:off x="822960" y="1979407"/>
            <a:ext cx="5394960" cy="274320"/>
          </a:xfrm>
          <a:prstGeom prst="rect">
            <a:avLst/>
          </a:prstGeom>
          <a:noFill/>
          <a:ln/>
        </p:spPr>
        <p:txBody>
          <a:bodyPr wrap="square" lIns="0" tIns="0" rIns="0" bIns="0" rtlCol="0" anchor="ctr"/>
          <a:lstStyle/>
          <a:p>
            <a:pPr marL="0" indent="0">
              <a:buNone/>
            </a:pPr>
            <a:r>
              <a:rPr lang="en-US" sz="1150" dirty="0">
                <a:solidFill>
                  <a:srgbClr val="3C5560"/>
                </a:solidFill>
                <a:latin typeface="Calibri" pitchFamily="34" charset="0"/>
                <a:ea typeface="Calibri" pitchFamily="34" charset="-122"/>
                <a:cs typeface="Calibri" pitchFamily="34" charset="-120"/>
              </a:rPr>
              <a:t>Saisie, mode exhaustif, affichage</a:t>
            </a:r>
            <a:endParaRPr lang="en-US" sz="1150" dirty="0"/>
          </a:p>
        </p:txBody>
      </p:sp>
      <p:sp>
        <p:nvSpPr>
          <p:cNvPr id="9" name="Text 6"/>
          <p:cNvSpPr/>
          <p:nvPr/>
        </p:nvSpPr>
        <p:spPr>
          <a:xfrm>
            <a:off x="3337560" y="2324862"/>
            <a:ext cx="365760" cy="132588"/>
          </a:xfrm>
          <a:prstGeom prst="rect">
            <a:avLst/>
          </a:prstGeom>
          <a:noFill/>
          <a:ln/>
        </p:spPr>
        <p:txBody>
          <a:bodyPr wrap="square" lIns="0" tIns="0" rIns="0" bIns="0" rtlCol="0" anchor="ctr"/>
          <a:lstStyle/>
          <a:p>
            <a:pPr marL="0" indent="0" algn="ctr">
              <a:buNone/>
            </a:pPr>
            <a:r>
              <a:rPr lang="en-US" sz="900" dirty="0">
                <a:solidFill>
                  <a:srgbClr val="1C7293"/>
                </a:solidFill>
              </a:rPr>
              <a:t>▼</a:t>
            </a:r>
            <a:endParaRPr lang="en-US" sz="900" dirty="0"/>
          </a:p>
        </p:txBody>
      </p:sp>
      <p:sp>
        <p:nvSpPr>
          <p:cNvPr id="10" name="Shape 7"/>
          <p:cNvSpPr/>
          <p:nvPr/>
        </p:nvSpPr>
        <p:spPr>
          <a:xfrm>
            <a:off x="548640" y="2448709"/>
            <a:ext cx="5943600" cy="676656"/>
          </a:xfrm>
          <a:prstGeom prst="roundRect">
            <a:avLst>
              <a:gd name="adj" fmla="val 9459"/>
            </a:avLst>
          </a:prstGeom>
          <a:solidFill>
            <a:srgbClr val="0B3D52"/>
          </a:solidFill>
          <a:ln w="12700">
            <a:solidFill>
              <a:srgbClr val="0B3D52"/>
            </a:solidFill>
            <a:prstDash val="solid"/>
          </a:ln>
        </p:spPr>
      </p:sp>
      <p:sp>
        <p:nvSpPr>
          <p:cNvPr id="11" name="Text 8"/>
          <p:cNvSpPr/>
          <p:nvPr/>
        </p:nvSpPr>
        <p:spPr>
          <a:xfrm>
            <a:off x="822960" y="2512717"/>
            <a:ext cx="5394960" cy="329184"/>
          </a:xfrm>
          <a:prstGeom prst="rect">
            <a:avLst/>
          </a:prstGeom>
          <a:noFill/>
          <a:ln/>
        </p:spPr>
        <p:txBody>
          <a:bodyPr wrap="square" lIns="0" tIns="0" rIns="0" bIns="0" rtlCol="0" anchor="ctr"/>
          <a:lstStyle/>
          <a:p>
            <a:pPr marL="0" indent="0">
              <a:buNone/>
            </a:pPr>
            <a:r>
              <a:rPr lang="en-US" sz="1550" b="1" dirty="0">
                <a:solidFill>
                  <a:srgbClr val="FFFFFF"/>
                </a:solidFill>
                <a:latin typeface="Georgia" pitchFamily="34" charset="0"/>
                <a:ea typeface="Georgia" pitchFamily="34" charset="-122"/>
                <a:cs typeface="Georgia" pitchFamily="34" charset="-120"/>
              </a:rPr>
              <a:t>Serveur Node.js</a:t>
            </a:r>
            <a:endParaRPr lang="en-US" sz="1550" dirty="0"/>
          </a:p>
        </p:txBody>
      </p:sp>
      <p:sp>
        <p:nvSpPr>
          <p:cNvPr id="12" name="Text 9"/>
          <p:cNvSpPr/>
          <p:nvPr/>
        </p:nvSpPr>
        <p:spPr>
          <a:xfrm>
            <a:off x="822960" y="2814469"/>
            <a:ext cx="5394960" cy="274320"/>
          </a:xfrm>
          <a:prstGeom prst="rect">
            <a:avLst/>
          </a:prstGeom>
          <a:noFill/>
          <a:ln/>
        </p:spPr>
        <p:txBody>
          <a:bodyPr wrap="square" lIns="0" tIns="0" rIns="0" bIns="0" rtlCol="0" anchor="ctr"/>
          <a:lstStyle/>
          <a:p>
            <a:pPr marL="0" indent="0">
              <a:buNone/>
            </a:pPr>
            <a:r>
              <a:rPr lang="en-US" sz="1150" dirty="0">
                <a:solidFill>
                  <a:srgbClr val="8FE3DA"/>
                </a:solidFill>
                <a:latin typeface="Calibri" pitchFamily="34" charset="0"/>
                <a:ea typeface="Calibri" pitchFamily="34" charset="-122"/>
                <a:cs typeface="Calibri" pitchFamily="34" charset="-120"/>
              </a:rPr>
              <a:t>Reçoit, orchestre, mesure, répond en JSON</a:t>
            </a:r>
            <a:endParaRPr lang="en-US" sz="1150" dirty="0"/>
          </a:p>
        </p:txBody>
      </p:sp>
      <p:sp>
        <p:nvSpPr>
          <p:cNvPr id="13" name="Text 10"/>
          <p:cNvSpPr/>
          <p:nvPr/>
        </p:nvSpPr>
        <p:spPr>
          <a:xfrm>
            <a:off x="3337560" y="3125365"/>
            <a:ext cx="365760" cy="132588"/>
          </a:xfrm>
          <a:prstGeom prst="rect">
            <a:avLst/>
          </a:prstGeom>
          <a:noFill/>
          <a:ln/>
        </p:spPr>
        <p:txBody>
          <a:bodyPr wrap="square" lIns="0" tIns="0" rIns="0" bIns="0" rtlCol="0" anchor="ctr"/>
          <a:lstStyle/>
          <a:p>
            <a:pPr marL="0" indent="0" algn="ctr">
              <a:buNone/>
            </a:pPr>
            <a:r>
              <a:rPr lang="en-US" sz="900" dirty="0">
                <a:solidFill>
                  <a:srgbClr val="1C7293"/>
                </a:solidFill>
              </a:rPr>
              <a:t>▼</a:t>
            </a:r>
            <a:endParaRPr lang="en-US" sz="900" dirty="0"/>
          </a:p>
        </p:txBody>
      </p:sp>
      <p:sp>
        <p:nvSpPr>
          <p:cNvPr id="14" name="Shape 11"/>
          <p:cNvSpPr/>
          <p:nvPr/>
        </p:nvSpPr>
        <p:spPr>
          <a:xfrm>
            <a:off x="548640" y="3229985"/>
            <a:ext cx="5943600" cy="676656"/>
          </a:xfrm>
          <a:prstGeom prst="roundRect">
            <a:avLst>
              <a:gd name="adj" fmla="val 9459"/>
            </a:avLst>
          </a:prstGeom>
          <a:solidFill>
            <a:srgbClr val="F2F7F8"/>
          </a:solidFill>
          <a:ln w="12700">
            <a:solidFill>
              <a:srgbClr val="CDDDE0"/>
            </a:solidFill>
            <a:prstDash val="solid"/>
          </a:ln>
        </p:spPr>
      </p:sp>
      <p:sp>
        <p:nvSpPr>
          <p:cNvPr id="15" name="Text 12"/>
          <p:cNvSpPr/>
          <p:nvPr/>
        </p:nvSpPr>
        <p:spPr>
          <a:xfrm>
            <a:off x="822960" y="3293993"/>
            <a:ext cx="5394960" cy="329184"/>
          </a:xfrm>
          <a:prstGeom prst="rect">
            <a:avLst/>
          </a:prstGeom>
          <a:noFill/>
          <a:ln/>
        </p:spPr>
        <p:txBody>
          <a:bodyPr wrap="square" lIns="0" tIns="0" rIns="0" bIns="0" rtlCol="0" anchor="ctr"/>
          <a:lstStyle/>
          <a:p>
            <a:pPr marL="0" indent="0">
              <a:buNone/>
            </a:pPr>
            <a:r>
              <a:rPr lang="en-US" sz="1550" b="1" dirty="0">
                <a:solidFill>
                  <a:srgbClr val="12303C"/>
                </a:solidFill>
                <a:latin typeface="Georgia" pitchFamily="34" charset="0"/>
                <a:ea typeface="Georgia" pitchFamily="34" charset="-122"/>
                <a:cs typeface="Georgia" pitchFamily="34" charset="-120"/>
              </a:rPr>
              <a:t>Parseur &amp; AST</a:t>
            </a:r>
            <a:endParaRPr lang="en-US" sz="1550" dirty="0"/>
          </a:p>
        </p:txBody>
      </p:sp>
      <p:sp>
        <p:nvSpPr>
          <p:cNvPr id="16" name="Text 13"/>
          <p:cNvSpPr/>
          <p:nvPr/>
        </p:nvSpPr>
        <p:spPr>
          <a:xfrm>
            <a:off x="822960" y="3595745"/>
            <a:ext cx="5394960" cy="274320"/>
          </a:xfrm>
          <a:prstGeom prst="rect">
            <a:avLst/>
          </a:prstGeom>
          <a:noFill/>
          <a:ln/>
        </p:spPr>
        <p:txBody>
          <a:bodyPr wrap="square" lIns="0" tIns="0" rIns="0" bIns="0" rtlCol="0" anchor="ctr"/>
          <a:lstStyle/>
          <a:p>
            <a:pPr marL="0" indent="0">
              <a:buNone/>
            </a:pPr>
            <a:r>
              <a:rPr lang="en-US" sz="1150" dirty="0">
                <a:solidFill>
                  <a:srgbClr val="3C5560"/>
                </a:solidFill>
                <a:latin typeface="Calibri" pitchFamily="34" charset="0"/>
                <a:ea typeface="Calibri" pitchFamily="34" charset="-122"/>
                <a:cs typeface="Calibri" pitchFamily="34" charset="-120"/>
              </a:rPr>
              <a:t>Texte → structure logique</a:t>
            </a:r>
            <a:endParaRPr lang="en-US" sz="1150" dirty="0"/>
          </a:p>
        </p:txBody>
      </p:sp>
      <p:sp>
        <p:nvSpPr>
          <p:cNvPr id="17" name="Text 14"/>
          <p:cNvSpPr/>
          <p:nvPr/>
        </p:nvSpPr>
        <p:spPr>
          <a:xfrm>
            <a:off x="3337560" y="3906641"/>
            <a:ext cx="365760" cy="132588"/>
          </a:xfrm>
          <a:prstGeom prst="rect">
            <a:avLst/>
          </a:prstGeom>
          <a:noFill/>
          <a:ln/>
        </p:spPr>
        <p:txBody>
          <a:bodyPr wrap="square" lIns="0" tIns="0" rIns="0" bIns="0" rtlCol="0" anchor="ctr"/>
          <a:lstStyle/>
          <a:p>
            <a:pPr marL="0" indent="0" algn="ctr">
              <a:buNone/>
            </a:pPr>
            <a:r>
              <a:rPr lang="en-US" sz="900" dirty="0">
                <a:solidFill>
                  <a:srgbClr val="1C7293"/>
                </a:solidFill>
              </a:rPr>
              <a:t>▼</a:t>
            </a:r>
            <a:endParaRPr lang="en-US" sz="900" dirty="0"/>
          </a:p>
        </p:txBody>
      </p:sp>
      <p:sp>
        <p:nvSpPr>
          <p:cNvPr id="18" name="Shape 15"/>
          <p:cNvSpPr/>
          <p:nvPr/>
        </p:nvSpPr>
        <p:spPr>
          <a:xfrm>
            <a:off x="536986" y="4023224"/>
            <a:ext cx="5943600" cy="676656"/>
          </a:xfrm>
          <a:prstGeom prst="roundRect">
            <a:avLst>
              <a:gd name="adj" fmla="val 9459"/>
            </a:avLst>
          </a:prstGeom>
          <a:solidFill>
            <a:srgbClr val="F2F7F8"/>
          </a:solidFill>
          <a:ln w="12700">
            <a:solidFill>
              <a:srgbClr val="CDDDE0"/>
            </a:solidFill>
            <a:prstDash val="solid"/>
          </a:ln>
        </p:spPr>
      </p:sp>
      <p:sp>
        <p:nvSpPr>
          <p:cNvPr id="19" name="Text 16"/>
          <p:cNvSpPr/>
          <p:nvPr/>
        </p:nvSpPr>
        <p:spPr>
          <a:xfrm>
            <a:off x="811306" y="4087232"/>
            <a:ext cx="5394960" cy="329184"/>
          </a:xfrm>
          <a:prstGeom prst="rect">
            <a:avLst/>
          </a:prstGeom>
          <a:noFill/>
          <a:ln/>
        </p:spPr>
        <p:txBody>
          <a:bodyPr wrap="square" lIns="0" tIns="0" rIns="0" bIns="0" rtlCol="0" anchor="ctr"/>
          <a:lstStyle/>
          <a:p>
            <a:pPr marL="0" indent="0">
              <a:buNone/>
            </a:pPr>
            <a:r>
              <a:rPr lang="en-US" sz="1550" b="1" dirty="0">
                <a:solidFill>
                  <a:srgbClr val="12303C"/>
                </a:solidFill>
                <a:latin typeface="Georgia" pitchFamily="34" charset="0"/>
                <a:ea typeface="Georgia" pitchFamily="34" charset="-122"/>
                <a:cs typeface="Georgia" pitchFamily="34" charset="-120"/>
              </a:rPr>
              <a:t>Heuristique &amp; plan</a:t>
            </a:r>
            <a:endParaRPr lang="en-US" sz="1550" dirty="0"/>
          </a:p>
        </p:txBody>
      </p:sp>
      <p:sp>
        <p:nvSpPr>
          <p:cNvPr id="20" name="Text 17"/>
          <p:cNvSpPr/>
          <p:nvPr/>
        </p:nvSpPr>
        <p:spPr>
          <a:xfrm>
            <a:off x="811306" y="4388984"/>
            <a:ext cx="5394960" cy="274320"/>
          </a:xfrm>
          <a:prstGeom prst="rect">
            <a:avLst/>
          </a:prstGeom>
          <a:noFill/>
          <a:ln/>
        </p:spPr>
        <p:txBody>
          <a:bodyPr wrap="square" lIns="0" tIns="0" rIns="0" bIns="0" rtlCol="0" anchor="ctr"/>
          <a:lstStyle/>
          <a:p>
            <a:pPr marL="0" indent="0">
              <a:buNone/>
            </a:pPr>
            <a:r>
              <a:rPr lang="en-US" sz="1150" dirty="0">
                <a:solidFill>
                  <a:srgbClr val="3C5560"/>
                </a:solidFill>
                <a:latin typeface="Calibri" pitchFamily="34" charset="0"/>
                <a:ea typeface="Calibri" pitchFamily="34" charset="-122"/>
                <a:cs typeface="Calibri" pitchFamily="34" charset="-120"/>
              </a:rPr>
              <a:t>Ordre d'exécution efficace</a:t>
            </a:r>
            <a:endParaRPr lang="en-US" sz="1150" dirty="0"/>
          </a:p>
        </p:txBody>
      </p:sp>
      <p:sp>
        <p:nvSpPr>
          <p:cNvPr id="21" name="Text 18"/>
          <p:cNvSpPr/>
          <p:nvPr/>
        </p:nvSpPr>
        <p:spPr>
          <a:xfrm>
            <a:off x="3337560" y="4669445"/>
            <a:ext cx="365760" cy="132588"/>
          </a:xfrm>
          <a:prstGeom prst="rect">
            <a:avLst/>
          </a:prstGeom>
          <a:noFill/>
          <a:ln/>
        </p:spPr>
        <p:txBody>
          <a:bodyPr wrap="square" lIns="0" tIns="0" rIns="0" bIns="0" rtlCol="0" anchor="ctr"/>
          <a:lstStyle/>
          <a:p>
            <a:pPr marL="0" indent="0" algn="ctr">
              <a:buNone/>
            </a:pPr>
            <a:r>
              <a:rPr lang="en-US" sz="900" dirty="0">
                <a:solidFill>
                  <a:srgbClr val="1C7293"/>
                </a:solidFill>
              </a:rPr>
              <a:t>▼</a:t>
            </a:r>
            <a:endParaRPr lang="en-US" sz="900" dirty="0"/>
          </a:p>
        </p:txBody>
      </p:sp>
      <p:sp>
        <p:nvSpPr>
          <p:cNvPr id="22" name="Shape 19"/>
          <p:cNvSpPr/>
          <p:nvPr/>
        </p:nvSpPr>
        <p:spPr>
          <a:xfrm>
            <a:off x="548640" y="4846320"/>
            <a:ext cx="5943600" cy="676656"/>
          </a:xfrm>
          <a:prstGeom prst="roundRect">
            <a:avLst>
              <a:gd name="adj" fmla="val 9459"/>
            </a:avLst>
          </a:prstGeom>
          <a:solidFill>
            <a:srgbClr val="F2F7F8"/>
          </a:solidFill>
          <a:ln w="12700">
            <a:solidFill>
              <a:srgbClr val="CDDDE0"/>
            </a:solidFill>
            <a:prstDash val="solid"/>
          </a:ln>
        </p:spPr>
      </p:sp>
      <p:sp>
        <p:nvSpPr>
          <p:cNvPr id="23" name="Text 20"/>
          <p:cNvSpPr/>
          <p:nvPr/>
        </p:nvSpPr>
        <p:spPr>
          <a:xfrm>
            <a:off x="822960" y="4910328"/>
            <a:ext cx="5394960" cy="329184"/>
          </a:xfrm>
          <a:prstGeom prst="rect">
            <a:avLst/>
          </a:prstGeom>
          <a:noFill/>
          <a:ln/>
        </p:spPr>
        <p:txBody>
          <a:bodyPr wrap="square" lIns="0" tIns="0" rIns="0" bIns="0" rtlCol="0" anchor="ctr"/>
          <a:lstStyle/>
          <a:p>
            <a:pPr marL="0" indent="0">
              <a:buNone/>
            </a:pPr>
            <a:r>
              <a:rPr lang="en-US" sz="1550" b="1" dirty="0">
                <a:solidFill>
                  <a:srgbClr val="12303C"/>
                </a:solidFill>
                <a:latin typeface="Georgia" pitchFamily="34" charset="0"/>
                <a:ea typeface="Georgia" pitchFamily="34" charset="-122"/>
                <a:cs typeface="Georgia" pitchFamily="34" charset="-120"/>
              </a:rPr>
              <a:t>Moteur d'exécution</a:t>
            </a:r>
            <a:endParaRPr lang="en-US" sz="1550" dirty="0"/>
          </a:p>
        </p:txBody>
      </p:sp>
      <p:sp>
        <p:nvSpPr>
          <p:cNvPr id="24" name="Text 21"/>
          <p:cNvSpPr/>
          <p:nvPr/>
        </p:nvSpPr>
        <p:spPr>
          <a:xfrm>
            <a:off x="822960" y="5212080"/>
            <a:ext cx="5394960" cy="274320"/>
          </a:xfrm>
          <a:prstGeom prst="rect">
            <a:avLst/>
          </a:prstGeom>
          <a:noFill/>
          <a:ln/>
        </p:spPr>
        <p:txBody>
          <a:bodyPr wrap="square" lIns="0" tIns="0" rIns="0" bIns="0" rtlCol="0" anchor="ctr"/>
          <a:lstStyle/>
          <a:p>
            <a:pPr marL="0" indent="0">
              <a:buNone/>
            </a:pPr>
            <a:r>
              <a:rPr lang="en-US" sz="1150" dirty="0">
                <a:solidFill>
                  <a:srgbClr val="3C5560"/>
                </a:solidFill>
                <a:latin typeface="Calibri" pitchFamily="34" charset="0"/>
                <a:ea typeface="Calibri" pitchFamily="34" charset="-122"/>
                <a:cs typeface="Calibri" pitchFamily="34" charset="-120"/>
              </a:rPr>
              <a:t>Variables, intersections, jointures</a:t>
            </a:r>
            <a:endParaRPr lang="en-US" sz="1150" dirty="0"/>
          </a:p>
        </p:txBody>
      </p:sp>
      <p:sp>
        <p:nvSpPr>
          <p:cNvPr id="25" name="Text 22"/>
          <p:cNvSpPr/>
          <p:nvPr/>
        </p:nvSpPr>
        <p:spPr>
          <a:xfrm>
            <a:off x="3325906" y="5513832"/>
            <a:ext cx="365760" cy="132588"/>
          </a:xfrm>
          <a:prstGeom prst="rect">
            <a:avLst/>
          </a:prstGeom>
          <a:noFill/>
          <a:ln/>
        </p:spPr>
        <p:txBody>
          <a:bodyPr wrap="square" lIns="0" tIns="0" rIns="0" bIns="0" rtlCol="0" anchor="ctr"/>
          <a:lstStyle/>
          <a:p>
            <a:pPr marL="0" indent="0" algn="ctr">
              <a:buNone/>
            </a:pPr>
            <a:r>
              <a:rPr lang="en-US" sz="900" dirty="0">
                <a:solidFill>
                  <a:srgbClr val="1C7293"/>
                </a:solidFill>
              </a:rPr>
              <a:t>▼</a:t>
            </a:r>
            <a:endParaRPr lang="en-US" sz="900" dirty="0"/>
          </a:p>
        </p:txBody>
      </p:sp>
      <p:sp>
        <p:nvSpPr>
          <p:cNvPr id="26" name="Shape 23"/>
          <p:cNvSpPr/>
          <p:nvPr/>
        </p:nvSpPr>
        <p:spPr>
          <a:xfrm>
            <a:off x="548640" y="5654490"/>
            <a:ext cx="5943600" cy="676656"/>
          </a:xfrm>
          <a:prstGeom prst="roundRect">
            <a:avLst>
              <a:gd name="adj" fmla="val 9459"/>
            </a:avLst>
          </a:prstGeom>
          <a:solidFill>
            <a:srgbClr val="F2F7F8"/>
          </a:solidFill>
          <a:ln w="12700">
            <a:solidFill>
              <a:srgbClr val="CDDDE0"/>
            </a:solidFill>
            <a:prstDash val="solid"/>
          </a:ln>
        </p:spPr>
      </p:sp>
      <p:sp>
        <p:nvSpPr>
          <p:cNvPr id="27" name="Text 24"/>
          <p:cNvSpPr/>
          <p:nvPr/>
        </p:nvSpPr>
        <p:spPr>
          <a:xfrm>
            <a:off x="822960" y="5718498"/>
            <a:ext cx="5394960" cy="329184"/>
          </a:xfrm>
          <a:prstGeom prst="rect">
            <a:avLst/>
          </a:prstGeom>
          <a:noFill/>
          <a:ln/>
        </p:spPr>
        <p:txBody>
          <a:bodyPr wrap="square" lIns="0" tIns="0" rIns="0" bIns="0" rtlCol="0" anchor="ctr"/>
          <a:lstStyle/>
          <a:p>
            <a:pPr marL="0" indent="0">
              <a:buNone/>
            </a:pPr>
            <a:r>
              <a:rPr lang="en-US" sz="1550" b="1" dirty="0">
                <a:solidFill>
                  <a:srgbClr val="12303C"/>
                </a:solidFill>
                <a:latin typeface="Georgia" pitchFamily="34" charset="0"/>
                <a:ea typeface="Georgia" pitchFamily="34" charset="-122"/>
                <a:cs typeface="Georgia" pitchFamily="34" charset="-120"/>
              </a:rPr>
              <a:t>Couche API et cache</a:t>
            </a:r>
            <a:endParaRPr lang="en-US" sz="1550" dirty="0"/>
          </a:p>
        </p:txBody>
      </p:sp>
      <p:sp>
        <p:nvSpPr>
          <p:cNvPr id="28" name="Text 25"/>
          <p:cNvSpPr/>
          <p:nvPr/>
        </p:nvSpPr>
        <p:spPr>
          <a:xfrm>
            <a:off x="822960" y="6020250"/>
            <a:ext cx="5394960" cy="274320"/>
          </a:xfrm>
          <a:prstGeom prst="rect">
            <a:avLst/>
          </a:prstGeom>
          <a:noFill/>
          <a:ln/>
        </p:spPr>
        <p:txBody>
          <a:bodyPr wrap="square" lIns="0" tIns="0" rIns="0" bIns="0" rtlCol="0" anchor="ctr"/>
          <a:lstStyle/>
          <a:p>
            <a:pPr marL="0" indent="0">
              <a:buNone/>
            </a:pPr>
            <a:r>
              <a:rPr lang="en-US" sz="1150" dirty="0">
                <a:solidFill>
                  <a:srgbClr val="3C5560"/>
                </a:solidFill>
                <a:latin typeface="Calibri" pitchFamily="34" charset="0"/>
                <a:ea typeface="Calibri" pitchFamily="34" charset="-122"/>
                <a:cs typeface="Calibri" pitchFamily="34" charset="-120"/>
              </a:rPr>
              <a:t>Appels JeuxDeMots, pagination</a:t>
            </a:r>
            <a:endParaRPr lang="en-US" sz="1150" dirty="0"/>
          </a:p>
        </p:txBody>
      </p:sp>
      <p:sp>
        <p:nvSpPr>
          <p:cNvPr id="29" name="Shape 26"/>
          <p:cNvSpPr/>
          <p:nvPr/>
        </p:nvSpPr>
        <p:spPr>
          <a:xfrm>
            <a:off x="6903720" y="1828800"/>
            <a:ext cx="4709160" cy="4251960"/>
          </a:xfrm>
          <a:prstGeom prst="roundRect">
            <a:avLst>
              <a:gd name="adj" fmla="val 2151"/>
            </a:avLst>
          </a:prstGeom>
          <a:solidFill>
            <a:srgbClr val="E6F1F2"/>
          </a:solidFill>
          <a:ln/>
        </p:spPr>
      </p:sp>
      <p:sp>
        <p:nvSpPr>
          <p:cNvPr id="30" name="Shape 27"/>
          <p:cNvSpPr/>
          <p:nvPr/>
        </p:nvSpPr>
        <p:spPr>
          <a:xfrm>
            <a:off x="9555480" y="2423160"/>
            <a:ext cx="1005840" cy="0"/>
          </a:xfrm>
          <a:prstGeom prst="line">
            <a:avLst/>
          </a:prstGeom>
          <a:noFill/>
          <a:ln w="15875">
            <a:solidFill>
              <a:srgbClr val="1C7293">
                <a:alpha val="70000"/>
              </a:srgbClr>
            </a:solidFill>
            <a:prstDash val="solid"/>
          </a:ln>
        </p:spPr>
      </p:sp>
      <p:sp>
        <p:nvSpPr>
          <p:cNvPr id="31" name="Shape 28"/>
          <p:cNvSpPr/>
          <p:nvPr/>
        </p:nvSpPr>
        <p:spPr>
          <a:xfrm>
            <a:off x="9555480" y="2423160"/>
            <a:ext cx="914400" cy="640080"/>
          </a:xfrm>
          <a:prstGeom prst="line">
            <a:avLst/>
          </a:prstGeom>
          <a:noFill/>
          <a:ln w="15875">
            <a:solidFill>
              <a:srgbClr val="1C7293">
                <a:alpha val="70000"/>
              </a:srgbClr>
            </a:solidFill>
            <a:prstDash val="solid"/>
          </a:ln>
        </p:spPr>
      </p:sp>
      <p:sp>
        <p:nvSpPr>
          <p:cNvPr id="32" name="Shape 29"/>
          <p:cNvSpPr/>
          <p:nvPr/>
        </p:nvSpPr>
        <p:spPr>
          <a:xfrm>
            <a:off x="10561320" y="1965960"/>
            <a:ext cx="914400" cy="548640"/>
          </a:xfrm>
          <a:prstGeom prst="line">
            <a:avLst/>
          </a:prstGeom>
          <a:noFill/>
          <a:ln w="15875">
            <a:solidFill>
              <a:srgbClr val="1C7293">
                <a:alpha val="70000"/>
              </a:srgbClr>
            </a:solidFill>
            <a:prstDash val="solid"/>
          </a:ln>
        </p:spPr>
      </p:sp>
      <p:sp>
        <p:nvSpPr>
          <p:cNvPr id="33" name="Shape 30"/>
          <p:cNvSpPr/>
          <p:nvPr/>
        </p:nvSpPr>
        <p:spPr>
          <a:xfrm>
            <a:off x="10469880" y="3063240"/>
            <a:ext cx="1005840" cy="0"/>
          </a:xfrm>
          <a:prstGeom prst="line">
            <a:avLst/>
          </a:prstGeom>
          <a:noFill/>
          <a:ln w="15875">
            <a:solidFill>
              <a:srgbClr val="1C7293">
                <a:alpha val="70000"/>
              </a:srgbClr>
            </a:solidFill>
            <a:prstDash val="solid"/>
          </a:ln>
        </p:spPr>
      </p:sp>
      <p:sp>
        <p:nvSpPr>
          <p:cNvPr id="34" name="Shape 31"/>
          <p:cNvSpPr/>
          <p:nvPr/>
        </p:nvSpPr>
        <p:spPr>
          <a:xfrm>
            <a:off x="9555480" y="2423160"/>
            <a:ext cx="365760" cy="1188720"/>
          </a:xfrm>
          <a:prstGeom prst="line">
            <a:avLst/>
          </a:prstGeom>
          <a:noFill/>
          <a:ln w="15875">
            <a:solidFill>
              <a:srgbClr val="1C7293">
                <a:alpha val="70000"/>
              </a:srgbClr>
            </a:solidFill>
            <a:prstDash val="solid"/>
          </a:ln>
        </p:spPr>
      </p:sp>
      <p:sp>
        <p:nvSpPr>
          <p:cNvPr id="35" name="Shape 32"/>
          <p:cNvSpPr/>
          <p:nvPr/>
        </p:nvSpPr>
        <p:spPr>
          <a:xfrm>
            <a:off x="10469880" y="3063240"/>
            <a:ext cx="0" cy="548640"/>
          </a:xfrm>
          <a:prstGeom prst="line">
            <a:avLst/>
          </a:prstGeom>
          <a:noFill/>
          <a:ln w="15875">
            <a:solidFill>
              <a:srgbClr val="1C7293">
                <a:alpha val="70000"/>
              </a:srgbClr>
            </a:solidFill>
            <a:prstDash val="solid"/>
          </a:ln>
        </p:spPr>
      </p:sp>
      <p:sp>
        <p:nvSpPr>
          <p:cNvPr id="36" name="Shape 33"/>
          <p:cNvSpPr/>
          <p:nvPr/>
        </p:nvSpPr>
        <p:spPr>
          <a:xfrm>
            <a:off x="9445752" y="2313432"/>
            <a:ext cx="219456" cy="219456"/>
          </a:xfrm>
          <a:prstGeom prst="ellipse">
            <a:avLst/>
          </a:prstGeom>
          <a:solidFill>
            <a:srgbClr val="1C7293"/>
          </a:solidFill>
          <a:ln/>
        </p:spPr>
      </p:sp>
      <p:sp>
        <p:nvSpPr>
          <p:cNvPr id="37" name="Shape 34"/>
          <p:cNvSpPr/>
          <p:nvPr/>
        </p:nvSpPr>
        <p:spPr>
          <a:xfrm>
            <a:off x="10451592" y="1856232"/>
            <a:ext cx="219456" cy="219456"/>
          </a:xfrm>
          <a:prstGeom prst="ellipse">
            <a:avLst/>
          </a:prstGeom>
          <a:solidFill>
            <a:srgbClr val="1C7293"/>
          </a:solidFill>
          <a:ln/>
        </p:spPr>
      </p:sp>
      <p:sp>
        <p:nvSpPr>
          <p:cNvPr id="38" name="Shape 35"/>
          <p:cNvSpPr/>
          <p:nvPr/>
        </p:nvSpPr>
        <p:spPr>
          <a:xfrm>
            <a:off x="10360152" y="2953512"/>
            <a:ext cx="219456" cy="219456"/>
          </a:xfrm>
          <a:prstGeom prst="ellipse">
            <a:avLst/>
          </a:prstGeom>
          <a:solidFill>
            <a:srgbClr val="1C7293"/>
          </a:solidFill>
          <a:ln/>
        </p:spPr>
      </p:sp>
      <p:sp>
        <p:nvSpPr>
          <p:cNvPr id="39" name="Shape 36"/>
          <p:cNvSpPr/>
          <p:nvPr/>
        </p:nvSpPr>
        <p:spPr>
          <a:xfrm>
            <a:off x="11365992" y="2404872"/>
            <a:ext cx="219456" cy="219456"/>
          </a:xfrm>
          <a:prstGeom prst="ellipse">
            <a:avLst/>
          </a:prstGeom>
          <a:solidFill>
            <a:srgbClr val="1C7293"/>
          </a:solidFill>
          <a:ln/>
        </p:spPr>
      </p:sp>
      <p:sp>
        <p:nvSpPr>
          <p:cNvPr id="40" name="Shape 37"/>
          <p:cNvSpPr/>
          <p:nvPr/>
        </p:nvSpPr>
        <p:spPr>
          <a:xfrm>
            <a:off x="9811512" y="3502152"/>
            <a:ext cx="219456" cy="219456"/>
          </a:xfrm>
          <a:prstGeom prst="ellipse">
            <a:avLst/>
          </a:prstGeom>
          <a:solidFill>
            <a:srgbClr val="1C7293"/>
          </a:solidFill>
          <a:ln/>
        </p:spPr>
      </p:sp>
      <p:sp>
        <p:nvSpPr>
          <p:cNvPr id="41" name="Text 38"/>
          <p:cNvSpPr/>
          <p:nvPr/>
        </p:nvSpPr>
        <p:spPr>
          <a:xfrm>
            <a:off x="7269480" y="3872753"/>
            <a:ext cx="3977640" cy="640080"/>
          </a:xfrm>
          <a:prstGeom prst="rect">
            <a:avLst/>
          </a:prstGeom>
          <a:noFill/>
          <a:ln/>
        </p:spPr>
        <p:txBody>
          <a:bodyPr wrap="square" lIns="0" tIns="0" rIns="0" bIns="0" rtlCol="0" anchor="ctr"/>
          <a:lstStyle/>
          <a:p>
            <a:pPr marL="0" indent="0">
              <a:lnSpc>
                <a:spcPct val="105000"/>
              </a:lnSpc>
              <a:buNone/>
            </a:pPr>
            <a:r>
              <a:rPr lang="en-US" sz="1800" b="1" dirty="0">
                <a:solidFill>
                  <a:srgbClr val="12303C"/>
                </a:solidFill>
                <a:latin typeface="Georgia" pitchFamily="34" charset="0"/>
                <a:ea typeface="Georgia" pitchFamily="34" charset="-122"/>
                <a:cs typeface="Georgia" pitchFamily="34" charset="-120"/>
              </a:rPr>
              <a:t>Une séparation nette des responsabilités</a:t>
            </a:r>
            <a:endParaRPr lang="en-US" sz="1800" dirty="0"/>
          </a:p>
        </p:txBody>
      </p:sp>
      <p:sp>
        <p:nvSpPr>
          <p:cNvPr id="42" name="Text 39"/>
          <p:cNvSpPr/>
          <p:nvPr/>
        </p:nvSpPr>
        <p:spPr>
          <a:xfrm>
            <a:off x="7269480" y="4343400"/>
            <a:ext cx="3977640" cy="1554480"/>
          </a:xfrm>
          <a:prstGeom prst="rect">
            <a:avLst/>
          </a:prstGeom>
          <a:noFill/>
          <a:ln/>
        </p:spPr>
        <p:txBody>
          <a:bodyPr wrap="square" lIns="0" tIns="0" rIns="0" bIns="0" rtlCol="0" anchor="ctr"/>
          <a:lstStyle/>
          <a:p>
            <a:pPr marL="0" indent="0">
              <a:lnSpc>
                <a:spcPct val="118000"/>
              </a:lnSpc>
              <a:buNone/>
            </a:pPr>
            <a:r>
              <a:rPr lang="en-US" sz="1400" b="1" dirty="0">
                <a:solidFill>
                  <a:srgbClr val="12303C"/>
                </a:solidFill>
                <a:latin typeface="Calibri" pitchFamily="34" charset="0"/>
                <a:ea typeface="Calibri" pitchFamily="34" charset="-122"/>
                <a:cs typeface="Calibri" pitchFamily="34" charset="-120"/>
              </a:rPr>
              <a:t>Chaque composant a un rôle précis. </a:t>
            </a:r>
            <a:r>
              <a:rPr lang="en-US" sz="1400" dirty="0">
                <a:solidFill>
                  <a:srgbClr val="3C5560"/>
                </a:solidFill>
                <a:latin typeface="Calibri" pitchFamily="34" charset="0"/>
                <a:ea typeface="Calibri" pitchFamily="34" charset="-122"/>
                <a:cs typeface="Calibri" pitchFamily="34" charset="-120"/>
              </a:rPr>
              <a:t>Le frontend n'embarque aucune logique métier : il envoie la requête et reçoit un JSON complet. Cette modularité rend le code plus lisible et plus facile à corriger.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DU TEXTE AUX RÉSULTATS</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Times New Roman" panose="02020603050405020304" pitchFamily="18" charset="0"/>
              </a:rPr>
              <a:t>Le parseur et l'arbre syntaxique (AST)</a:t>
            </a:r>
            <a:endParaRPr lang="en-US" sz="3000" dirty="0"/>
          </a:p>
        </p:txBody>
      </p:sp>
      <p:sp>
        <p:nvSpPr>
          <p:cNvPr id="6" name="Text 3"/>
          <p:cNvSpPr/>
          <p:nvPr/>
        </p:nvSpPr>
        <p:spPr>
          <a:xfrm>
            <a:off x="548640" y="1783080"/>
            <a:ext cx="11064240" cy="640080"/>
          </a:xfrm>
          <a:prstGeom prst="rect">
            <a:avLst/>
          </a:prstGeom>
          <a:noFill/>
          <a:ln/>
        </p:spPr>
        <p:txBody>
          <a:bodyPr wrap="square" lIns="0" tIns="0" rIns="0" bIns="0" rtlCol="0" anchor="ctr"/>
          <a:lstStyle/>
          <a:p>
            <a:pPr marL="0" indent="0">
              <a:lnSpc>
                <a:spcPct val="115000"/>
              </a:lnSpc>
              <a:buNone/>
            </a:pPr>
            <a:r>
              <a:rPr lang="en-US" sz="1500" dirty="0">
                <a:solidFill>
                  <a:srgbClr val="3C5560"/>
                </a:solidFill>
                <a:latin typeface="Calibri" pitchFamily="34" charset="0"/>
                <a:ea typeface="Calibri" pitchFamily="34" charset="-122"/>
                <a:cs typeface="Calibri" pitchFamily="34" charset="-120"/>
              </a:rPr>
              <a:t>Un simple découpage de chaîne ne suffit pas : parenthèses et priorités imposent un arbre syntaxique abstrait, qui sépare la structure logique de l'exécution.</a:t>
            </a:r>
            <a:endParaRPr lang="en-US" sz="1500" dirty="0"/>
          </a:p>
        </p:txBody>
      </p:sp>
      <p:sp>
        <p:nvSpPr>
          <p:cNvPr id="7" name="Shape 4"/>
          <p:cNvSpPr/>
          <p:nvPr/>
        </p:nvSpPr>
        <p:spPr>
          <a:xfrm>
            <a:off x="548640" y="2743200"/>
            <a:ext cx="2084832" cy="960120"/>
          </a:xfrm>
          <a:prstGeom prst="roundRect">
            <a:avLst>
              <a:gd name="adj" fmla="val 7619"/>
            </a:avLst>
          </a:prstGeom>
          <a:solidFill>
            <a:srgbClr val="1C7293"/>
          </a:solidFill>
          <a:ln/>
          <a:effectLst>
            <a:outerShdw blurRad="88900" dist="38100" dir="8100000" algn="bl" rotWithShape="0">
              <a:srgbClr val="0B3D52">
                <a:alpha val="16000"/>
              </a:srgbClr>
            </a:outerShdw>
          </a:effectLst>
        </p:spPr>
      </p:sp>
      <p:sp>
        <p:nvSpPr>
          <p:cNvPr id="8" name="Text 5"/>
          <p:cNvSpPr/>
          <p:nvPr/>
        </p:nvSpPr>
        <p:spPr>
          <a:xfrm>
            <a:off x="548640" y="2743200"/>
            <a:ext cx="2084832" cy="960120"/>
          </a:xfrm>
          <a:prstGeom prst="rect">
            <a:avLst/>
          </a:prstGeom>
          <a:noFill/>
          <a:ln/>
        </p:spPr>
        <p:txBody>
          <a:bodyPr wrap="square" lIns="0" tIns="0" rIns="0" bIns="0" rtlCol="0" anchor="ctr"/>
          <a:lstStyle/>
          <a:p>
            <a:pPr marL="0" indent="0" algn="ctr">
              <a:buNone/>
            </a:pPr>
            <a:r>
              <a:rPr lang="en-US" sz="1550" b="1" dirty="0">
                <a:solidFill>
                  <a:srgbClr val="FFFFFF"/>
                </a:solidFill>
                <a:latin typeface="Georgia" pitchFamily="34" charset="0"/>
                <a:ea typeface="Georgia" pitchFamily="34" charset="-122"/>
                <a:cs typeface="Times New Roman" panose="02020603050405020304" pitchFamily="18" charset="0"/>
              </a:rPr>
              <a:t>Requête texte</a:t>
            </a:r>
            <a:endParaRPr lang="en-US" sz="1550" dirty="0"/>
          </a:p>
        </p:txBody>
      </p:sp>
      <p:pic>
        <p:nvPicPr>
          <p:cNvPr id="9" name="Image 1" descr="preencoded.png"/>
          <p:cNvPicPr>
            <a:picLocks noChangeAspect="1"/>
          </p:cNvPicPr>
          <p:nvPr/>
        </p:nvPicPr>
        <p:blipFill>
          <a:blip r:embed="rId4"/>
          <a:stretch>
            <a:fillRect/>
          </a:stretch>
        </p:blipFill>
        <p:spPr>
          <a:xfrm>
            <a:off x="2633472" y="3122676"/>
            <a:ext cx="201168" cy="201168"/>
          </a:xfrm>
          <a:prstGeom prst="rect">
            <a:avLst/>
          </a:prstGeom>
        </p:spPr>
      </p:pic>
      <p:sp>
        <p:nvSpPr>
          <p:cNvPr id="10" name="Shape 6"/>
          <p:cNvSpPr/>
          <p:nvPr/>
        </p:nvSpPr>
        <p:spPr>
          <a:xfrm>
            <a:off x="2834640" y="2743200"/>
            <a:ext cx="2084832" cy="960120"/>
          </a:xfrm>
          <a:prstGeom prst="roundRect">
            <a:avLst>
              <a:gd name="adj" fmla="val 7619"/>
            </a:avLst>
          </a:prstGeom>
          <a:solidFill>
            <a:srgbClr val="0B3D52"/>
          </a:solidFill>
          <a:ln/>
          <a:effectLst>
            <a:outerShdw blurRad="88900" dist="38100" dir="8100000" algn="bl" rotWithShape="0">
              <a:srgbClr val="0B3D52">
                <a:alpha val="16000"/>
              </a:srgbClr>
            </a:outerShdw>
          </a:effectLst>
        </p:spPr>
      </p:sp>
      <p:sp>
        <p:nvSpPr>
          <p:cNvPr id="11" name="Text 7"/>
          <p:cNvSpPr/>
          <p:nvPr/>
        </p:nvSpPr>
        <p:spPr>
          <a:xfrm>
            <a:off x="2834640" y="2743200"/>
            <a:ext cx="2084832" cy="960120"/>
          </a:xfrm>
          <a:prstGeom prst="rect">
            <a:avLst/>
          </a:prstGeom>
          <a:noFill/>
          <a:ln/>
        </p:spPr>
        <p:txBody>
          <a:bodyPr wrap="square" lIns="0" tIns="0" rIns="0" bIns="0" rtlCol="0" anchor="ctr"/>
          <a:lstStyle/>
          <a:p>
            <a:pPr marL="0" indent="0" algn="ctr">
              <a:buNone/>
            </a:pPr>
            <a:r>
              <a:rPr lang="en-US" sz="1550" b="1" dirty="0">
                <a:solidFill>
                  <a:srgbClr val="8FE3DA"/>
                </a:solidFill>
                <a:latin typeface="Georgia" pitchFamily="34" charset="0"/>
                <a:ea typeface="Georgia" pitchFamily="34" charset="-122"/>
                <a:cs typeface="Times New Roman" panose="02020603050405020304" pitchFamily="18" charset="0"/>
              </a:rPr>
              <a:t>AST</a:t>
            </a:r>
            <a:endParaRPr lang="en-US" sz="1550" dirty="0"/>
          </a:p>
        </p:txBody>
      </p:sp>
      <p:pic>
        <p:nvPicPr>
          <p:cNvPr id="12" name="Image 2" descr="preencoded.png"/>
          <p:cNvPicPr>
            <a:picLocks noChangeAspect="1"/>
          </p:cNvPicPr>
          <p:nvPr/>
        </p:nvPicPr>
        <p:blipFill>
          <a:blip r:embed="rId4"/>
          <a:stretch>
            <a:fillRect/>
          </a:stretch>
        </p:blipFill>
        <p:spPr>
          <a:xfrm>
            <a:off x="4919472" y="3122676"/>
            <a:ext cx="201168" cy="201168"/>
          </a:xfrm>
          <a:prstGeom prst="rect">
            <a:avLst/>
          </a:prstGeom>
        </p:spPr>
      </p:pic>
      <p:sp>
        <p:nvSpPr>
          <p:cNvPr id="13" name="Shape 8"/>
          <p:cNvSpPr/>
          <p:nvPr/>
        </p:nvSpPr>
        <p:spPr>
          <a:xfrm>
            <a:off x="5120640" y="2743200"/>
            <a:ext cx="2084832" cy="960120"/>
          </a:xfrm>
          <a:prstGeom prst="roundRect">
            <a:avLst>
              <a:gd name="adj" fmla="val 7619"/>
            </a:avLst>
          </a:prstGeom>
          <a:solidFill>
            <a:srgbClr val="0B3D52"/>
          </a:solidFill>
          <a:ln/>
          <a:effectLst>
            <a:outerShdw blurRad="88900" dist="38100" dir="8100000" algn="bl" rotWithShape="0">
              <a:srgbClr val="0B3D52">
                <a:alpha val="16000"/>
              </a:srgbClr>
            </a:outerShdw>
          </a:effectLst>
        </p:spPr>
      </p:sp>
      <p:sp>
        <p:nvSpPr>
          <p:cNvPr id="14" name="Text 9"/>
          <p:cNvSpPr/>
          <p:nvPr/>
        </p:nvSpPr>
        <p:spPr>
          <a:xfrm>
            <a:off x="5120640" y="2743200"/>
            <a:ext cx="2084832" cy="960120"/>
          </a:xfrm>
          <a:prstGeom prst="rect">
            <a:avLst/>
          </a:prstGeom>
          <a:noFill/>
          <a:ln/>
        </p:spPr>
        <p:txBody>
          <a:bodyPr wrap="square" lIns="0" tIns="0" rIns="0" bIns="0" rtlCol="0" anchor="ctr"/>
          <a:lstStyle/>
          <a:p>
            <a:pPr marL="0" indent="0" algn="ctr">
              <a:buNone/>
            </a:pPr>
            <a:r>
              <a:rPr lang="en-US" sz="1550" b="1" dirty="0">
                <a:solidFill>
                  <a:srgbClr val="8FE3DA"/>
                </a:solidFill>
                <a:latin typeface="Georgia" pitchFamily="34" charset="0"/>
                <a:ea typeface="Georgia" pitchFamily="34" charset="-122"/>
                <a:cs typeface="Times New Roman" panose="02020603050405020304" pitchFamily="18" charset="0"/>
              </a:rPr>
              <a:t>Plan optimisé</a:t>
            </a:r>
            <a:endParaRPr lang="en-US" sz="1550" dirty="0"/>
          </a:p>
        </p:txBody>
      </p:sp>
      <p:pic>
        <p:nvPicPr>
          <p:cNvPr id="15" name="Image 3" descr="preencoded.png"/>
          <p:cNvPicPr>
            <a:picLocks noChangeAspect="1"/>
          </p:cNvPicPr>
          <p:nvPr/>
        </p:nvPicPr>
        <p:blipFill>
          <a:blip r:embed="rId4"/>
          <a:stretch>
            <a:fillRect/>
          </a:stretch>
        </p:blipFill>
        <p:spPr>
          <a:xfrm>
            <a:off x="7205472" y="3122676"/>
            <a:ext cx="201168" cy="201168"/>
          </a:xfrm>
          <a:prstGeom prst="rect">
            <a:avLst/>
          </a:prstGeom>
        </p:spPr>
      </p:pic>
      <p:sp>
        <p:nvSpPr>
          <p:cNvPr id="16" name="Shape 10"/>
          <p:cNvSpPr/>
          <p:nvPr/>
        </p:nvSpPr>
        <p:spPr>
          <a:xfrm>
            <a:off x="7406640" y="2743200"/>
            <a:ext cx="2084832" cy="960120"/>
          </a:xfrm>
          <a:prstGeom prst="roundRect">
            <a:avLst>
              <a:gd name="adj" fmla="val 7619"/>
            </a:avLst>
          </a:prstGeom>
          <a:solidFill>
            <a:srgbClr val="1C7293"/>
          </a:solidFill>
          <a:ln/>
          <a:effectLst>
            <a:outerShdw blurRad="88900" dist="38100" dir="8100000" algn="bl" rotWithShape="0">
              <a:srgbClr val="0B3D52">
                <a:alpha val="16000"/>
              </a:srgbClr>
            </a:outerShdw>
          </a:effectLst>
        </p:spPr>
      </p:sp>
      <p:sp>
        <p:nvSpPr>
          <p:cNvPr id="17" name="Text 11"/>
          <p:cNvSpPr/>
          <p:nvPr/>
        </p:nvSpPr>
        <p:spPr>
          <a:xfrm>
            <a:off x="7406640" y="2743200"/>
            <a:ext cx="2084832" cy="960120"/>
          </a:xfrm>
          <a:prstGeom prst="rect">
            <a:avLst/>
          </a:prstGeom>
          <a:noFill/>
          <a:ln/>
        </p:spPr>
        <p:txBody>
          <a:bodyPr wrap="square" lIns="0" tIns="0" rIns="0" bIns="0" rtlCol="0" anchor="ctr"/>
          <a:lstStyle/>
          <a:p>
            <a:pPr marL="0" indent="0" algn="ctr">
              <a:buNone/>
            </a:pPr>
            <a:r>
              <a:rPr lang="en-US" sz="1550" b="1" dirty="0">
                <a:solidFill>
                  <a:srgbClr val="FFFFFF"/>
                </a:solidFill>
                <a:latin typeface="Georgia" pitchFamily="34" charset="0"/>
                <a:ea typeface="Georgia" pitchFamily="34" charset="-122"/>
                <a:cs typeface="Times New Roman" panose="02020603050405020304" pitchFamily="18" charset="0"/>
              </a:rPr>
              <a:t>Exécution</a:t>
            </a:r>
            <a:endParaRPr lang="en-US" sz="1550" dirty="0"/>
          </a:p>
        </p:txBody>
      </p:sp>
      <p:pic>
        <p:nvPicPr>
          <p:cNvPr id="18" name="Image 4" descr="preencoded.png"/>
          <p:cNvPicPr>
            <a:picLocks noChangeAspect="1"/>
          </p:cNvPicPr>
          <p:nvPr/>
        </p:nvPicPr>
        <p:blipFill>
          <a:blip r:embed="rId4"/>
          <a:stretch>
            <a:fillRect/>
          </a:stretch>
        </p:blipFill>
        <p:spPr>
          <a:xfrm>
            <a:off x="9491472" y="3122676"/>
            <a:ext cx="201168" cy="201168"/>
          </a:xfrm>
          <a:prstGeom prst="rect">
            <a:avLst/>
          </a:prstGeom>
        </p:spPr>
      </p:pic>
      <p:sp>
        <p:nvSpPr>
          <p:cNvPr id="19" name="Shape 12"/>
          <p:cNvSpPr/>
          <p:nvPr/>
        </p:nvSpPr>
        <p:spPr>
          <a:xfrm>
            <a:off x="9692640" y="2743200"/>
            <a:ext cx="2084832" cy="960120"/>
          </a:xfrm>
          <a:prstGeom prst="roundRect">
            <a:avLst>
              <a:gd name="adj" fmla="val 7619"/>
            </a:avLst>
          </a:prstGeom>
          <a:solidFill>
            <a:srgbClr val="1C7293"/>
          </a:solidFill>
          <a:ln/>
          <a:effectLst>
            <a:outerShdw blurRad="88900" dist="38100" dir="8100000" algn="bl" rotWithShape="0">
              <a:srgbClr val="0B3D52">
                <a:alpha val="16000"/>
              </a:srgbClr>
            </a:outerShdw>
          </a:effectLst>
        </p:spPr>
      </p:sp>
      <p:sp>
        <p:nvSpPr>
          <p:cNvPr id="20" name="Text 13"/>
          <p:cNvSpPr/>
          <p:nvPr/>
        </p:nvSpPr>
        <p:spPr>
          <a:xfrm>
            <a:off x="9692640" y="2743200"/>
            <a:ext cx="2084832" cy="960120"/>
          </a:xfrm>
          <a:prstGeom prst="rect">
            <a:avLst/>
          </a:prstGeom>
          <a:noFill/>
          <a:ln/>
        </p:spPr>
        <p:txBody>
          <a:bodyPr wrap="square" lIns="0" tIns="0" rIns="0" bIns="0" rtlCol="0" anchor="ctr"/>
          <a:lstStyle/>
          <a:p>
            <a:pPr marL="0" indent="0" algn="ctr">
              <a:buNone/>
            </a:pPr>
            <a:r>
              <a:rPr lang="en-US" sz="1550" b="1" dirty="0">
                <a:solidFill>
                  <a:srgbClr val="FFFFFF"/>
                </a:solidFill>
                <a:latin typeface="Georgia" pitchFamily="34" charset="0"/>
                <a:ea typeface="Georgia" pitchFamily="34" charset="-122"/>
                <a:cs typeface="Times New Roman" panose="02020603050405020304" pitchFamily="18" charset="0"/>
              </a:rPr>
              <a:t>Résultats</a:t>
            </a:r>
            <a:endParaRPr lang="en-US" sz="1550" dirty="0"/>
          </a:p>
        </p:txBody>
      </p:sp>
      <p:sp>
        <p:nvSpPr>
          <p:cNvPr id="21" name="Text 14"/>
          <p:cNvSpPr/>
          <p:nvPr/>
        </p:nvSpPr>
        <p:spPr>
          <a:xfrm>
            <a:off x="548640" y="4114800"/>
            <a:ext cx="5486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TROIS TYPES DE NŒUDS</a:t>
            </a:r>
            <a:endParaRPr lang="en-US" sz="1250" dirty="0"/>
          </a:p>
        </p:txBody>
      </p:sp>
      <p:sp>
        <p:nvSpPr>
          <p:cNvPr id="22" name="Shape 15"/>
          <p:cNvSpPr/>
          <p:nvPr/>
        </p:nvSpPr>
        <p:spPr>
          <a:xfrm>
            <a:off x="548640" y="4526280"/>
            <a:ext cx="3474720" cy="1417320"/>
          </a:xfrm>
          <a:prstGeom prst="roundRect">
            <a:avLst>
              <a:gd name="adj" fmla="val 5806"/>
            </a:avLst>
          </a:prstGeom>
          <a:solidFill>
            <a:srgbClr val="F2F7F8"/>
          </a:solidFill>
          <a:ln w="12700">
            <a:solidFill>
              <a:srgbClr val="CDDDE0"/>
            </a:solidFill>
            <a:prstDash val="solid"/>
          </a:ln>
        </p:spPr>
      </p:sp>
      <p:sp>
        <p:nvSpPr>
          <p:cNvPr id="23" name="Shape 16"/>
          <p:cNvSpPr/>
          <p:nvPr/>
        </p:nvSpPr>
        <p:spPr>
          <a:xfrm>
            <a:off x="548640" y="4526280"/>
            <a:ext cx="82296" cy="1417320"/>
          </a:xfrm>
          <a:prstGeom prst="rect">
            <a:avLst/>
          </a:prstGeom>
          <a:solidFill>
            <a:srgbClr val="2EC4B6"/>
          </a:solidFill>
          <a:ln/>
        </p:spPr>
      </p:sp>
      <p:sp>
        <p:nvSpPr>
          <p:cNvPr id="24" name="Text 17"/>
          <p:cNvSpPr/>
          <p:nvPr/>
        </p:nvSpPr>
        <p:spPr>
          <a:xfrm>
            <a:off x="822960" y="4709160"/>
            <a:ext cx="3017520" cy="411480"/>
          </a:xfrm>
          <a:prstGeom prst="rect">
            <a:avLst/>
          </a:prstGeom>
          <a:noFill/>
          <a:ln/>
        </p:spPr>
        <p:txBody>
          <a:bodyPr wrap="square" lIns="0" tIns="0" rIns="0" bIns="0" rtlCol="0" anchor="ctr"/>
          <a:lstStyle/>
          <a:p>
            <a:pPr marL="0" indent="0">
              <a:buNone/>
            </a:pPr>
            <a:r>
              <a:rPr lang="en-US" sz="1600" b="1" dirty="0">
                <a:solidFill>
                  <a:srgbClr val="12303C"/>
                </a:solidFill>
                <a:latin typeface="Georgia" pitchFamily="34" charset="0"/>
                <a:ea typeface="Georgia" pitchFamily="34" charset="-122"/>
                <a:cs typeface="Times New Roman" panose="02020603050405020304" pitchFamily="18" charset="0"/>
              </a:rPr>
              <a:t>Clause relationnelle</a:t>
            </a:r>
            <a:endParaRPr lang="en-US" sz="1600" dirty="0"/>
          </a:p>
        </p:txBody>
      </p:sp>
      <p:sp>
        <p:nvSpPr>
          <p:cNvPr id="25" name="Text 18"/>
          <p:cNvSpPr/>
          <p:nvPr/>
        </p:nvSpPr>
        <p:spPr>
          <a:xfrm>
            <a:off x="822960" y="5212080"/>
            <a:ext cx="3017520" cy="548640"/>
          </a:xfrm>
          <a:prstGeom prst="rect">
            <a:avLst/>
          </a:prstGeom>
          <a:noFill/>
          <a:ln/>
        </p:spPr>
        <p:txBody>
          <a:bodyPr wrap="square" lIns="0" tIns="0" rIns="0" bIns="0" rtlCol="0" anchor="t"/>
          <a:lstStyle/>
          <a:p>
            <a:pPr marL="0" indent="0">
              <a:buNone/>
            </a:pPr>
            <a:r>
              <a:rPr lang="en-US" sz="1300" dirty="0">
                <a:solidFill>
                  <a:srgbClr val="1C7293"/>
                </a:solidFill>
                <a:latin typeface="Consolas" pitchFamily="34" charset="0"/>
                <a:ea typeface="Consolas" pitchFamily="34" charset="-122"/>
                <a:cs typeface="Times New Roman" panose="02020603050405020304" pitchFamily="18" charset="0"/>
              </a:rPr>
              <a:t>(sujet  relation  objet)</a:t>
            </a:r>
            <a:endParaRPr lang="en-US" sz="1300" dirty="0"/>
          </a:p>
        </p:txBody>
      </p:sp>
      <p:sp>
        <p:nvSpPr>
          <p:cNvPr id="26" name="Shape 19"/>
          <p:cNvSpPr/>
          <p:nvPr/>
        </p:nvSpPr>
        <p:spPr>
          <a:xfrm>
            <a:off x="4270248" y="4526280"/>
            <a:ext cx="3474720" cy="1417320"/>
          </a:xfrm>
          <a:prstGeom prst="roundRect">
            <a:avLst>
              <a:gd name="adj" fmla="val 5806"/>
            </a:avLst>
          </a:prstGeom>
          <a:solidFill>
            <a:srgbClr val="F2F7F8"/>
          </a:solidFill>
          <a:ln w="12700">
            <a:solidFill>
              <a:srgbClr val="CDDDE0"/>
            </a:solidFill>
            <a:prstDash val="solid"/>
          </a:ln>
        </p:spPr>
      </p:sp>
      <p:sp>
        <p:nvSpPr>
          <p:cNvPr id="27" name="Shape 20"/>
          <p:cNvSpPr/>
          <p:nvPr/>
        </p:nvSpPr>
        <p:spPr>
          <a:xfrm>
            <a:off x="4270248" y="4526280"/>
            <a:ext cx="82296" cy="1417320"/>
          </a:xfrm>
          <a:prstGeom prst="rect">
            <a:avLst/>
          </a:prstGeom>
          <a:solidFill>
            <a:srgbClr val="2EC4B6"/>
          </a:solidFill>
          <a:ln/>
        </p:spPr>
      </p:sp>
      <p:sp>
        <p:nvSpPr>
          <p:cNvPr id="28" name="Text 21"/>
          <p:cNvSpPr/>
          <p:nvPr/>
        </p:nvSpPr>
        <p:spPr>
          <a:xfrm>
            <a:off x="4544568" y="4709160"/>
            <a:ext cx="3017520" cy="411480"/>
          </a:xfrm>
          <a:prstGeom prst="rect">
            <a:avLst/>
          </a:prstGeom>
          <a:noFill/>
          <a:ln/>
        </p:spPr>
        <p:txBody>
          <a:bodyPr wrap="square" lIns="0" tIns="0" rIns="0" bIns="0" rtlCol="0" anchor="ctr"/>
          <a:lstStyle/>
          <a:p>
            <a:pPr marL="0" indent="0">
              <a:buNone/>
            </a:pPr>
            <a:r>
              <a:rPr lang="en-US" sz="1600" b="1" dirty="0">
                <a:solidFill>
                  <a:srgbClr val="12303C"/>
                </a:solidFill>
                <a:latin typeface="Georgia" pitchFamily="34" charset="0"/>
                <a:ea typeface="Georgia" pitchFamily="34" charset="-122"/>
                <a:cs typeface="Times New Roman" panose="02020603050405020304" pitchFamily="18" charset="0"/>
              </a:rPr>
              <a:t>Clause filtre</a:t>
            </a:r>
            <a:endParaRPr lang="en-US" sz="1600" dirty="0"/>
          </a:p>
        </p:txBody>
      </p:sp>
      <p:sp>
        <p:nvSpPr>
          <p:cNvPr id="29" name="Text 22"/>
          <p:cNvSpPr/>
          <p:nvPr/>
        </p:nvSpPr>
        <p:spPr>
          <a:xfrm>
            <a:off x="4544568" y="5212080"/>
            <a:ext cx="3017520" cy="548640"/>
          </a:xfrm>
          <a:prstGeom prst="rect">
            <a:avLst/>
          </a:prstGeom>
          <a:noFill/>
          <a:ln/>
        </p:spPr>
        <p:txBody>
          <a:bodyPr wrap="square" lIns="0" tIns="0" rIns="0" bIns="0" rtlCol="0" anchor="t"/>
          <a:lstStyle/>
          <a:p>
            <a:pPr marL="0" indent="0">
              <a:buNone/>
            </a:pPr>
            <a:r>
              <a:rPr lang="en-US" sz="1300" dirty="0">
                <a:solidFill>
                  <a:srgbClr val="1C7293"/>
                </a:solidFill>
                <a:latin typeface="Consolas" pitchFamily="34" charset="0"/>
                <a:ea typeface="Consolas" pitchFamily="34" charset="-122"/>
                <a:cs typeface="Times New Roman" panose="02020603050405020304" pitchFamily="18" charset="0"/>
              </a:rPr>
              <a:t>$x = ch%   (motif textuel)</a:t>
            </a:r>
            <a:endParaRPr lang="en-US" sz="1300" dirty="0"/>
          </a:p>
        </p:txBody>
      </p:sp>
      <p:sp>
        <p:nvSpPr>
          <p:cNvPr id="30" name="Shape 23"/>
          <p:cNvSpPr/>
          <p:nvPr/>
        </p:nvSpPr>
        <p:spPr>
          <a:xfrm>
            <a:off x="7991856" y="4526280"/>
            <a:ext cx="3474720" cy="1417320"/>
          </a:xfrm>
          <a:prstGeom prst="roundRect">
            <a:avLst>
              <a:gd name="adj" fmla="val 5806"/>
            </a:avLst>
          </a:prstGeom>
          <a:solidFill>
            <a:srgbClr val="F2F7F8"/>
          </a:solidFill>
          <a:ln w="12700">
            <a:solidFill>
              <a:srgbClr val="CDDDE0"/>
            </a:solidFill>
            <a:prstDash val="solid"/>
          </a:ln>
        </p:spPr>
      </p:sp>
      <p:sp>
        <p:nvSpPr>
          <p:cNvPr id="31" name="Shape 24"/>
          <p:cNvSpPr/>
          <p:nvPr/>
        </p:nvSpPr>
        <p:spPr>
          <a:xfrm>
            <a:off x="7991856" y="4526280"/>
            <a:ext cx="82296" cy="1417320"/>
          </a:xfrm>
          <a:prstGeom prst="rect">
            <a:avLst/>
          </a:prstGeom>
          <a:solidFill>
            <a:srgbClr val="2EC4B6"/>
          </a:solidFill>
          <a:ln/>
        </p:spPr>
      </p:sp>
      <p:sp>
        <p:nvSpPr>
          <p:cNvPr id="32" name="Text 25"/>
          <p:cNvSpPr/>
          <p:nvPr/>
        </p:nvSpPr>
        <p:spPr>
          <a:xfrm>
            <a:off x="8266176" y="4709160"/>
            <a:ext cx="3017520" cy="411480"/>
          </a:xfrm>
          <a:prstGeom prst="rect">
            <a:avLst/>
          </a:prstGeom>
          <a:noFill/>
          <a:ln/>
        </p:spPr>
        <p:txBody>
          <a:bodyPr wrap="square" lIns="0" tIns="0" rIns="0" bIns="0" rtlCol="0" anchor="ctr"/>
          <a:lstStyle/>
          <a:p>
            <a:pPr marL="0" indent="0">
              <a:buNone/>
            </a:pPr>
            <a:r>
              <a:rPr lang="en-US" sz="1600" b="1" dirty="0">
                <a:solidFill>
                  <a:srgbClr val="12303C"/>
                </a:solidFill>
                <a:latin typeface="Georgia" pitchFamily="34" charset="0"/>
                <a:ea typeface="Georgia" pitchFamily="34" charset="-122"/>
                <a:cs typeface="Times New Roman" panose="02020603050405020304" pitchFamily="18" charset="0"/>
              </a:rPr>
              <a:t>Nœud logique</a:t>
            </a:r>
            <a:endParaRPr lang="en-US" sz="1600" dirty="0"/>
          </a:p>
        </p:txBody>
      </p:sp>
      <p:sp>
        <p:nvSpPr>
          <p:cNvPr id="33" name="Text 26"/>
          <p:cNvSpPr/>
          <p:nvPr/>
        </p:nvSpPr>
        <p:spPr>
          <a:xfrm>
            <a:off x="8266176" y="5212080"/>
            <a:ext cx="3017520" cy="548640"/>
          </a:xfrm>
          <a:prstGeom prst="rect">
            <a:avLst/>
          </a:prstGeom>
          <a:noFill/>
          <a:ln/>
        </p:spPr>
        <p:txBody>
          <a:bodyPr wrap="square" lIns="0" tIns="0" rIns="0" bIns="0" rtlCol="0" anchor="t"/>
          <a:lstStyle/>
          <a:p>
            <a:pPr marL="0" indent="0">
              <a:buNone/>
            </a:pPr>
            <a:r>
              <a:rPr lang="en-US" sz="1300" dirty="0">
                <a:solidFill>
                  <a:srgbClr val="1C7293"/>
                </a:solidFill>
                <a:latin typeface="Consolas" pitchFamily="34" charset="0"/>
                <a:ea typeface="Consolas" pitchFamily="34" charset="-122"/>
                <a:cs typeface="Times New Roman" panose="02020603050405020304" pitchFamily="18" charset="0"/>
              </a:rPr>
              <a:t>ET / OU reliant des clauses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COUCHE D'ACCÈS</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Utiliser l'API JeuxDeMots</a:t>
            </a:r>
            <a:endParaRPr lang="en-US" sz="3000" dirty="0"/>
          </a:p>
        </p:txBody>
      </p:sp>
      <p:sp>
        <p:nvSpPr>
          <p:cNvPr id="6" name="Shape 3"/>
          <p:cNvSpPr/>
          <p:nvPr/>
        </p:nvSpPr>
        <p:spPr>
          <a:xfrm>
            <a:off x="548640" y="1874520"/>
            <a:ext cx="3474720" cy="2011680"/>
          </a:xfrm>
          <a:prstGeom prst="roundRect">
            <a:avLst>
              <a:gd name="adj" fmla="val 4545"/>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7" name="Shape 4"/>
          <p:cNvSpPr/>
          <p:nvPr/>
        </p:nvSpPr>
        <p:spPr>
          <a:xfrm>
            <a:off x="868680" y="2194560"/>
            <a:ext cx="640080" cy="640080"/>
          </a:xfrm>
          <a:prstGeom prst="ellipse">
            <a:avLst/>
          </a:prstGeom>
          <a:solidFill>
            <a:srgbClr val="0B3D52"/>
          </a:solidFill>
          <a:ln/>
        </p:spPr>
      </p:sp>
      <p:pic>
        <p:nvPicPr>
          <p:cNvPr id="8" name="Image 1" descr="preencoded.png"/>
          <p:cNvPicPr>
            <a:picLocks noChangeAspect="1"/>
          </p:cNvPicPr>
          <p:nvPr/>
        </p:nvPicPr>
        <p:blipFill>
          <a:blip r:embed="rId4"/>
          <a:stretch>
            <a:fillRect/>
          </a:stretch>
        </p:blipFill>
        <p:spPr>
          <a:xfrm>
            <a:off x="1024128" y="2350008"/>
            <a:ext cx="329184" cy="329184"/>
          </a:xfrm>
          <a:prstGeom prst="rect">
            <a:avLst/>
          </a:prstGeom>
        </p:spPr>
      </p:pic>
      <p:sp>
        <p:nvSpPr>
          <p:cNvPr id="9" name="Text 5"/>
          <p:cNvSpPr/>
          <p:nvPr/>
        </p:nvSpPr>
        <p:spPr>
          <a:xfrm>
            <a:off x="1645920" y="2212848"/>
            <a:ext cx="2194560" cy="603504"/>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Nœuds</a:t>
            </a:r>
            <a:endParaRPr lang="en-US" sz="1800" dirty="0"/>
          </a:p>
        </p:txBody>
      </p:sp>
      <p:sp>
        <p:nvSpPr>
          <p:cNvPr id="10" name="Text 6"/>
          <p:cNvSpPr/>
          <p:nvPr/>
        </p:nvSpPr>
        <p:spPr>
          <a:xfrm>
            <a:off x="868680" y="2971800"/>
            <a:ext cx="2834640" cy="822960"/>
          </a:xfrm>
          <a:prstGeom prst="rect">
            <a:avLst/>
          </a:prstGeom>
          <a:noFill/>
          <a:ln/>
        </p:spPr>
        <p:txBody>
          <a:bodyPr wrap="square" lIns="0" tIns="0" rIns="0" bIns="0" rtlCol="0" anchor="ctr"/>
          <a:lstStyle/>
          <a:p>
            <a:pPr marL="0" indent="0">
              <a:lnSpc>
                <a:spcPct val="115000"/>
              </a:lnSpc>
              <a:buNone/>
            </a:pPr>
            <a:r>
              <a:rPr lang="en-US" sz="1300" dirty="0">
                <a:solidFill>
                  <a:srgbClr val="3C5560"/>
                </a:solidFill>
                <a:latin typeface="Calibri" pitchFamily="34" charset="0"/>
                <a:ea typeface="Calibri" pitchFamily="34" charset="-122"/>
                <a:cs typeface="Calibri" pitchFamily="34" charset="-120"/>
              </a:rPr>
              <a:t>Chaque terme = un nœud avec identifiant, nom, type et métadonnées.</a:t>
            </a:r>
            <a:endParaRPr lang="en-US" sz="1300" dirty="0"/>
          </a:p>
        </p:txBody>
      </p:sp>
      <p:sp>
        <p:nvSpPr>
          <p:cNvPr id="11" name="Shape 7"/>
          <p:cNvSpPr/>
          <p:nvPr/>
        </p:nvSpPr>
        <p:spPr>
          <a:xfrm>
            <a:off x="4270248" y="1874520"/>
            <a:ext cx="3474720" cy="2011680"/>
          </a:xfrm>
          <a:prstGeom prst="roundRect">
            <a:avLst>
              <a:gd name="adj" fmla="val 4545"/>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12" name="Shape 8"/>
          <p:cNvSpPr/>
          <p:nvPr/>
        </p:nvSpPr>
        <p:spPr>
          <a:xfrm>
            <a:off x="4590288" y="2194560"/>
            <a:ext cx="640080" cy="640080"/>
          </a:xfrm>
          <a:prstGeom prst="ellipse">
            <a:avLst/>
          </a:prstGeom>
          <a:solidFill>
            <a:srgbClr val="0B3D52"/>
          </a:solidFill>
          <a:ln/>
        </p:spPr>
      </p:sp>
      <p:pic>
        <p:nvPicPr>
          <p:cNvPr id="13" name="Image 2" descr="preencoded.png"/>
          <p:cNvPicPr>
            <a:picLocks noChangeAspect="1"/>
          </p:cNvPicPr>
          <p:nvPr/>
        </p:nvPicPr>
        <p:blipFill>
          <a:blip r:embed="rId5"/>
          <a:stretch>
            <a:fillRect/>
          </a:stretch>
        </p:blipFill>
        <p:spPr>
          <a:xfrm>
            <a:off x="4745736" y="2350008"/>
            <a:ext cx="329184" cy="329184"/>
          </a:xfrm>
          <a:prstGeom prst="rect">
            <a:avLst/>
          </a:prstGeom>
        </p:spPr>
      </p:pic>
      <p:sp>
        <p:nvSpPr>
          <p:cNvPr id="14" name="Text 9"/>
          <p:cNvSpPr/>
          <p:nvPr/>
        </p:nvSpPr>
        <p:spPr>
          <a:xfrm>
            <a:off x="5367528" y="2212848"/>
            <a:ext cx="2194560" cy="603504"/>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Relations</a:t>
            </a:r>
            <a:endParaRPr lang="en-US" sz="1800" dirty="0"/>
          </a:p>
        </p:txBody>
      </p:sp>
      <p:sp>
        <p:nvSpPr>
          <p:cNvPr id="15" name="Text 10"/>
          <p:cNvSpPr/>
          <p:nvPr/>
        </p:nvSpPr>
        <p:spPr>
          <a:xfrm>
            <a:off x="4590288" y="2971800"/>
            <a:ext cx="2834640" cy="822960"/>
          </a:xfrm>
          <a:prstGeom prst="rect">
            <a:avLst/>
          </a:prstGeom>
          <a:noFill/>
          <a:ln/>
        </p:spPr>
        <p:txBody>
          <a:bodyPr wrap="square" lIns="0" tIns="0" rIns="0" bIns="0" rtlCol="0" anchor="ctr"/>
          <a:lstStyle/>
          <a:p>
            <a:pPr marL="0" indent="0">
              <a:lnSpc>
                <a:spcPct val="115000"/>
              </a:lnSpc>
              <a:buNone/>
            </a:pPr>
            <a:r>
              <a:rPr lang="en-US" sz="1300" dirty="0">
                <a:solidFill>
                  <a:srgbClr val="3C5560"/>
                </a:solidFill>
                <a:latin typeface="Calibri" pitchFamily="34" charset="0"/>
                <a:ea typeface="Calibri" pitchFamily="34" charset="-122"/>
                <a:cs typeface="Calibri" pitchFamily="34" charset="-120"/>
              </a:rPr>
              <a:t>Orientées : nœud source → nœud cible, d'un type donné (r_isa, r_has_part…).</a:t>
            </a:r>
            <a:endParaRPr lang="en-US" sz="1300" dirty="0"/>
          </a:p>
        </p:txBody>
      </p:sp>
      <p:sp>
        <p:nvSpPr>
          <p:cNvPr id="16" name="Shape 11"/>
          <p:cNvSpPr/>
          <p:nvPr/>
        </p:nvSpPr>
        <p:spPr>
          <a:xfrm>
            <a:off x="7991856" y="1874520"/>
            <a:ext cx="3474720" cy="2011680"/>
          </a:xfrm>
          <a:prstGeom prst="roundRect">
            <a:avLst>
              <a:gd name="adj" fmla="val 4545"/>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17" name="Shape 12"/>
          <p:cNvSpPr/>
          <p:nvPr/>
        </p:nvSpPr>
        <p:spPr>
          <a:xfrm>
            <a:off x="8311896" y="2194560"/>
            <a:ext cx="640080" cy="640080"/>
          </a:xfrm>
          <a:prstGeom prst="ellipse">
            <a:avLst/>
          </a:prstGeom>
          <a:solidFill>
            <a:srgbClr val="0B3D52"/>
          </a:solidFill>
          <a:ln/>
        </p:spPr>
      </p:sp>
      <p:pic>
        <p:nvPicPr>
          <p:cNvPr id="18" name="Image 3" descr="preencoded.png"/>
          <p:cNvPicPr>
            <a:picLocks noChangeAspect="1"/>
          </p:cNvPicPr>
          <p:nvPr/>
        </p:nvPicPr>
        <p:blipFill>
          <a:blip r:embed="rId6"/>
          <a:stretch>
            <a:fillRect/>
          </a:stretch>
        </p:blipFill>
        <p:spPr>
          <a:xfrm>
            <a:off x="8467344" y="2350008"/>
            <a:ext cx="329184" cy="329184"/>
          </a:xfrm>
          <a:prstGeom prst="rect">
            <a:avLst/>
          </a:prstGeom>
        </p:spPr>
      </p:pic>
      <p:sp>
        <p:nvSpPr>
          <p:cNvPr id="19" name="Text 13"/>
          <p:cNvSpPr/>
          <p:nvPr/>
        </p:nvSpPr>
        <p:spPr>
          <a:xfrm>
            <a:off x="9089136" y="2212848"/>
            <a:ext cx="2194560" cy="603504"/>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Poids</a:t>
            </a:r>
            <a:endParaRPr lang="en-US" sz="1800" dirty="0"/>
          </a:p>
        </p:txBody>
      </p:sp>
      <p:sp>
        <p:nvSpPr>
          <p:cNvPr id="20" name="Text 14"/>
          <p:cNvSpPr/>
          <p:nvPr/>
        </p:nvSpPr>
        <p:spPr>
          <a:xfrm>
            <a:off x="8311896" y="2971800"/>
            <a:ext cx="2834640" cy="822960"/>
          </a:xfrm>
          <a:prstGeom prst="rect">
            <a:avLst/>
          </a:prstGeom>
          <a:noFill/>
          <a:ln/>
        </p:spPr>
        <p:txBody>
          <a:bodyPr wrap="square" lIns="0" tIns="0" rIns="0" bIns="0" rtlCol="0" anchor="ctr"/>
          <a:lstStyle/>
          <a:p>
            <a:pPr marL="0" indent="0">
              <a:lnSpc>
                <a:spcPct val="115000"/>
              </a:lnSpc>
              <a:buNone/>
            </a:pPr>
            <a:r>
              <a:rPr lang="en-US" sz="1300" dirty="0">
                <a:solidFill>
                  <a:srgbClr val="3C5560"/>
                </a:solidFill>
                <a:latin typeface="Calibri" pitchFamily="34" charset="0"/>
                <a:ea typeface="Calibri" pitchFamily="34" charset="-122"/>
                <a:cs typeface="Calibri" pitchFamily="34" charset="-120"/>
              </a:rPr>
              <a:t>Force / pertinence de la relation. Sert à trier et à scorer les résultats.</a:t>
            </a:r>
            <a:endParaRPr lang="en-US" sz="1300" dirty="0"/>
          </a:p>
        </p:txBody>
      </p:sp>
      <p:sp>
        <p:nvSpPr>
          <p:cNvPr id="21" name="Shape 15"/>
          <p:cNvSpPr/>
          <p:nvPr/>
        </p:nvSpPr>
        <p:spPr>
          <a:xfrm>
            <a:off x="548640" y="4160520"/>
            <a:ext cx="11064240" cy="1783080"/>
          </a:xfrm>
          <a:prstGeom prst="roundRect">
            <a:avLst>
              <a:gd name="adj" fmla="val 5128"/>
            </a:avLst>
          </a:prstGeom>
          <a:solidFill>
            <a:srgbClr val="0B3D52"/>
          </a:solidFill>
          <a:ln/>
        </p:spPr>
      </p:sp>
      <p:pic>
        <p:nvPicPr>
          <p:cNvPr id="22" name="Image 4" descr="preencoded.png"/>
          <p:cNvPicPr>
            <a:picLocks noChangeAspect="1"/>
          </p:cNvPicPr>
          <p:nvPr/>
        </p:nvPicPr>
        <p:blipFill>
          <a:blip r:embed="rId7"/>
          <a:stretch>
            <a:fillRect/>
          </a:stretch>
        </p:blipFill>
        <p:spPr>
          <a:xfrm>
            <a:off x="868680" y="4526280"/>
            <a:ext cx="457200" cy="457200"/>
          </a:xfrm>
          <a:prstGeom prst="rect">
            <a:avLst/>
          </a:prstGeom>
        </p:spPr>
      </p:pic>
      <p:sp>
        <p:nvSpPr>
          <p:cNvPr id="23" name="Text 16"/>
          <p:cNvSpPr/>
          <p:nvPr/>
        </p:nvSpPr>
        <p:spPr>
          <a:xfrm>
            <a:off x="1463040" y="4480560"/>
            <a:ext cx="9875520" cy="50292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Raisonner sur les identifiants, pas sur les noms</a:t>
            </a:r>
            <a:endParaRPr lang="en-US" sz="1900" dirty="0"/>
          </a:p>
        </p:txBody>
      </p:sp>
      <p:sp>
        <p:nvSpPr>
          <p:cNvPr id="24" name="Text 17"/>
          <p:cNvSpPr/>
          <p:nvPr/>
        </p:nvSpPr>
        <p:spPr>
          <a:xfrm>
            <a:off x="868680" y="5029200"/>
            <a:ext cx="10515600" cy="868680"/>
          </a:xfrm>
          <a:prstGeom prst="rect">
            <a:avLst/>
          </a:prstGeom>
          <a:noFill/>
          <a:ln/>
        </p:spPr>
        <p:txBody>
          <a:bodyPr wrap="square" lIns="0" tIns="0" rIns="0" bIns="0" rtlCol="0" anchor="ctr"/>
          <a:lstStyle/>
          <a:p>
            <a:pPr marL="0" indent="0">
              <a:lnSpc>
                <a:spcPct val="118000"/>
              </a:lnSpc>
              <a:buNone/>
            </a:pPr>
            <a:r>
              <a:rPr lang="en-US" sz="1350" dirty="0">
                <a:solidFill>
                  <a:srgbClr val="8FE3DA"/>
                </a:solidFill>
                <a:latin typeface="Calibri" pitchFamily="34" charset="0"/>
                <a:ea typeface="Calibri" pitchFamily="34" charset="-122"/>
                <a:cs typeface="Calibri" pitchFamily="34" charset="-120"/>
              </a:rPr>
              <a:t>Un même nom peut être ambigu ; les identifiants JDM permettent des intersections fiables. La couche jdmApi.js centralise tous les appels — résolution de nœud, relations entrantes/sortantes, gestion des erreurs, timeouts, pagination et cache — pour éviter les limites des appels directs depuis le navigateur.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RÉCUPÉRER LES DONNÉES</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Pagination, modes &amp; cache</a:t>
            </a:r>
            <a:endParaRPr lang="en-US" sz="3000" dirty="0"/>
          </a:p>
        </p:txBody>
      </p:sp>
      <p:sp>
        <p:nvSpPr>
          <p:cNvPr id="6" name="Shape 3"/>
          <p:cNvSpPr/>
          <p:nvPr/>
        </p:nvSpPr>
        <p:spPr>
          <a:xfrm>
            <a:off x="548640" y="1874520"/>
            <a:ext cx="3429000" cy="2788920"/>
          </a:xfrm>
          <a:prstGeom prst="roundRect">
            <a:avLst>
              <a:gd name="adj" fmla="val 3279"/>
            </a:avLst>
          </a:prstGeom>
          <a:solidFill>
            <a:srgbClr val="F2F7F8"/>
          </a:solidFill>
          <a:ln w="12700">
            <a:solidFill>
              <a:srgbClr val="CDDDE0"/>
            </a:solidFill>
            <a:prstDash val="solid"/>
          </a:ln>
        </p:spPr>
      </p:sp>
      <p:sp>
        <p:nvSpPr>
          <p:cNvPr id="7" name="Shape 4"/>
          <p:cNvSpPr/>
          <p:nvPr/>
        </p:nvSpPr>
        <p:spPr>
          <a:xfrm>
            <a:off x="548640" y="1874520"/>
            <a:ext cx="3429000" cy="82296"/>
          </a:xfrm>
          <a:prstGeom prst="rect">
            <a:avLst/>
          </a:prstGeom>
          <a:solidFill>
            <a:srgbClr val="1C7293"/>
          </a:solidFill>
          <a:ln/>
        </p:spPr>
      </p:sp>
      <p:sp>
        <p:nvSpPr>
          <p:cNvPr id="8" name="Shape 5"/>
          <p:cNvSpPr/>
          <p:nvPr/>
        </p:nvSpPr>
        <p:spPr>
          <a:xfrm>
            <a:off x="868680" y="2148840"/>
            <a:ext cx="1417320" cy="384048"/>
          </a:xfrm>
          <a:prstGeom prst="roundRect">
            <a:avLst>
              <a:gd name="adj" fmla="val 50000"/>
            </a:avLst>
          </a:prstGeom>
          <a:solidFill>
            <a:srgbClr val="1C7293"/>
          </a:solidFill>
          <a:ln/>
        </p:spPr>
      </p:sp>
      <p:sp>
        <p:nvSpPr>
          <p:cNvPr id="9" name="Text 6"/>
          <p:cNvSpPr/>
          <p:nvPr/>
        </p:nvSpPr>
        <p:spPr>
          <a:xfrm>
            <a:off x="868680" y="2148840"/>
            <a:ext cx="14173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RAPIDITÉ</a:t>
            </a:r>
            <a:endParaRPr lang="en-US" sz="1250" dirty="0"/>
          </a:p>
        </p:txBody>
      </p:sp>
      <p:sp>
        <p:nvSpPr>
          <p:cNvPr id="10" name="Text 7"/>
          <p:cNvSpPr/>
          <p:nvPr/>
        </p:nvSpPr>
        <p:spPr>
          <a:xfrm>
            <a:off x="868680" y="2651760"/>
            <a:ext cx="2788920" cy="457200"/>
          </a:xfrm>
          <a:prstGeom prst="rect">
            <a:avLst/>
          </a:prstGeom>
          <a:noFill/>
          <a:ln/>
        </p:spPr>
        <p:txBody>
          <a:bodyPr wrap="square" lIns="0" tIns="0" rIns="0" bIns="0" rtlCol="0" anchor="ctr"/>
          <a:lstStyle/>
          <a:p>
            <a:pPr marL="0" indent="0">
              <a:buNone/>
            </a:pPr>
            <a:r>
              <a:rPr lang="en-US" sz="1900" b="1" dirty="0">
                <a:solidFill>
                  <a:srgbClr val="12303C"/>
                </a:solidFill>
                <a:latin typeface="Georgia" pitchFamily="34" charset="0"/>
                <a:ea typeface="Georgia" pitchFamily="34" charset="-122"/>
                <a:cs typeface="Georgia" pitchFamily="34" charset="-120"/>
              </a:rPr>
              <a:t>Mode normal</a:t>
            </a:r>
            <a:endParaRPr lang="en-US" sz="1900" dirty="0"/>
          </a:p>
        </p:txBody>
      </p:sp>
      <p:sp>
        <p:nvSpPr>
          <p:cNvPr id="11" name="Text 8"/>
          <p:cNvSpPr/>
          <p:nvPr/>
        </p:nvSpPr>
        <p:spPr>
          <a:xfrm>
            <a:off x="868680" y="3200400"/>
            <a:ext cx="2880360" cy="1371600"/>
          </a:xfrm>
          <a:prstGeom prst="rect">
            <a:avLst/>
          </a:prstGeom>
          <a:noFill/>
          <a:ln/>
        </p:spPr>
        <p:txBody>
          <a:bodyPr wrap="square" lIns="0" tIns="0" rIns="0" bIns="0" rtlCol="0" anchor="ctr"/>
          <a:lstStyle/>
          <a:p>
            <a:pPr marL="177800" indent="-177800">
              <a:lnSpc>
                <a:spcPct val="108000"/>
              </a:lnSpc>
              <a:spcAft>
                <a:spcPts val="800"/>
              </a:spcAft>
              <a:buSzPct val="100000"/>
              <a:buChar char="•"/>
            </a:pPr>
            <a:r>
              <a:rPr lang="en-US" sz="1300" dirty="0">
                <a:solidFill>
                  <a:srgbClr val="3C5560"/>
                </a:solidFill>
                <a:latin typeface="Calibri" pitchFamily="34" charset="0"/>
                <a:ea typeface="Calibri" pitchFamily="34" charset="-122"/>
                <a:cs typeface="Calibri" pitchFamily="34" charset="-120"/>
              </a:rPr>
              <a:t>S'arrête après un nombre borné de pages</a:t>
            </a:r>
            <a:endParaRPr lang="en-US" sz="1300" dirty="0"/>
          </a:p>
          <a:p>
            <a:pPr marL="177800" indent="-177800">
              <a:lnSpc>
                <a:spcPct val="108000"/>
              </a:lnSpc>
              <a:spcAft>
                <a:spcPts val="800"/>
              </a:spcAft>
              <a:buSzPct val="100000"/>
              <a:buChar char="•"/>
            </a:pPr>
            <a:r>
              <a:rPr lang="en-US" sz="1300" dirty="0">
                <a:solidFill>
                  <a:srgbClr val="3C5560"/>
                </a:solidFill>
                <a:latin typeface="Calibri" pitchFamily="34" charset="0"/>
                <a:ea typeface="Calibri" pitchFamily="34" charset="-122"/>
                <a:cs typeface="Calibri" pitchFamily="34" charset="-120"/>
              </a:rPr>
              <a:t>Cardinalité estimée, suffisante pour comparer</a:t>
            </a:r>
            <a:endParaRPr lang="en-US" sz="1300" dirty="0"/>
          </a:p>
          <a:p>
            <a:pPr marL="177800" indent="-177800">
              <a:lnSpc>
                <a:spcPct val="108000"/>
              </a:lnSpc>
              <a:spcAft>
                <a:spcPts val="800"/>
              </a:spcAft>
              <a:buSzPct val="100000"/>
              <a:buChar char="•"/>
            </a:pPr>
            <a:r>
              <a:rPr lang="en-US" sz="1300" dirty="0">
                <a:solidFill>
                  <a:srgbClr val="3C5560"/>
                </a:solidFill>
                <a:latin typeface="Calibri" pitchFamily="34" charset="0"/>
                <a:ea typeface="Calibri" pitchFamily="34" charset="-122"/>
                <a:cs typeface="Calibri" pitchFamily="34" charset="-120"/>
              </a:rPr>
              <a:t>Idéal pour des réponses rapides</a:t>
            </a:r>
            <a:endParaRPr lang="en-US" sz="1300" dirty="0"/>
          </a:p>
        </p:txBody>
      </p:sp>
      <p:sp>
        <p:nvSpPr>
          <p:cNvPr id="12" name="Shape 9"/>
          <p:cNvSpPr/>
          <p:nvPr/>
        </p:nvSpPr>
        <p:spPr>
          <a:xfrm>
            <a:off x="4206240" y="1874520"/>
            <a:ext cx="3429000" cy="2788920"/>
          </a:xfrm>
          <a:prstGeom prst="roundRect">
            <a:avLst>
              <a:gd name="adj" fmla="val 3279"/>
            </a:avLst>
          </a:prstGeom>
          <a:solidFill>
            <a:srgbClr val="F2F7F8"/>
          </a:solidFill>
          <a:ln w="12700">
            <a:solidFill>
              <a:srgbClr val="CDDDE0"/>
            </a:solidFill>
            <a:prstDash val="solid"/>
          </a:ln>
        </p:spPr>
      </p:sp>
      <p:sp>
        <p:nvSpPr>
          <p:cNvPr id="13" name="Shape 10"/>
          <p:cNvSpPr/>
          <p:nvPr/>
        </p:nvSpPr>
        <p:spPr>
          <a:xfrm>
            <a:off x="4206240" y="1874520"/>
            <a:ext cx="3429000" cy="82296"/>
          </a:xfrm>
          <a:prstGeom prst="rect">
            <a:avLst/>
          </a:prstGeom>
          <a:solidFill>
            <a:srgbClr val="2EC4B6"/>
          </a:solidFill>
          <a:ln/>
        </p:spPr>
      </p:sp>
      <p:sp>
        <p:nvSpPr>
          <p:cNvPr id="14" name="Shape 11"/>
          <p:cNvSpPr/>
          <p:nvPr/>
        </p:nvSpPr>
        <p:spPr>
          <a:xfrm>
            <a:off x="4526280" y="2148840"/>
            <a:ext cx="1417320" cy="384048"/>
          </a:xfrm>
          <a:prstGeom prst="roundRect">
            <a:avLst>
              <a:gd name="adj" fmla="val 50000"/>
            </a:avLst>
          </a:prstGeom>
          <a:solidFill>
            <a:srgbClr val="2EC4B6"/>
          </a:solidFill>
          <a:ln/>
        </p:spPr>
      </p:sp>
      <p:sp>
        <p:nvSpPr>
          <p:cNvPr id="15" name="Text 12"/>
          <p:cNvSpPr/>
          <p:nvPr/>
        </p:nvSpPr>
        <p:spPr>
          <a:xfrm>
            <a:off x="4526280" y="2148840"/>
            <a:ext cx="141732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COMPLÉTUDE</a:t>
            </a:r>
            <a:endParaRPr lang="en-US" sz="1250" dirty="0"/>
          </a:p>
        </p:txBody>
      </p:sp>
      <p:sp>
        <p:nvSpPr>
          <p:cNvPr id="16" name="Text 13"/>
          <p:cNvSpPr/>
          <p:nvPr/>
        </p:nvSpPr>
        <p:spPr>
          <a:xfrm>
            <a:off x="4526280" y="2651760"/>
            <a:ext cx="2788920" cy="457200"/>
          </a:xfrm>
          <a:prstGeom prst="rect">
            <a:avLst/>
          </a:prstGeom>
          <a:noFill/>
          <a:ln/>
        </p:spPr>
        <p:txBody>
          <a:bodyPr wrap="square" lIns="0" tIns="0" rIns="0" bIns="0" rtlCol="0" anchor="ctr"/>
          <a:lstStyle/>
          <a:p>
            <a:pPr marL="0" indent="0">
              <a:buNone/>
            </a:pPr>
            <a:r>
              <a:rPr lang="en-US" sz="1900" b="1" dirty="0">
                <a:solidFill>
                  <a:srgbClr val="12303C"/>
                </a:solidFill>
                <a:latin typeface="Georgia" pitchFamily="34" charset="0"/>
                <a:ea typeface="Georgia" pitchFamily="34" charset="-122"/>
                <a:cs typeface="Georgia" pitchFamily="34" charset="-120"/>
              </a:rPr>
              <a:t>Mode exhaustif</a:t>
            </a:r>
            <a:endParaRPr lang="en-US" sz="1900" dirty="0"/>
          </a:p>
        </p:txBody>
      </p:sp>
      <p:sp>
        <p:nvSpPr>
          <p:cNvPr id="17" name="Text 14"/>
          <p:cNvSpPr/>
          <p:nvPr/>
        </p:nvSpPr>
        <p:spPr>
          <a:xfrm>
            <a:off x="4526280" y="3200400"/>
            <a:ext cx="2880360" cy="1371600"/>
          </a:xfrm>
          <a:prstGeom prst="rect">
            <a:avLst/>
          </a:prstGeom>
          <a:noFill/>
          <a:ln/>
        </p:spPr>
        <p:txBody>
          <a:bodyPr wrap="square" lIns="0" tIns="0" rIns="0" bIns="0" rtlCol="0" anchor="ctr"/>
          <a:lstStyle/>
          <a:p>
            <a:pPr marL="177800" indent="-177800">
              <a:lnSpc>
                <a:spcPct val="108000"/>
              </a:lnSpc>
              <a:spcAft>
                <a:spcPts val="800"/>
              </a:spcAft>
              <a:buSzPct val="100000"/>
              <a:buChar char="•"/>
            </a:pPr>
            <a:r>
              <a:rPr lang="en-US" sz="1300" dirty="0">
                <a:solidFill>
                  <a:srgbClr val="3C5560"/>
                </a:solidFill>
                <a:latin typeface="Calibri" pitchFamily="34" charset="0"/>
                <a:ea typeface="Calibri" pitchFamily="34" charset="-122"/>
                <a:cs typeface="Calibri" pitchFamily="34" charset="-120"/>
              </a:rPr>
              <a:t>Pagine tant qu'une page est pleine</a:t>
            </a:r>
            <a:endParaRPr lang="en-US" sz="1300" dirty="0"/>
          </a:p>
          <a:p>
            <a:pPr marL="177800" indent="-177800">
              <a:lnSpc>
                <a:spcPct val="108000"/>
              </a:lnSpc>
              <a:spcAft>
                <a:spcPts val="800"/>
              </a:spcAft>
              <a:buSzPct val="100000"/>
              <a:buChar char="•"/>
            </a:pPr>
            <a:r>
              <a:rPr lang="en-US" sz="1300" dirty="0">
                <a:solidFill>
                  <a:srgbClr val="3C5560"/>
                </a:solidFill>
                <a:latin typeface="Calibri" pitchFamily="34" charset="0"/>
                <a:ea typeface="Calibri" pitchFamily="34" charset="-122"/>
                <a:cs typeface="Calibri" pitchFamily="34" charset="-120"/>
              </a:rPr>
              <a:t>Cardinalité plus fiable → meilleures jointures</a:t>
            </a:r>
            <a:endParaRPr lang="en-US" sz="1300" dirty="0"/>
          </a:p>
          <a:p>
            <a:pPr marL="177800" indent="-177800">
              <a:lnSpc>
                <a:spcPct val="108000"/>
              </a:lnSpc>
              <a:spcAft>
                <a:spcPts val="800"/>
              </a:spcAft>
              <a:buSzPct val="100000"/>
              <a:buChar char="•"/>
            </a:pPr>
            <a:r>
              <a:rPr lang="en-US" sz="1300" dirty="0">
                <a:solidFill>
                  <a:srgbClr val="3C5560"/>
                </a:solidFill>
                <a:latin typeface="Calibri" pitchFamily="34" charset="0"/>
                <a:ea typeface="Calibri" pitchFamily="34" charset="-122"/>
                <a:cs typeface="Calibri" pitchFamily="34" charset="-120"/>
              </a:rPr>
              <a:t>Plus lent et plus coûteux en appels API</a:t>
            </a:r>
            <a:endParaRPr lang="en-US" sz="1300" dirty="0"/>
          </a:p>
        </p:txBody>
      </p:sp>
      <p:sp>
        <p:nvSpPr>
          <p:cNvPr id="18" name="Shape 15"/>
          <p:cNvSpPr/>
          <p:nvPr/>
        </p:nvSpPr>
        <p:spPr>
          <a:xfrm>
            <a:off x="8092440" y="1882137"/>
            <a:ext cx="3520440" cy="2788920"/>
          </a:xfrm>
          <a:prstGeom prst="roundRect">
            <a:avLst>
              <a:gd name="adj" fmla="val 3279"/>
            </a:avLst>
          </a:prstGeom>
          <a:solidFill>
            <a:srgbClr val="0B3D52"/>
          </a:solidFill>
          <a:ln/>
          <a:effectLst>
            <a:outerShdw blurRad="88900" dist="38100" dir="8100000" algn="bl" rotWithShape="0">
              <a:srgbClr val="0B3D52">
                <a:alpha val="16000"/>
              </a:srgbClr>
            </a:outerShdw>
          </a:effectLst>
        </p:spPr>
      </p:sp>
      <p:sp>
        <p:nvSpPr>
          <p:cNvPr id="19" name="Text 16"/>
          <p:cNvSpPr/>
          <p:nvPr/>
        </p:nvSpPr>
        <p:spPr>
          <a:xfrm>
            <a:off x="8412480" y="2103120"/>
            <a:ext cx="2880360" cy="320040"/>
          </a:xfrm>
          <a:prstGeom prst="rect">
            <a:avLst/>
          </a:prstGeom>
          <a:noFill/>
          <a:ln/>
        </p:spPr>
        <p:txBody>
          <a:bodyPr wrap="square" lIns="0" tIns="0" rIns="0" bIns="0" rtlCol="0" anchor="ctr"/>
          <a:lstStyle/>
          <a:p>
            <a:pPr marL="0" indent="0">
              <a:buNone/>
            </a:pPr>
            <a:r>
              <a:rPr lang="en-US" sz="1200" b="1" kern="0" spc="200" dirty="0">
                <a:solidFill>
                  <a:srgbClr val="8FE3DA"/>
                </a:solidFill>
                <a:latin typeface="Calibri" pitchFamily="34" charset="0"/>
                <a:ea typeface="Calibri" pitchFamily="34" charset="-122"/>
                <a:cs typeface="Calibri" pitchFamily="34" charset="-120"/>
              </a:rPr>
              <a:t>PAGINATION</a:t>
            </a:r>
            <a:endParaRPr lang="en-US" sz="1200" dirty="0"/>
          </a:p>
        </p:txBody>
      </p:sp>
      <p:sp>
        <p:nvSpPr>
          <p:cNvPr id="20" name="Text 17"/>
          <p:cNvSpPr/>
          <p:nvPr/>
        </p:nvSpPr>
        <p:spPr>
          <a:xfrm>
            <a:off x="8412480" y="2423160"/>
            <a:ext cx="2880360" cy="731520"/>
          </a:xfrm>
          <a:prstGeom prst="rect">
            <a:avLst/>
          </a:prstGeom>
          <a:noFill/>
          <a:ln/>
        </p:spPr>
        <p:txBody>
          <a:bodyPr wrap="square" lIns="0" tIns="0" rIns="0" bIns="0" rtlCol="0" anchor="ctr"/>
          <a:lstStyle/>
          <a:p>
            <a:pPr marL="0" indent="0">
              <a:lnSpc>
                <a:spcPct val="125000"/>
              </a:lnSpc>
              <a:buNone/>
            </a:pPr>
            <a:r>
              <a:rPr lang="en-US" sz="1350" b="1" dirty="0">
                <a:solidFill>
                  <a:srgbClr val="2EC4B6"/>
                </a:solidFill>
                <a:latin typeface="Calibri" panose="020F0502020204030204" pitchFamily="34" charset="0"/>
                <a:ea typeface="Calibri" panose="020F0502020204030204" pitchFamily="34" charset="0"/>
                <a:cs typeface="Calibri" panose="020F0502020204030204" pitchFamily="34" charset="0"/>
              </a:rPr>
              <a:t>limit</a:t>
            </a:r>
            <a:r>
              <a:rPr lang="en-US" sz="1350" dirty="0">
                <a:solidFill>
                  <a:srgbClr val="FFFFFF"/>
                </a:solidFill>
                <a:latin typeface="Calibri" panose="020F0502020204030204" pitchFamily="34" charset="0"/>
                <a:ea typeface="Calibri" panose="020F0502020204030204" pitchFamily="34" charset="0"/>
                <a:cs typeface="Calibri" panose="020F0502020204030204" pitchFamily="34" charset="0"/>
              </a:rPr>
              <a:t>   taille de page</a:t>
            </a:r>
            <a:endParaRPr lang="en-US" sz="1350" dirty="0">
              <a:latin typeface="Calibri" panose="020F0502020204030204" pitchFamily="34" charset="0"/>
              <a:ea typeface="Calibri" panose="020F0502020204030204" pitchFamily="34" charset="0"/>
              <a:cs typeface="Calibri" panose="020F0502020204030204" pitchFamily="34" charset="0"/>
            </a:endParaRPr>
          </a:p>
          <a:p>
            <a:pPr marL="0" indent="0">
              <a:lnSpc>
                <a:spcPct val="125000"/>
              </a:lnSpc>
              <a:buNone/>
            </a:pPr>
            <a:r>
              <a:rPr lang="en-US" sz="1350" b="1" dirty="0">
                <a:solidFill>
                  <a:srgbClr val="2EC4B6"/>
                </a:solidFill>
                <a:latin typeface="Calibri" panose="020F0502020204030204" pitchFamily="34" charset="0"/>
                <a:ea typeface="Calibri" panose="020F0502020204030204" pitchFamily="34" charset="0"/>
                <a:cs typeface="Calibri" panose="020F0502020204030204" pitchFamily="34" charset="0"/>
              </a:rPr>
              <a:t>offset</a:t>
            </a:r>
            <a:r>
              <a:rPr lang="en-US" sz="1350" dirty="0">
                <a:solidFill>
                  <a:srgbClr val="FFFFFF"/>
                </a:solidFill>
                <a:latin typeface="Calibri" panose="020F0502020204030204" pitchFamily="34" charset="0"/>
                <a:ea typeface="Calibri" panose="020F0502020204030204" pitchFamily="34" charset="0"/>
                <a:cs typeface="Calibri" panose="020F0502020204030204" pitchFamily="34" charset="0"/>
              </a:rPr>
              <a:t>  position de départ</a:t>
            </a:r>
            <a:endParaRPr lang="en-US" sz="1350" dirty="0">
              <a:latin typeface="Calibri" panose="020F0502020204030204" pitchFamily="34" charset="0"/>
              <a:ea typeface="Calibri" panose="020F0502020204030204" pitchFamily="34" charset="0"/>
              <a:cs typeface="Calibri" panose="020F0502020204030204" pitchFamily="34" charset="0"/>
            </a:endParaRPr>
          </a:p>
        </p:txBody>
      </p:sp>
      <p:sp>
        <p:nvSpPr>
          <p:cNvPr id="21" name="Shape 18"/>
          <p:cNvSpPr/>
          <p:nvPr/>
        </p:nvSpPr>
        <p:spPr>
          <a:xfrm>
            <a:off x="8412480" y="3246120"/>
            <a:ext cx="2880360" cy="0"/>
          </a:xfrm>
          <a:prstGeom prst="line">
            <a:avLst/>
          </a:prstGeom>
          <a:noFill/>
          <a:ln w="12700">
            <a:solidFill>
              <a:srgbClr val="1C7293"/>
            </a:solidFill>
            <a:prstDash val="solid"/>
          </a:ln>
        </p:spPr>
      </p:sp>
      <p:sp>
        <p:nvSpPr>
          <p:cNvPr id="22" name="Text 19"/>
          <p:cNvSpPr/>
          <p:nvPr/>
        </p:nvSpPr>
        <p:spPr>
          <a:xfrm>
            <a:off x="8412480" y="3266735"/>
            <a:ext cx="2880360" cy="320040"/>
          </a:xfrm>
          <a:prstGeom prst="rect">
            <a:avLst/>
          </a:prstGeom>
          <a:noFill/>
          <a:ln/>
        </p:spPr>
        <p:txBody>
          <a:bodyPr wrap="square" lIns="0" tIns="0" rIns="0" bIns="0" rtlCol="0" anchor="ctr"/>
          <a:lstStyle/>
          <a:p>
            <a:pPr marL="0" indent="0">
              <a:buNone/>
            </a:pPr>
            <a:r>
              <a:rPr lang="en-US" sz="1200" b="1" kern="0" spc="200" dirty="0">
                <a:solidFill>
                  <a:srgbClr val="8FE3DA"/>
                </a:solidFill>
                <a:latin typeface="Calibri" pitchFamily="34" charset="0"/>
                <a:ea typeface="Calibri" pitchFamily="34" charset="-122"/>
                <a:cs typeface="Calibri" pitchFamily="34" charset="-120"/>
              </a:rPr>
              <a:t>CACHE</a:t>
            </a:r>
            <a:endParaRPr lang="en-US" sz="1200" dirty="0"/>
          </a:p>
        </p:txBody>
      </p:sp>
      <p:sp>
        <p:nvSpPr>
          <p:cNvPr id="23" name="Text 20"/>
          <p:cNvSpPr/>
          <p:nvPr/>
        </p:nvSpPr>
        <p:spPr>
          <a:xfrm>
            <a:off x="8412480" y="3586775"/>
            <a:ext cx="2880360" cy="914400"/>
          </a:xfrm>
          <a:prstGeom prst="rect">
            <a:avLst/>
          </a:prstGeom>
          <a:noFill/>
          <a:ln/>
        </p:spPr>
        <p:txBody>
          <a:bodyPr wrap="square" lIns="0" tIns="0" rIns="0" bIns="0" rtlCol="0" anchor="ctr"/>
          <a:lstStyle/>
          <a:p>
            <a:pPr marL="0" indent="0">
              <a:lnSpc>
                <a:spcPct val="118000"/>
              </a:lnSpc>
              <a:buNone/>
            </a:pPr>
            <a:r>
              <a:rPr lang="en-US" sz="1300" dirty="0">
                <a:solidFill>
                  <a:srgbClr val="8FE3DA"/>
                </a:solidFill>
                <a:latin typeface="Calibri" pitchFamily="34" charset="0"/>
                <a:ea typeface="Calibri" pitchFamily="34" charset="-122"/>
                <a:cs typeface="Calibri" pitchFamily="34" charset="-120"/>
              </a:rPr>
              <a:t>Évite de relancer des appels identiques : moins de requêtes réseau, exécution nettement accélérée sur les requêtes répétées.</a:t>
            </a:r>
            <a:endParaRPr lang="en-US" sz="1300" dirty="0"/>
          </a:p>
        </p:txBody>
      </p:sp>
      <p:sp>
        <p:nvSpPr>
          <p:cNvPr id="24" name="Text 21"/>
          <p:cNvSpPr/>
          <p:nvPr/>
        </p:nvSpPr>
        <p:spPr>
          <a:xfrm>
            <a:off x="548640" y="4937760"/>
            <a:ext cx="11064240" cy="731520"/>
          </a:xfrm>
          <a:prstGeom prst="rect">
            <a:avLst/>
          </a:prstGeom>
          <a:noFill/>
          <a:ln/>
        </p:spPr>
        <p:txBody>
          <a:bodyPr wrap="square" lIns="0" tIns="0" rIns="0" bIns="0" rtlCol="0" anchor="ctr"/>
          <a:lstStyle/>
          <a:p>
            <a:pPr marL="0" indent="0">
              <a:lnSpc>
                <a:spcPct val="115000"/>
              </a:lnSpc>
              <a:buNone/>
            </a:pPr>
            <a:r>
              <a:rPr lang="en-US" sz="1450" b="1" u="sng" dirty="0">
                <a:solidFill>
                  <a:srgbClr val="1C7293"/>
                </a:solidFill>
                <a:latin typeface="Calibri" pitchFamily="34" charset="0"/>
                <a:ea typeface="Calibri" pitchFamily="34" charset="-122"/>
                <a:cs typeface="Calibri" pitchFamily="34" charset="-120"/>
              </a:rPr>
              <a:t>Note bien:</a:t>
            </a:r>
            <a:r>
              <a:rPr lang="en-US" sz="1450" b="1" dirty="0">
                <a:solidFill>
                  <a:srgbClr val="1C7293"/>
                </a:solidFill>
                <a:latin typeface="Calibri" pitchFamily="34" charset="0"/>
                <a:ea typeface="Calibri" pitchFamily="34" charset="-122"/>
                <a:cs typeface="Calibri" pitchFamily="34" charset="-120"/>
              </a:rPr>
              <a:t> </a:t>
            </a:r>
            <a:r>
              <a:rPr lang="en-US" sz="1450" i="1" dirty="0">
                <a:solidFill>
                  <a:srgbClr val="3C5560"/>
                </a:solidFill>
                <a:latin typeface="Calibri" pitchFamily="34" charset="0"/>
                <a:ea typeface="Calibri" pitchFamily="34" charset="-122"/>
                <a:cs typeface="Calibri" pitchFamily="34" charset="-120"/>
              </a:rPr>
              <a:t>« Tout récupérer » ne signifie pas « tout </a:t>
            </a:r>
            <a:r>
              <a:rPr lang="en-US" sz="1450" i="1" dirty="0" err="1">
                <a:solidFill>
                  <a:srgbClr val="3C5560"/>
                </a:solidFill>
                <a:latin typeface="Calibri" pitchFamily="34" charset="0"/>
                <a:ea typeface="Calibri" pitchFamily="34" charset="-122"/>
                <a:cs typeface="Calibri" pitchFamily="34" charset="-120"/>
              </a:rPr>
              <a:t>afficher</a:t>
            </a:r>
            <a:r>
              <a:rPr lang="en-US" sz="1450" i="1" dirty="0">
                <a:solidFill>
                  <a:srgbClr val="3C5560"/>
                </a:solidFill>
                <a:latin typeface="Calibri" pitchFamily="34" charset="0"/>
                <a:ea typeface="Calibri" pitchFamily="34" charset="-122"/>
                <a:cs typeface="Calibri" pitchFamily="34" charset="-120"/>
              </a:rPr>
              <a:t> ». </a:t>
            </a:r>
            <a:r>
              <a:rPr lang="en-US" sz="1450" i="1" dirty="0" err="1">
                <a:solidFill>
                  <a:srgbClr val="3C5560"/>
                </a:solidFill>
                <a:latin typeface="Calibri" pitchFamily="34" charset="0"/>
                <a:ea typeface="Calibri" pitchFamily="34" charset="-122"/>
                <a:cs typeface="Calibri" pitchFamily="34" charset="-120"/>
              </a:rPr>
              <a:t>Ils</a:t>
            </a:r>
            <a:r>
              <a:rPr lang="en-US" sz="1450" i="1" dirty="0">
                <a:solidFill>
                  <a:srgbClr val="3C5560"/>
                </a:solidFill>
                <a:latin typeface="Calibri" pitchFamily="34" charset="0"/>
                <a:ea typeface="Calibri" pitchFamily="34" charset="-122"/>
                <a:cs typeface="Calibri" pitchFamily="34" charset="-120"/>
              </a:rPr>
              <a:t> y a des limites de </a:t>
            </a:r>
            <a:r>
              <a:rPr lang="en-US" sz="1450" i="1" dirty="0" err="1">
                <a:solidFill>
                  <a:srgbClr val="3C5560"/>
                </a:solidFill>
                <a:latin typeface="Calibri" pitchFamily="34" charset="0"/>
                <a:ea typeface="Calibri" pitchFamily="34" charset="-122"/>
                <a:cs typeface="Calibri" pitchFamily="34" charset="-120"/>
              </a:rPr>
              <a:t>sécurité</a:t>
            </a:r>
            <a:r>
              <a:rPr lang="en-US" sz="1450" i="1" dirty="0">
                <a:solidFill>
                  <a:srgbClr val="3C5560"/>
                </a:solidFill>
                <a:latin typeface="Calibri" pitchFamily="34" charset="0"/>
                <a:ea typeface="Calibri" pitchFamily="34" charset="-122"/>
                <a:cs typeface="Calibri" pitchFamily="34" charset="-120"/>
              </a:rPr>
              <a:t> qui </a:t>
            </a:r>
            <a:r>
              <a:rPr lang="en-US" sz="1450" i="1" dirty="0" err="1">
                <a:solidFill>
                  <a:srgbClr val="3C5560"/>
                </a:solidFill>
                <a:latin typeface="Calibri" pitchFamily="34" charset="0"/>
                <a:ea typeface="Calibri" pitchFamily="34" charset="-122"/>
                <a:cs typeface="Calibri" pitchFamily="34" charset="-120"/>
              </a:rPr>
              <a:t>restent</a:t>
            </a:r>
            <a:r>
              <a:rPr lang="en-US" sz="1450" i="1" dirty="0">
                <a:solidFill>
                  <a:srgbClr val="3C5560"/>
                </a:solidFill>
                <a:latin typeface="Calibri" pitchFamily="34" charset="0"/>
                <a:ea typeface="Calibri" pitchFamily="34" charset="-122"/>
                <a:cs typeface="Calibri" pitchFamily="34" charset="-120"/>
              </a:rPr>
              <a:t> nécessaires même en mode exhaustif.</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TRACE D'EXÉCUTION</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Que se passe-t-il en coulisses ?</a:t>
            </a:r>
            <a:endParaRPr lang="en-US" sz="3000" dirty="0"/>
          </a:p>
        </p:txBody>
      </p:sp>
      <p:sp>
        <p:nvSpPr>
          <p:cNvPr id="6" name="Shape 3"/>
          <p:cNvSpPr/>
          <p:nvPr/>
        </p:nvSpPr>
        <p:spPr>
          <a:xfrm>
            <a:off x="548640" y="1874520"/>
            <a:ext cx="3474720" cy="2011680"/>
          </a:xfrm>
          <a:prstGeom prst="roundRect">
            <a:avLst>
              <a:gd name="adj" fmla="val 4545"/>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7" name="Shape 4"/>
          <p:cNvSpPr/>
          <p:nvPr/>
        </p:nvSpPr>
        <p:spPr>
          <a:xfrm>
            <a:off x="868680" y="2194560"/>
            <a:ext cx="640080" cy="640080"/>
          </a:xfrm>
          <a:prstGeom prst="ellipse">
            <a:avLst/>
          </a:prstGeom>
          <a:solidFill>
            <a:srgbClr val="0B3D52"/>
          </a:solidFill>
          <a:ln/>
        </p:spPr>
      </p:sp>
      <p:pic>
        <p:nvPicPr>
          <p:cNvPr id="8" name="Image 1" descr="preencoded.png"/>
          <p:cNvPicPr>
            <a:picLocks noChangeAspect="1"/>
          </p:cNvPicPr>
          <p:nvPr/>
        </p:nvPicPr>
        <p:blipFill>
          <a:blip r:embed="rId3"/>
          <a:stretch>
            <a:fillRect/>
          </a:stretch>
        </p:blipFill>
        <p:spPr>
          <a:xfrm>
            <a:off x="1024128" y="2350008"/>
            <a:ext cx="329184" cy="329184"/>
          </a:xfrm>
          <a:prstGeom prst="rect">
            <a:avLst/>
          </a:prstGeom>
        </p:spPr>
      </p:pic>
      <p:sp>
        <p:nvSpPr>
          <p:cNvPr id="9" name="Text 5"/>
          <p:cNvSpPr/>
          <p:nvPr/>
        </p:nvSpPr>
        <p:spPr>
          <a:xfrm>
            <a:off x="1645920" y="2212848"/>
            <a:ext cx="2194560" cy="603504"/>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1 · Parser</a:t>
            </a:r>
            <a:endParaRPr lang="en-US" sz="1800" dirty="0"/>
          </a:p>
        </p:txBody>
      </p:sp>
      <p:sp>
        <p:nvSpPr>
          <p:cNvPr id="10" name="Text 6"/>
          <p:cNvSpPr/>
          <p:nvPr/>
        </p:nvSpPr>
        <p:spPr>
          <a:xfrm>
            <a:off x="868680" y="2971800"/>
            <a:ext cx="2834640" cy="822960"/>
          </a:xfrm>
          <a:prstGeom prst="rect">
            <a:avLst/>
          </a:prstGeom>
          <a:noFill/>
          <a:ln/>
        </p:spPr>
        <p:txBody>
          <a:bodyPr wrap="square" lIns="0" tIns="0" rIns="0" bIns="0" rtlCol="0" anchor="ctr"/>
          <a:lstStyle/>
          <a:p>
            <a:pPr marL="0" indent="0">
              <a:lnSpc>
                <a:spcPct val="115000"/>
              </a:lnSpc>
              <a:buNone/>
            </a:pPr>
            <a:r>
              <a:rPr lang="en-US" sz="1300" dirty="0">
                <a:solidFill>
                  <a:srgbClr val="3C5560"/>
                </a:solidFill>
                <a:latin typeface="Calibri" pitchFamily="34" charset="0"/>
                <a:ea typeface="Calibri" pitchFamily="34" charset="-122"/>
                <a:cs typeface="Calibri" pitchFamily="34" charset="-120"/>
              </a:rPr>
              <a:t>La requête texte devient un AST en quelques millisecondes : structure logique, variables identifiées, clauses extraites.</a:t>
            </a:r>
            <a:endParaRPr lang="en-US" sz="1300" dirty="0"/>
          </a:p>
        </p:txBody>
      </p:sp>
      <p:sp>
        <p:nvSpPr>
          <p:cNvPr id="11" name="Shape 7"/>
          <p:cNvSpPr/>
          <p:nvPr/>
        </p:nvSpPr>
        <p:spPr>
          <a:xfrm>
            <a:off x="4270248" y="1874520"/>
            <a:ext cx="3474720" cy="2011680"/>
          </a:xfrm>
          <a:prstGeom prst="roundRect">
            <a:avLst>
              <a:gd name="adj" fmla="val 4545"/>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12" name="Shape 8"/>
          <p:cNvSpPr/>
          <p:nvPr/>
        </p:nvSpPr>
        <p:spPr>
          <a:xfrm>
            <a:off x="4590288" y="2194560"/>
            <a:ext cx="640080" cy="640080"/>
          </a:xfrm>
          <a:prstGeom prst="ellipse">
            <a:avLst/>
          </a:prstGeom>
          <a:solidFill>
            <a:srgbClr val="0B3D52"/>
          </a:solidFill>
          <a:ln/>
        </p:spPr>
      </p:sp>
      <p:pic>
        <p:nvPicPr>
          <p:cNvPr id="13" name="Image 2" descr="preencoded.png"/>
          <p:cNvPicPr>
            <a:picLocks noChangeAspect="1"/>
          </p:cNvPicPr>
          <p:nvPr/>
        </p:nvPicPr>
        <p:blipFill>
          <a:blip r:embed="rId4"/>
          <a:stretch>
            <a:fillRect/>
          </a:stretch>
        </p:blipFill>
        <p:spPr>
          <a:xfrm>
            <a:off x="4745736" y="2350008"/>
            <a:ext cx="329184" cy="329184"/>
          </a:xfrm>
          <a:prstGeom prst="rect">
            <a:avLst/>
          </a:prstGeom>
        </p:spPr>
      </p:pic>
      <p:sp>
        <p:nvSpPr>
          <p:cNvPr id="14" name="Text 9"/>
          <p:cNvSpPr/>
          <p:nvPr/>
        </p:nvSpPr>
        <p:spPr>
          <a:xfrm>
            <a:off x="5367528" y="2212848"/>
            <a:ext cx="2194560" cy="603504"/>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2 · Planifier</a:t>
            </a:r>
            <a:endParaRPr lang="en-US" sz="1800" dirty="0"/>
          </a:p>
        </p:txBody>
      </p:sp>
      <p:sp>
        <p:nvSpPr>
          <p:cNvPr id="15" name="Text 10"/>
          <p:cNvSpPr/>
          <p:nvPr/>
        </p:nvSpPr>
        <p:spPr>
          <a:xfrm>
            <a:off x="4590288" y="2971800"/>
            <a:ext cx="2834640" cy="822960"/>
          </a:xfrm>
          <a:prstGeom prst="rect">
            <a:avLst/>
          </a:prstGeom>
          <a:noFill/>
          <a:ln/>
        </p:spPr>
        <p:txBody>
          <a:bodyPr wrap="square" lIns="0" tIns="0" rIns="0" bIns="0" rtlCol="0" anchor="ctr"/>
          <a:lstStyle/>
          <a:p>
            <a:pPr marL="0" indent="0">
              <a:lnSpc>
                <a:spcPct val="115000"/>
              </a:lnSpc>
              <a:buNone/>
            </a:pPr>
            <a:r>
              <a:rPr lang="en-US" sz="1300" dirty="0">
                <a:solidFill>
                  <a:srgbClr val="3C5560"/>
                </a:solidFill>
                <a:latin typeface="Calibri" pitchFamily="34" charset="0"/>
                <a:ea typeface="Calibri" pitchFamily="34" charset="-122"/>
                <a:cs typeface="Calibri" pitchFamily="34" charset="-120"/>
              </a:rPr>
              <a:t>L'heuristique trie les clauses : la plus discriminante en premier, pour réduire vite l'espace de recherche.</a:t>
            </a:r>
            <a:endParaRPr lang="en-US" sz="1300" dirty="0"/>
          </a:p>
        </p:txBody>
      </p:sp>
      <p:sp>
        <p:nvSpPr>
          <p:cNvPr id="16" name="Shape 11"/>
          <p:cNvSpPr/>
          <p:nvPr/>
        </p:nvSpPr>
        <p:spPr>
          <a:xfrm>
            <a:off x="7991856" y="1874520"/>
            <a:ext cx="3474720" cy="2011680"/>
          </a:xfrm>
          <a:prstGeom prst="roundRect">
            <a:avLst>
              <a:gd name="adj" fmla="val 4545"/>
            </a:avLst>
          </a:prstGeom>
          <a:solidFill>
            <a:srgbClr val="F2F7F8"/>
          </a:solidFill>
          <a:ln w="12700">
            <a:solidFill>
              <a:srgbClr val="CDDDE0"/>
            </a:solidFill>
            <a:prstDash val="solid"/>
          </a:ln>
          <a:effectLst>
            <a:outerShdw blurRad="88900" dist="38100" dir="8100000" algn="bl" rotWithShape="0">
              <a:srgbClr val="0B3D52">
                <a:alpha val="16000"/>
              </a:srgbClr>
            </a:outerShdw>
          </a:effectLst>
        </p:spPr>
      </p:sp>
      <p:sp>
        <p:nvSpPr>
          <p:cNvPr id="17" name="Shape 12"/>
          <p:cNvSpPr/>
          <p:nvPr/>
        </p:nvSpPr>
        <p:spPr>
          <a:xfrm>
            <a:off x="8311896" y="2194560"/>
            <a:ext cx="640080" cy="640080"/>
          </a:xfrm>
          <a:prstGeom prst="ellipse">
            <a:avLst/>
          </a:prstGeom>
          <a:solidFill>
            <a:srgbClr val="0B3D52"/>
          </a:solidFill>
          <a:ln/>
        </p:spPr>
      </p:sp>
      <p:pic>
        <p:nvPicPr>
          <p:cNvPr id="18" name="Image 3" descr="preencoded.png"/>
          <p:cNvPicPr>
            <a:picLocks noChangeAspect="1"/>
          </p:cNvPicPr>
          <p:nvPr/>
        </p:nvPicPr>
        <p:blipFill>
          <a:blip r:embed="rId5"/>
          <a:stretch>
            <a:fillRect/>
          </a:stretch>
        </p:blipFill>
        <p:spPr>
          <a:xfrm>
            <a:off x="8467344" y="2350008"/>
            <a:ext cx="329184" cy="329184"/>
          </a:xfrm>
          <a:prstGeom prst="rect">
            <a:avLst/>
          </a:prstGeom>
        </p:spPr>
      </p:pic>
      <p:sp>
        <p:nvSpPr>
          <p:cNvPr id="19" name="Text 13"/>
          <p:cNvSpPr/>
          <p:nvPr/>
        </p:nvSpPr>
        <p:spPr>
          <a:xfrm>
            <a:off x="9089136" y="2212848"/>
            <a:ext cx="2194560" cy="603504"/>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3 · Exécuter</a:t>
            </a:r>
            <a:endParaRPr lang="en-US" sz="1800" dirty="0"/>
          </a:p>
        </p:txBody>
      </p:sp>
      <p:sp>
        <p:nvSpPr>
          <p:cNvPr id="20" name="Text 14"/>
          <p:cNvSpPr/>
          <p:nvPr/>
        </p:nvSpPr>
        <p:spPr>
          <a:xfrm>
            <a:off x="8311896" y="2971800"/>
            <a:ext cx="2834640" cy="822960"/>
          </a:xfrm>
          <a:prstGeom prst="rect">
            <a:avLst/>
          </a:prstGeom>
          <a:noFill/>
          <a:ln/>
        </p:spPr>
        <p:txBody>
          <a:bodyPr wrap="square" lIns="0" tIns="0" rIns="0" bIns="0" rtlCol="0" anchor="ctr"/>
          <a:lstStyle/>
          <a:p>
            <a:pPr marL="0" indent="0">
              <a:lnSpc>
                <a:spcPct val="115000"/>
              </a:lnSpc>
              <a:buNone/>
            </a:pPr>
            <a:r>
              <a:rPr lang="en-US" sz="1300" dirty="0">
                <a:solidFill>
                  <a:srgbClr val="3C5560"/>
                </a:solidFill>
                <a:latin typeface="Calibri" pitchFamily="34" charset="0"/>
                <a:ea typeface="Calibri" pitchFamily="34" charset="-122"/>
                <a:cs typeface="Calibri" pitchFamily="34" charset="-120"/>
              </a:rPr>
              <a:t>Le moteur appelle l'API, intersecte par identifiant, joint si nécessaire, trie par score, renvoie le JSON.</a:t>
            </a:r>
            <a:endParaRPr lang="en-US" sz="1300" dirty="0"/>
          </a:p>
        </p:txBody>
      </p:sp>
      <p:sp>
        <p:nvSpPr>
          <p:cNvPr id="21" name="Shape 15"/>
          <p:cNvSpPr/>
          <p:nvPr/>
        </p:nvSpPr>
        <p:spPr>
          <a:xfrm>
            <a:off x="548640" y="4160520"/>
            <a:ext cx="11064240" cy="1783080"/>
          </a:xfrm>
          <a:prstGeom prst="roundRect">
            <a:avLst>
              <a:gd name="adj" fmla="val 5128"/>
            </a:avLst>
          </a:prstGeom>
          <a:solidFill>
            <a:srgbClr val="0B3D52"/>
          </a:solidFill>
          <a:ln/>
        </p:spPr>
      </p:sp>
      <p:pic>
        <p:nvPicPr>
          <p:cNvPr id="22" name="Image 4" descr="preencoded.png"/>
          <p:cNvPicPr>
            <a:picLocks noChangeAspect="1"/>
          </p:cNvPicPr>
          <p:nvPr/>
        </p:nvPicPr>
        <p:blipFill>
          <a:blip r:embed="rId6"/>
          <a:stretch>
            <a:fillRect/>
          </a:stretch>
        </p:blipFill>
        <p:spPr>
          <a:xfrm>
            <a:off x="868680" y="4526280"/>
            <a:ext cx="457200" cy="457200"/>
          </a:xfrm>
          <a:prstGeom prst="rect">
            <a:avLst/>
          </a:prstGeom>
        </p:spPr>
      </p:pic>
      <p:sp>
        <p:nvSpPr>
          <p:cNvPr id="23" name="Text 16"/>
          <p:cNvSpPr/>
          <p:nvPr/>
        </p:nvSpPr>
        <p:spPr>
          <a:xfrm>
            <a:off x="1463040" y="4480560"/>
            <a:ext cx="9875520" cy="50292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Exemple chronométré sur une requête simple</a:t>
            </a:r>
            <a:endParaRPr lang="en-US" sz="1900" dirty="0"/>
          </a:p>
        </p:txBody>
      </p:sp>
      <p:sp>
        <p:nvSpPr>
          <p:cNvPr id="24" name="Text 17"/>
          <p:cNvSpPr/>
          <p:nvPr/>
        </p:nvSpPr>
        <p:spPr>
          <a:xfrm>
            <a:off x="868680" y="5029200"/>
            <a:ext cx="10515600" cy="868680"/>
          </a:xfrm>
          <a:prstGeom prst="rect">
            <a:avLst/>
          </a:prstGeom>
          <a:noFill/>
          <a:ln/>
        </p:spPr>
        <p:txBody>
          <a:bodyPr wrap="square" lIns="0" tIns="0" rIns="0" bIns="0" rtlCol="0" anchor="ctr"/>
          <a:lstStyle/>
          <a:p>
            <a:pPr marL="0" indent="0">
              <a:lnSpc>
                <a:spcPct val="118000"/>
              </a:lnSpc>
              <a:buNone/>
            </a:pPr>
            <a:r>
              <a:rPr lang="en-US" sz="1350" dirty="0">
                <a:solidFill>
                  <a:srgbClr val="8FE3DA"/>
                </a:solidFill>
                <a:latin typeface="Calibri" pitchFamily="34" charset="0"/>
                <a:ea typeface="Calibri" pitchFamily="34" charset="-122"/>
                <a:cs typeface="Calibri" pitchFamily="34" charset="-120"/>
              </a:rPr>
              <a:t>Pour la requête ($x r_isa fruit) ET ($x r_has_color rouge) — parsing ~3 ms, planification ~1 ms, exécution ~120 ms (12 appels API dont 8 servis par le cache), 47 résultats triés par poids JDM. Chaque étape est journalisée et renvoyée au client dans le JSON de réponse, ce qui permet de visualiser le plan choisi et les preuves associées à chaque résultat.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OPTIMISATION</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L'heuristique d'ordre d'exécution</a:t>
            </a:r>
            <a:endParaRPr lang="en-US" sz="3000" dirty="0"/>
          </a:p>
        </p:txBody>
      </p:sp>
      <p:sp>
        <p:nvSpPr>
          <p:cNvPr id="6" name="Text 3"/>
          <p:cNvSpPr/>
          <p:nvPr/>
        </p:nvSpPr>
        <p:spPr>
          <a:xfrm>
            <a:off x="548640" y="1783080"/>
            <a:ext cx="11064240" cy="502920"/>
          </a:xfrm>
          <a:prstGeom prst="rect">
            <a:avLst/>
          </a:prstGeom>
          <a:noFill/>
          <a:ln/>
        </p:spPr>
        <p:txBody>
          <a:bodyPr wrap="square" lIns="0" tIns="0" rIns="0" bIns="0" rtlCol="0" anchor="ctr"/>
          <a:lstStyle/>
          <a:p>
            <a:pPr marL="0" indent="0">
              <a:lnSpc>
                <a:spcPct val="115000"/>
              </a:lnSpc>
              <a:buNone/>
            </a:pPr>
            <a:r>
              <a:rPr lang="en-US" sz="1550" b="1" dirty="0">
                <a:solidFill>
                  <a:srgbClr val="12303C"/>
                </a:solidFill>
                <a:latin typeface="Calibri" pitchFamily="34" charset="0"/>
                <a:ea typeface="Calibri" pitchFamily="34" charset="-122"/>
                <a:cs typeface="Calibri" pitchFamily="34" charset="-120"/>
              </a:rPr>
              <a:t>L'ordre des clauses change tout. </a:t>
            </a:r>
            <a:r>
              <a:rPr lang="en-US" sz="1550" dirty="0">
                <a:solidFill>
                  <a:srgbClr val="3C5560"/>
                </a:solidFill>
                <a:latin typeface="Calibri" pitchFamily="34" charset="0"/>
                <a:ea typeface="Calibri" pitchFamily="34" charset="-122"/>
                <a:cs typeface="Calibri" pitchFamily="34" charset="-120"/>
              </a:rPr>
              <a:t>Principe : commencer par ce qui réduit le plus vite le nombre de candidats.</a:t>
            </a:r>
            <a:endParaRPr lang="en-US" sz="1550" dirty="0"/>
          </a:p>
        </p:txBody>
      </p:sp>
      <p:sp>
        <p:nvSpPr>
          <p:cNvPr id="7" name="Text 4"/>
          <p:cNvSpPr/>
          <p:nvPr/>
        </p:nvSpPr>
        <p:spPr>
          <a:xfrm>
            <a:off x="548640" y="2331720"/>
            <a:ext cx="7315200" cy="365760"/>
          </a:xfrm>
          <a:prstGeom prst="rect">
            <a:avLst/>
          </a:prstGeom>
          <a:noFill/>
          <a:ln/>
        </p:spPr>
        <p:txBody>
          <a:bodyPr wrap="square" lIns="0" tIns="0" rIns="0" bIns="0" rtlCol="0" anchor="ctr"/>
          <a:lstStyle/>
          <a:p>
            <a:pPr marL="0" indent="0">
              <a:buNone/>
            </a:pPr>
            <a:r>
              <a:rPr lang="en-US" sz="1400" b="1" dirty="0">
                <a:solidFill>
                  <a:srgbClr val="1C7293"/>
                </a:solidFill>
                <a:latin typeface="Consolas" pitchFamily="34" charset="0"/>
                <a:ea typeface="Consolas" pitchFamily="34" charset="-122"/>
                <a:cs typeface="Consolas" pitchFamily="34" charset="-120"/>
              </a:rPr>
              <a:t>($x r_isa animal) ET ($x r_has_part queue)</a:t>
            </a:r>
            <a:endParaRPr lang="en-US" sz="1400" dirty="0"/>
          </a:p>
        </p:txBody>
      </p:sp>
      <p:sp>
        <p:nvSpPr>
          <p:cNvPr id="8" name="Shape 5"/>
          <p:cNvSpPr/>
          <p:nvPr/>
        </p:nvSpPr>
        <p:spPr>
          <a:xfrm>
            <a:off x="548640" y="2834640"/>
            <a:ext cx="5394960" cy="1463040"/>
          </a:xfrm>
          <a:prstGeom prst="roundRect">
            <a:avLst>
              <a:gd name="adj" fmla="val 6250"/>
            </a:avLst>
          </a:prstGeom>
          <a:solidFill>
            <a:srgbClr val="F2F7F8"/>
          </a:solidFill>
          <a:ln w="12700">
            <a:solidFill>
              <a:srgbClr val="CDDDE0"/>
            </a:solidFill>
            <a:prstDash val="solid"/>
          </a:ln>
        </p:spPr>
      </p:sp>
      <p:sp>
        <p:nvSpPr>
          <p:cNvPr id="9" name="Text 6"/>
          <p:cNvSpPr/>
          <p:nvPr/>
        </p:nvSpPr>
        <p:spPr>
          <a:xfrm>
            <a:off x="822960" y="2999232"/>
            <a:ext cx="3566160" cy="365760"/>
          </a:xfrm>
          <a:prstGeom prst="rect">
            <a:avLst/>
          </a:prstGeom>
          <a:noFill/>
          <a:ln/>
        </p:spPr>
        <p:txBody>
          <a:bodyPr wrap="square" lIns="0" tIns="0" rIns="0" bIns="0" rtlCol="0" anchor="ctr"/>
          <a:lstStyle/>
          <a:p>
            <a:pPr marL="0" indent="0">
              <a:buNone/>
            </a:pPr>
            <a:r>
              <a:rPr lang="en-US" sz="1600" b="1" dirty="0">
                <a:solidFill>
                  <a:srgbClr val="12303C"/>
                </a:solidFill>
                <a:latin typeface="Georgia" pitchFamily="34" charset="0"/>
                <a:ea typeface="Georgia" pitchFamily="34" charset="-122"/>
                <a:cs typeface="Georgia" pitchFamily="34" charset="-120"/>
              </a:rPr>
              <a:t>Stratégie naïve</a:t>
            </a:r>
            <a:endParaRPr lang="en-US" sz="1600" dirty="0"/>
          </a:p>
        </p:txBody>
      </p:sp>
      <p:sp>
        <p:nvSpPr>
          <p:cNvPr id="10" name="Shape 7"/>
          <p:cNvSpPr/>
          <p:nvPr/>
        </p:nvSpPr>
        <p:spPr>
          <a:xfrm>
            <a:off x="4389120" y="3017520"/>
            <a:ext cx="1280160" cy="384048"/>
          </a:xfrm>
          <a:prstGeom prst="roundRect">
            <a:avLst>
              <a:gd name="adj" fmla="val 50000"/>
            </a:avLst>
          </a:prstGeom>
          <a:solidFill>
            <a:srgbClr val="3C5560"/>
          </a:solidFill>
          <a:ln/>
        </p:spPr>
      </p:sp>
      <p:sp>
        <p:nvSpPr>
          <p:cNvPr id="11" name="Text 8"/>
          <p:cNvSpPr/>
          <p:nvPr/>
        </p:nvSpPr>
        <p:spPr>
          <a:xfrm>
            <a:off x="4389120" y="3017520"/>
            <a:ext cx="128016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Coûteux</a:t>
            </a:r>
            <a:endParaRPr lang="en-US" sz="1250" dirty="0"/>
          </a:p>
        </p:txBody>
      </p:sp>
      <p:sp>
        <p:nvSpPr>
          <p:cNvPr id="12" name="Text 9"/>
          <p:cNvSpPr/>
          <p:nvPr/>
        </p:nvSpPr>
        <p:spPr>
          <a:xfrm>
            <a:off x="822960" y="3474720"/>
            <a:ext cx="4846320" cy="731520"/>
          </a:xfrm>
          <a:prstGeom prst="rect">
            <a:avLst/>
          </a:prstGeom>
          <a:noFill/>
          <a:ln/>
        </p:spPr>
        <p:txBody>
          <a:bodyPr wrap="square" lIns="0" tIns="0" rIns="0" bIns="0" rtlCol="0" anchor="ctr"/>
          <a:lstStyle/>
          <a:p>
            <a:pPr marL="0" indent="0">
              <a:lnSpc>
                <a:spcPct val="115000"/>
              </a:lnSpc>
              <a:buNone/>
            </a:pPr>
            <a:r>
              <a:rPr lang="en-US" sz="1350" dirty="0">
                <a:solidFill>
                  <a:srgbClr val="3C5560"/>
                </a:solidFill>
                <a:latin typeface="Calibri" pitchFamily="34" charset="0"/>
                <a:ea typeface="Calibri" pitchFamily="34" charset="-122"/>
                <a:cs typeface="Calibri" pitchFamily="34" charset="-120"/>
              </a:rPr>
              <a:t>Récupérer TOUS les animaux (liste énorme), puis filtrer ceux qui ont une queue.</a:t>
            </a:r>
            <a:endParaRPr lang="en-US" sz="1350" dirty="0"/>
          </a:p>
        </p:txBody>
      </p:sp>
      <p:sp>
        <p:nvSpPr>
          <p:cNvPr id="13" name="Shape 10"/>
          <p:cNvSpPr/>
          <p:nvPr/>
        </p:nvSpPr>
        <p:spPr>
          <a:xfrm>
            <a:off x="6263640" y="2834640"/>
            <a:ext cx="5394960" cy="1463040"/>
          </a:xfrm>
          <a:prstGeom prst="roundRect">
            <a:avLst>
              <a:gd name="adj" fmla="val 6250"/>
            </a:avLst>
          </a:prstGeom>
          <a:solidFill>
            <a:srgbClr val="E6F1F2"/>
          </a:solidFill>
          <a:ln w="12700">
            <a:solidFill>
              <a:srgbClr val="CDDDE0"/>
            </a:solidFill>
            <a:prstDash val="solid"/>
          </a:ln>
        </p:spPr>
      </p:sp>
      <p:sp>
        <p:nvSpPr>
          <p:cNvPr id="14" name="Text 11"/>
          <p:cNvSpPr/>
          <p:nvPr/>
        </p:nvSpPr>
        <p:spPr>
          <a:xfrm>
            <a:off x="6537960" y="2999232"/>
            <a:ext cx="3566160" cy="365760"/>
          </a:xfrm>
          <a:prstGeom prst="rect">
            <a:avLst/>
          </a:prstGeom>
          <a:noFill/>
          <a:ln/>
        </p:spPr>
        <p:txBody>
          <a:bodyPr wrap="square" lIns="0" tIns="0" rIns="0" bIns="0" rtlCol="0" anchor="ctr"/>
          <a:lstStyle/>
          <a:p>
            <a:pPr marL="0" indent="0">
              <a:buNone/>
            </a:pPr>
            <a:r>
              <a:rPr lang="en-US" sz="1600" b="1" dirty="0">
                <a:solidFill>
                  <a:srgbClr val="12303C"/>
                </a:solidFill>
                <a:latin typeface="Georgia" pitchFamily="34" charset="0"/>
                <a:ea typeface="Georgia" pitchFamily="34" charset="-122"/>
                <a:cs typeface="Georgia" pitchFamily="34" charset="-120"/>
              </a:rPr>
              <a:t>Stratégie heuristique</a:t>
            </a:r>
            <a:endParaRPr lang="en-US" sz="1600" dirty="0"/>
          </a:p>
        </p:txBody>
      </p:sp>
      <p:sp>
        <p:nvSpPr>
          <p:cNvPr id="15" name="Shape 12"/>
          <p:cNvSpPr/>
          <p:nvPr/>
        </p:nvSpPr>
        <p:spPr>
          <a:xfrm>
            <a:off x="10104120" y="3017520"/>
            <a:ext cx="1280160" cy="384048"/>
          </a:xfrm>
          <a:prstGeom prst="roundRect">
            <a:avLst>
              <a:gd name="adj" fmla="val 50000"/>
            </a:avLst>
          </a:prstGeom>
          <a:solidFill>
            <a:srgbClr val="2EC4B6"/>
          </a:solidFill>
          <a:ln/>
        </p:spPr>
      </p:sp>
      <p:sp>
        <p:nvSpPr>
          <p:cNvPr id="16" name="Text 13"/>
          <p:cNvSpPr/>
          <p:nvPr/>
        </p:nvSpPr>
        <p:spPr>
          <a:xfrm>
            <a:off x="10104120" y="3017520"/>
            <a:ext cx="128016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Efficace</a:t>
            </a:r>
            <a:endParaRPr lang="en-US" sz="1250" dirty="0"/>
          </a:p>
        </p:txBody>
      </p:sp>
      <p:sp>
        <p:nvSpPr>
          <p:cNvPr id="17" name="Text 14"/>
          <p:cNvSpPr/>
          <p:nvPr/>
        </p:nvSpPr>
        <p:spPr>
          <a:xfrm>
            <a:off x="6537960" y="3474720"/>
            <a:ext cx="4846320" cy="731520"/>
          </a:xfrm>
          <a:prstGeom prst="rect">
            <a:avLst/>
          </a:prstGeom>
          <a:noFill/>
          <a:ln/>
        </p:spPr>
        <p:txBody>
          <a:bodyPr wrap="square" lIns="0" tIns="0" rIns="0" bIns="0" rtlCol="0" anchor="ctr"/>
          <a:lstStyle/>
          <a:p>
            <a:pPr marL="0" indent="0">
              <a:lnSpc>
                <a:spcPct val="115000"/>
              </a:lnSpc>
              <a:buNone/>
            </a:pPr>
            <a:r>
              <a:rPr lang="en-US" sz="1350" dirty="0">
                <a:solidFill>
                  <a:srgbClr val="3C5560"/>
                </a:solidFill>
                <a:latin typeface="Calibri" pitchFamily="34" charset="0"/>
                <a:ea typeface="Calibri" pitchFamily="34" charset="-122"/>
                <a:cs typeface="Calibri" pitchFamily="34" charset="-120"/>
              </a:rPr>
              <a:t>Partir de la plus petite liste (« a une queue »), puis vérifier lesquels sont des animaux.</a:t>
            </a:r>
            <a:endParaRPr lang="en-US" sz="1350" dirty="0"/>
          </a:p>
        </p:txBody>
      </p:sp>
      <p:sp>
        <p:nvSpPr>
          <p:cNvPr id="18" name="Text 15"/>
          <p:cNvSpPr/>
          <p:nvPr/>
        </p:nvSpPr>
        <p:spPr>
          <a:xfrm>
            <a:off x="548640" y="4572000"/>
            <a:ext cx="73152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SUR QUOI S'APPUIE L'HEURISTIQUE</a:t>
            </a:r>
            <a:endParaRPr lang="en-US" sz="1250" dirty="0"/>
          </a:p>
        </p:txBody>
      </p:sp>
      <p:sp>
        <p:nvSpPr>
          <p:cNvPr id="19" name="Shape 16"/>
          <p:cNvSpPr/>
          <p:nvPr/>
        </p:nvSpPr>
        <p:spPr>
          <a:xfrm>
            <a:off x="548640" y="4956048"/>
            <a:ext cx="2606040" cy="868680"/>
          </a:xfrm>
          <a:prstGeom prst="roundRect">
            <a:avLst>
              <a:gd name="adj" fmla="val 9474"/>
            </a:avLst>
          </a:prstGeom>
          <a:solidFill>
            <a:srgbClr val="0B3D52"/>
          </a:solidFill>
          <a:ln/>
        </p:spPr>
      </p:sp>
      <p:sp>
        <p:nvSpPr>
          <p:cNvPr id="20" name="Text 17"/>
          <p:cNvSpPr/>
          <p:nvPr/>
        </p:nvSpPr>
        <p:spPr>
          <a:xfrm>
            <a:off x="731520" y="4956048"/>
            <a:ext cx="2240280" cy="868680"/>
          </a:xfrm>
          <a:prstGeom prst="rect">
            <a:avLst/>
          </a:prstGeom>
          <a:noFill/>
          <a:ln/>
        </p:spPr>
        <p:txBody>
          <a:bodyPr wrap="square" lIns="0" tIns="0" rIns="0" bIns="0" rtlCol="0" anchor="ctr"/>
          <a:lstStyle/>
          <a:p>
            <a:pPr marL="0" indent="0" algn="ctr">
              <a:lnSpc>
                <a:spcPct val="105000"/>
              </a:lnSpc>
              <a:buNone/>
            </a:pPr>
            <a:r>
              <a:rPr lang="en-US" sz="1350" b="1" dirty="0">
                <a:solidFill>
                  <a:srgbClr val="8FE3DA"/>
                </a:solidFill>
                <a:latin typeface="Calibri" pitchFamily="34" charset="0"/>
                <a:ea typeface="Calibri" pitchFamily="34" charset="-122"/>
                <a:cs typeface="Calibri" pitchFamily="34" charset="-120"/>
              </a:rPr>
              <a:t>Structure des clauses</a:t>
            </a:r>
            <a:endParaRPr lang="en-US" sz="1350" dirty="0"/>
          </a:p>
        </p:txBody>
      </p:sp>
      <p:sp>
        <p:nvSpPr>
          <p:cNvPr id="21" name="Shape 18"/>
          <p:cNvSpPr/>
          <p:nvPr/>
        </p:nvSpPr>
        <p:spPr>
          <a:xfrm>
            <a:off x="3337560" y="4956048"/>
            <a:ext cx="2606040" cy="868680"/>
          </a:xfrm>
          <a:prstGeom prst="roundRect">
            <a:avLst>
              <a:gd name="adj" fmla="val 9474"/>
            </a:avLst>
          </a:prstGeom>
          <a:solidFill>
            <a:srgbClr val="0B3D52"/>
          </a:solidFill>
          <a:ln/>
        </p:spPr>
      </p:sp>
      <p:sp>
        <p:nvSpPr>
          <p:cNvPr id="22" name="Text 19"/>
          <p:cNvSpPr/>
          <p:nvPr/>
        </p:nvSpPr>
        <p:spPr>
          <a:xfrm>
            <a:off x="3520440" y="4956048"/>
            <a:ext cx="2240280" cy="868680"/>
          </a:xfrm>
          <a:prstGeom prst="rect">
            <a:avLst/>
          </a:prstGeom>
          <a:noFill/>
          <a:ln/>
        </p:spPr>
        <p:txBody>
          <a:bodyPr wrap="square" lIns="0" tIns="0" rIns="0" bIns="0" rtlCol="0" anchor="ctr"/>
          <a:lstStyle/>
          <a:p>
            <a:pPr marL="0" indent="0" algn="ctr">
              <a:lnSpc>
                <a:spcPct val="105000"/>
              </a:lnSpc>
              <a:buNone/>
            </a:pPr>
            <a:r>
              <a:rPr lang="en-US" sz="1350" b="1" dirty="0">
                <a:solidFill>
                  <a:srgbClr val="8FE3DA"/>
                </a:solidFill>
                <a:latin typeface="Calibri" pitchFamily="34" charset="0"/>
                <a:ea typeface="Calibri" pitchFamily="34" charset="-122"/>
                <a:cs typeface="Calibri" pitchFamily="34" charset="-120"/>
              </a:rPr>
              <a:t>Variables connues</a:t>
            </a:r>
            <a:endParaRPr lang="en-US" sz="1350" dirty="0"/>
          </a:p>
        </p:txBody>
      </p:sp>
      <p:sp>
        <p:nvSpPr>
          <p:cNvPr id="23" name="Shape 20"/>
          <p:cNvSpPr/>
          <p:nvPr/>
        </p:nvSpPr>
        <p:spPr>
          <a:xfrm>
            <a:off x="6126480" y="4956048"/>
            <a:ext cx="2606040" cy="868680"/>
          </a:xfrm>
          <a:prstGeom prst="roundRect">
            <a:avLst>
              <a:gd name="adj" fmla="val 9474"/>
            </a:avLst>
          </a:prstGeom>
          <a:solidFill>
            <a:srgbClr val="0B3D52"/>
          </a:solidFill>
          <a:ln/>
        </p:spPr>
      </p:sp>
      <p:sp>
        <p:nvSpPr>
          <p:cNvPr id="24" name="Text 21"/>
          <p:cNvSpPr/>
          <p:nvPr/>
        </p:nvSpPr>
        <p:spPr>
          <a:xfrm>
            <a:off x="6309360" y="4956048"/>
            <a:ext cx="2240280" cy="868680"/>
          </a:xfrm>
          <a:prstGeom prst="rect">
            <a:avLst/>
          </a:prstGeom>
          <a:noFill/>
          <a:ln/>
        </p:spPr>
        <p:txBody>
          <a:bodyPr wrap="square" lIns="0" tIns="0" rIns="0" bIns="0" rtlCol="0" anchor="ctr"/>
          <a:lstStyle/>
          <a:p>
            <a:pPr marL="0" indent="0" algn="ctr">
              <a:lnSpc>
                <a:spcPct val="105000"/>
              </a:lnSpc>
              <a:buNone/>
            </a:pPr>
            <a:r>
              <a:rPr lang="en-US" sz="1350" b="1" dirty="0">
                <a:solidFill>
                  <a:srgbClr val="8FE3DA"/>
                </a:solidFill>
                <a:latin typeface="Calibri" pitchFamily="34" charset="0"/>
                <a:ea typeface="Calibri" pitchFamily="34" charset="-122"/>
                <a:cs typeface="Calibri" pitchFamily="34" charset="-120"/>
              </a:rPr>
              <a:t>Constantes &amp; filtres</a:t>
            </a:r>
            <a:endParaRPr lang="en-US" sz="1350" dirty="0"/>
          </a:p>
        </p:txBody>
      </p:sp>
      <p:sp>
        <p:nvSpPr>
          <p:cNvPr id="25" name="Shape 22"/>
          <p:cNvSpPr/>
          <p:nvPr/>
        </p:nvSpPr>
        <p:spPr>
          <a:xfrm>
            <a:off x="8915400" y="4956048"/>
            <a:ext cx="2606040" cy="868680"/>
          </a:xfrm>
          <a:prstGeom prst="roundRect">
            <a:avLst>
              <a:gd name="adj" fmla="val 9474"/>
            </a:avLst>
          </a:prstGeom>
          <a:solidFill>
            <a:srgbClr val="0B3D52"/>
          </a:solidFill>
          <a:ln/>
        </p:spPr>
      </p:sp>
      <p:sp>
        <p:nvSpPr>
          <p:cNvPr id="26" name="Text 23"/>
          <p:cNvSpPr/>
          <p:nvPr/>
        </p:nvSpPr>
        <p:spPr>
          <a:xfrm>
            <a:off x="9098280" y="4956048"/>
            <a:ext cx="2240280" cy="868680"/>
          </a:xfrm>
          <a:prstGeom prst="rect">
            <a:avLst/>
          </a:prstGeom>
          <a:noFill/>
          <a:ln/>
        </p:spPr>
        <p:txBody>
          <a:bodyPr wrap="square" lIns="0" tIns="0" rIns="0" bIns="0" rtlCol="0" anchor="ctr"/>
          <a:lstStyle/>
          <a:p>
            <a:pPr marL="0" indent="0" algn="ctr">
              <a:lnSpc>
                <a:spcPct val="105000"/>
              </a:lnSpc>
              <a:buNone/>
            </a:pPr>
            <a:r>
              <a:rPr lang="en-US" sz="1350" b="1" dirty="0">
                <a:solidFill>
                  <a:srgbClr val="8FE3DA"/>
                </a:solidFill>
                <a:latin typeface="Calibri" pitchFamily="34" charset="0"/>
                <a:ea typeface="Calibri" pitchFamily="34" charset="-122"/>
                <a:cs typeface="Calibri" pitchFamily="34" charset="-120"/>
              </a:rPr>
              <a:t>Cardinalité des listes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JOINTURES MULTI-VARIABLES</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Le risque de l'explosion combinatoire</a:t>
            </a:r>
            <a:endParaRPr lang="en-US" sz="3000" dirty="0"/>
          </a:p>
        </p:txBody>
      </p:sp>
      <p:sp>
        <p:nvSpPr>
          <p:cNvPr id="6" name="Text 3"/>
          <p:cNvSpPr/>
          <p:nvPr/>
        </p:nvSpPr>
        <p:spPr>
          <a:xfrm>
            <a:off x="548640" y="1783080"/>
            <a:ext cx="11064240" cy="502920"/>
          </a:xfrm>
          <a:prstGeom prst="rect">
            <a:avLst/>
          </a:prstGeom>
          <a:noFill/>
          <a:ln/>
        </p:spPr>
        <p:txBody>
          <a:bodyPr wrap="square" lIns="0" tIns="0" rIns="0" bIns="0" rtlCol="0" anchor="ctr"/>
          <a:lstStyle/>
          <a:p>
            <a:pPr marL="0" indent="0">
              <a:lnSpc>
                <a:spcPct val="115000"/>
              </a:lnSpc>
              <a:buNone/>
            </a:pPr>
            <a:r>
              <a:rPr lang="en-US" sz="1550" b="1" dirty="0">
                <a:solidFill>
                  <a:srgbClr val="12303C"/>
                </a:solidFill>
                <a:latin typeface="Calibri" pitchFamily="34" charset="0"/>
                <a:ea typeface="Calibri" pitchFamily="34" charset="-122"/>
                <a:cs typeface="Calibri" pitchFamily="34" charset="-120"/>
              </a:rPr>
              <a:t>Avec deux variables liées, </a:t>
            </a:r>
            <a:r>
              <a:rPr lang="en-US" sz="1550" dirty="0">
                <a:solidFill>
                  <a:srgbClr val="3C5560"/>
                </a:solidFill>
                <a:latin typeface="Calibri" pitchFamily="34" charset="0"/>
                <a:ea typeface="Calibri" pitchFamily="34" charset="-122"/>
                <a:cs typeface="Calibri" pitchFamily="34" charset="-120"/>
              </a:rPr>
              <a:t>la stratégie naïve devient infaisable. Voyons précisément où le danger se cache et comment l'éviter.</a:t>
            </a:r>
            <a:endParaRPr lang="en-US" sz="1550" dirty="0"/>
          </a:p>
        </p:txBody>
      </p:sp>
      <p:sp>
        <p:nvSpPr>
          <p:cNvPr id="7" name="Text 4"/>
          <p:cNvSpPr/>
          <p:nvPr/>
        </p:nvSpPr>
        <p:spPr>
          <a:xfrm>
            <a:off x="548640" y="2331720"/>
            <a:ext cx="7315200" cy="365760"/>
          </a:xfrm>
          <a:prstGeom prst="rect">
            <a:avLst/>
          </a:prstGeom>
          <a:noFill/>
          <a:ln/>
        </p:spPr>
        <p:txBody>
          <a:bodyPr wrap="square" lIns="0" tIns="0" rIns="0" bIns="0" rtlCol="0" anchor="ctr"/>
          <a:lstStyle/>
          <a:p>
            <a:pPr marL="0" indent="0">
              <a:buNone/>
            </a:pPr>
            <a:r>
              <a:rPr lang="en-US" sz="1400" b="1" dirty="0">
                <a:solidFill>
                  <a:srgbClr val="1C7293"/>
                </a:solidFill>
                <a:latin typeface="Consolas" pitchFamily="34" charset="0"/>
                <a:ea typeface="Consolas" pitchFamily="34" charset="-122"/>
                <a:cs typeface="Consolas" pitchFamily="34" charset="-120"/>
              </a:rPr>
              <a:t>($x r_isa animal) ET ($y r_isa animal) ET ($x r_can_eat $y)</a:t>
            </a:r>
            <a:endParaRPr lang="en-US" sz="1400" dirty="0"/>
          </a:p>
        </p:txBody>
      </p:sp>
      <p:sp>
        <p:nvSpPr>
          <p:cNvPr id="8" name="Shape 5"/>
          <p:cNvSpPr/>
          <p:nvPr/>
        </p:nvSpPr>
        <p:spPr>
          <a:xfrm>
            <a:off x="548640" y="2834640"/>
            <a:ext cx="5394960" cy="1463040"/>
          </a:xfrm>
          <a:prstGeom prst="roundRect">
            <a:avLst>
              <a:gd name="adj" fmla="val 6250"/>
            </a:avLst>
          </a:prstGeom>
          <a:solidFill>
            <a:srgbClr val="F2F7F8"/>
          </a:solidFill>
          <a:ln w="12700">
            <a:solidFill>
              <a:srgbClr val="CDDDE0"/>
            </a:solidFill>
            <a:prstDash val="solid"/>
          </a:ln>
        </p:spPr>
      </p:sp>
      <p:sp>
        <p:nvSpPr>
          <p:cNvPr id="9" name="Text 6"/>
          <p:cNvSpPr/>
          <p:nvPr/>
        </p:nvSpPr>
        <p:spPr>
          <a:xfrm>
            <a:off x="822960" y="2999232"/>
            <a:ext cx="3566160" cy="365760"/>
          </a:xfrm>
          <a:prstGeom prst="rect">
            <a:avLst/>
          </a:prstGeom>
          <a:noFill/>
          <a:ln/>
        </p:spPr>
        <p:txBody>
          <a:bodyPr wrap="square" lIns="0" tIns="0" rIns="0" bIns="0" rtlCol="0" anchor="ctr"/>
          <a:lstStyle/>
          <a:p>
            <a:pPr marL="0" indent="0">
              <a:buNone/>
            </a:pPr>
            <a:r>
              <a:rPr lang="en-US" sz="1600" b="1" dirty="0">
                <a:solidFill>
                  <a:srgbClr val="12303C"/>
                </a:solidFill>
                <a:latin typeface="Georgia" pitchFamily="34" charset="0"/>
                <a:ea typeface="Georgia" pitchFamily="34" charset="-122"/>
                <a:cs typeface="Georgia" pitchFamily="34" charset="-120"/>
              </a:rPr>
              <a:t>Produit cartésien</a:t>
            </a:r>
            <a:endParaRPr lang="en-US" sz="1600" dirty="0"/>
          </a:p>
        </p:txBody>
      </p:sp>
      <p:sp>
        <p:nvSpPr>
          <p:cNvPr id="10" name="Shape 7"/>
          <p:cNvSpPr/>
          <p:nvPr/>
        </p:nvSpPr>
        <p:spPr>
          <a:xfrm>
            <a:off x="4389120" y="3017520"/>
            <a:ext cx="1280160" cy="384048"/>
          </a:xfrm>
          <a:prstGeom prst="roundRect">
            <a:avLst>
              <a:gd name="adj" fmla="val 50000"/>
            </a:avLst>
          </a:prstGeom>
          <a:solidFill>
            <a:srgbClr val="3C5560"/>
          </a:solidFill>
          <a:ln/>
        </p:spPr>
      </p:sp>
      <p:sp>
        <p:nvSpPr>
          <p:cNvPr id="11" name="Text 8"/>
          <p:cNvSpPr/>
          <p:nvPr/>
        </p:nvSpPr>
        <p:spPr>
          <a:xfrm>
            <a:off x="4389120" y="3017520"/>
            <a:ext cx="128016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Impossible</a:t>
            </a:r>
            <a:endParaRPr lang="en-US" sz="1250" dirty="0"/>
          </a:p>
        </p:txBody>
      </p:sp>
      <p:sp>
        <p:nvSpPr>
          <p:cNvPr id="12" name="Text 9"/>
          <p:cNvSpPr/>
          <p:nvPr/>
        </p:nvSpPr>
        <p:spPr>
          <a:xfrm>
            <a:off x="822960" y="3474720"/>
            <a:ext cx="4846320" cy="731520"/>
          </a:xfrm>
          <a:prstGeom prst="rect">
            <a:avLst/>
          </a:prstGeom>
          <a:noFill/>
          <a:ln/>
        </p:spPr>
        <p:txBody>
          <a:bodyPr wrap="square" lIns="0" tIns="0" rIns="0" bIns="0" rtlCol="0" anchor="ctr"/>
          <a:lstStyle/>
          <a:p>
            <a:pPr marL="0" indent="0">
              <a:lnSpc>
                <a:spcPct val="115000"/>
              </a:lnSpc>
              <a:buNone/>
            </a:pPr>
            <a:r>
              <a:rPr lang="en-US" sz="1350" dirty="0">
                <a:solidFill>
                  <a:srgbClr val="3C5560"/>
                </a:solidFill>
                <a:latin typeface="Calibri" pitchFamily="34" charset="0"/>
                <a:ea typeface="Calibri" pitchFamily="34" charset="-122"/>
                <a:cs typeface="Calibri" pitchFamily="34" charset="-120"/>
              </a:rPr>
              <a:t>Tester toutes les paires ($x, $y) : 50 000 × 50 000 = 2,5 milliards de combinaisons à vérifier. Inutilisable en pratique.</a:t>
            </a:r>
            <a:endParaRPr lang="en-US" sz="1350" dirty="0"/>
          </a:p>
        </p:txBody>
      </p:sp>
      <p:sp>
        <p:nvSpPr>
          <p:cNvPr id="13" name="Shape 10"/>
          <p:cNvSpPr/>
          <p:nvPr/>
        </p:nvSpPr>
        <p:spPr>
          <a:xfrm>
            <a:off x="6263640" y="2834640"/>
            <a:ext cx="5394960" cy="1463040"/>
          </a:xfrm>
          <a:prstGeom prst="roundRect">
            <a:avLst>
              <a:gd name="adj" fmla="val 6250"/>
            </a:avLst>
          </a:prstGeom>
          <a:solidFill>
            <a:srgbClr val="E6F1F2"/>
          </a:solidFill>
          <a:ln w="12700">
            <a:solidFill>
              <a:srgbClr val="CDDDE0"/>
            </a:solidFill>
            <a:prstDash val="solid"/>
          </a:ln>
        </p:spPr>
      </p:sp>
      <p:sp>
        <p:nvSpPr>
          <p:cNvPr id="14" name="Text 11"/>
          <p:cNvSpPr/>
          <p:nvPr/>
        </p:nvSpPr>
        <p:spPr>
          <a:xfrm>
            <a:off x="6537960" y="2999232"/>
            <a:ext cx="3566160" cy="365760"/>
          </a:xfrm>
          <a:prstGeom prst="rect">
            <a:avLst/>
          </a:prstGeom>
          <a:noFill/>
          <a:ln/>
        </p:spPr>
        <p:txBody>
          <a:bodyPr wrap="square" lIns="0" tIns="0" rIns="0" bIns="0" rtlCol="0" anchor="ctr"/>
          <a:lstStyle/>
          <a:p>
            <a:pPr marL="0" indent="0">
              <a:buNone/>
            </a:pPr>
            <a:r>
              <a:rPr lang="en-US" sz="1600" b="1" dirty="0">
                <a:solidFill>
                  <a:srgbClr val="12303C"/>
                </a:solidFill>
                <a:latin typeface="Georgia" pitchFamily="34" charset="0"/>
                <a:ea typeface="Georgia" pitchFamily="34" charset="-122"/>
                <a:cs typeface="Georgia" pitchFamily="34" charset="-120"/>
              </a:rPr>
              <a:t>Exploration ciblée</a:t>
            </a:r>
            <a:endParaRPr lang="en-US" sz="1600" dirty="0"/>
          </a:p>
        </p:txBody>
      </p:sp>
      <p:sp>
        <p:nvSpPr>
          <p:cNvPr id="15" name="Shape 12"/>
          <p:cNvSpPr/>
          <p:nvPr/>
        </p:nvSpPr>
        <p:spPr>
          <a:xfrm>
            <a:off x="10104120" y="3017520"/>
            <a:ext cx="1280160" cy="384048"/>
          </a:xfrm>
          <a:prstGeom prst="roundRect">
            <a:avLst>
              <a:gd name="adj" fmla="val 50000"/>
            </a:avLst>
          </a:prstGeom>
          <a:solidFill>
            <a:srgbClr val="2EC4B6"/>
          </a:solidFill>
          <a:ln/>
        </p:spPr>
      </p:sp>
      <p:sp>
        <p:nvSpPr>
          <p:cNvPr id="16" name="Text 13"/>
          <p:cNvSpPr/>
          <p:nvPr/>
        </p:nvSpPr>
        <p:spPr>
          <a:xfrm>
            <a:off x="10104120" y="3017520"/>
            <a:ext cx="128016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Praticable</a:t>
            </a:r>
            <a:endParaRPr lang="en-US" sz="1250" dirty="0"/>
          </a:p>
        </p:txBody>
      </p:sp>
      <p:sp>
        <p:nvSpPr>
          <p:cNvPr id="17" name="Text 14"/>
          <p:cNvSpPr/>
          <p:nvPr/>
        </p:nvSpPr>
        <p:spPr>
          <a:xfrm>
            <a:off x="6537960" y="3474720"/>
            <a:ext cx="4846320" cy="731520"/>
          </a:xfrm>
          <a:prstGeom prst="rect">
            <a:avLst/>
          </a:prstGeom>
          <a:noFill/>
          <a:ln/>
        </p:spPr>
        <p:txBody>
          <a:bodyPr wrap="square" lIns="0" tIns="0" rIns="0" bIns="0" rtlCol="0" anchor="ctr"/>
          <a:lstStyle/>
          <a:p>
            <a:pPr marL="0" indent="0">
              <a:lnSpc>
                <a:spcPct val="115000"/>
              </a:lnSpc>
              <a:buNone/>
            </a:pPr>
            <a:r>
              <a:rPr lang="en-US" sz="1350" dirty="0">
                <a:solidFill>
                  <a:srgbClr val="3C5560"/>
                </a:solidFill>
                <a:latin typeface="Calibri" pitchFamily="34" charset="0"/>
                <a:ea typeface="Calibri" pitchFamily="34" charset="-122"/>
                <a:cs typeface="Calibri" pitchFamily="34" charset="-120"/>
              </a:rPr>
              <a:t>Partir des $x candidats, puis pour chacun récupérer directement les cibles via r_can_eat. Aucune combinaison à tester.</a:t>
            </a:r>
            <a:endParaRPr lang="en-US" sz="1350" dirty="0"/>
          </a:p>
        </p:txBody>
      </p:sp>
      <p:sp>
        <p:nvSpPr>
          <p:cNvPr id="18" name="Text 15"/>
          <p:cNvSpPr/>
          <p:nvPr/>
        </p:nvSpPr>
        <p:spPr>
          <a:xfrm>
            <a:off x="548640" y="4572000"/>
            <a:ext cx="73152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POURQUOI ÇA MARCHE</a:t>
            </a:r>
            <a:endParaRPr lang="en-US" sz="1250" dirty="0"/>
          </a:p>
        </p:txBody>
      </p:sp>
      <p:sp>
        <p:nvSpPr>
          <p:cNvPr id="19" name="Shape 16"/>
          <p:cNvSpPr/>
          <p:nvPr/>
        </p:nvSpPr>
        <p:spPr>
          <a:xfrm>
            <a:off x="548640" y="4956048"/>
            <a:ext cx="2606040" cy="868680"/>
          </a:xfrm>
          <a:prstGeom prst="roundRect">
            <a:avLst>
              <a:gd name="adj" fmla="val 9474"/>
            </a:avLst>
          </a:prstGeom>
          <a:solidFill>
            <a:srgbClr val="0B3D52"/>
          </a:solidFill>
          <a:ln/>
        </p:spPr>
      </p:sp>
      <p:sp>
        <p:nvSpPr>
          <p:cNvPr id="20" name="Text 17"/>
          <p:cNvSpPr/>
          <p:nvPr/>
        </p:nvSpPr>
        <p:spPr>
          <a:xfrm>
            <a:off x="731520" y="4956048"/>
            <a:ext cx="2240280" cy="868680"/>
          </a:xfrm>
          <a:prstGeom prst="rect">
            <a:avLst/>
          </a:prstGeom>
          <a:noFill/>
          <a:ln/>
        </p:spPr>
        <p:txBody>
          <a:bodyPr wrap="square" lIns="0" tIns="0" rIns="0" bIns="0" rtlCol="0" anchor="ctr"/>
          <a:lstStyle/>
          <a:p>
            <a:pPr marL="0" indent="0" algn="ctr">
              <a:lnSpc>
                <a:spcPct val="105000"/>
              </a:lnSpc>
              <a:buNone/>
            </a:pPr>
            <a:r>
              <a:rPr lang="en-US" sz="1350" b="1" dirty="0">
                <a:solidFill>
                  <a:srgbClr val="8FE3DA"/>
                </a:solidFill>
                <a:latin typeface="Calibri" pitchFamily="34" charset="0"/>
                <a:ea typeface="Calibri" pitchFamily="34" charset="-122"/>
                <a:cs typeface="Calibri" pitchFamily="34" charset="-120"/>
              </a:rPr>
              <a:t>Variable déjà liée</a:t>
            </a:r>
            <a:endParaRPr lang="en-US" sz="1350" dirty="0"/>
          </a:p>
        </p:txBody>
      </p:sp>
      <p:sp>
        <p:nvSpPr>
          <p:cNvPr id="21" name="Shape 18"/>
          <p:cNvSpPr/>
          <p:nvPr/>
        </p:nvSpPr>
        <p:spPr>
          <a:xfrm>
            <a:off x="3337560" y="4956048"/>
            <a:ext cx="2606040" cy="868680"/>
          </a:xfrm>
          <a:prstGeom prst="roundRect">
            <a:avLst>
              <a:gd name="adj" fmla="val 9474"/>
            </a:avLst>
          </a:prstGeom>
          <a:solidFill>
            <a:srgbClr val="0B3D52"/>
          </a:solidFill>
          <a:ln/>
        </p:spPr>
      </p:sp>
      <p:sp>
        <p:nvSpPr>
          <p:cNvPr id="22" name="Text 19"/>
          <p:cNvSpPr/>
          <p:nvPr/>
        </p:nvSpPr>
        <p:spPr>
          <a:xfrm>
            <a:off x="3520440" y="4956048"/>
            <a:ext cx="2240280" cy="868680"/>
          </a:xfrm>
          <a:prstGeom prst="rect">
            <a:avLst/>
          </a:prstGeom>
          <a:noFill/>
          <a:ln/>
        </p:spPr>
        <p:txBody>
          <a:bodyPr wrap="square" lIns="0" tIns="0" rIns="0" bIns="0" rtlCol="0" anchor="ctr"/>
          <a:lstStyle/>
          <a:p>
            <a:pPr marL="0" indent="0" algn="ctr">
              <a:lnSpc>
                <a:spcPct val="105000"/>
              </a:lnSpc>
              <a:buNone/>
            </a:pPr>
            <a:r>
              <a:rPr lang="en-US" sz="1350" b="1" dirty="0">
                <a:solidFill>
                  <a:srgbClr val="8FE3DA"/>
                </a:solidFill>
                <a:latin typeface="Calibri" pitchFamily="34" charset="0"/>
                <a:ea typeface="Calibri" pitchFamily="34" charset="-122"/>
                <a:cs typeface="Calibri" pitchFamily="34" charset="-120"/>
              </a:rPr>
              <a:t>API à 2 sens</a:t>
            </a:r>
            <a:endParaRPr lang="en-US" sz="1350" dirty="0"/>
          </a:p>
        </p:txBody>
      </p:sp>
      <p:sp>
        <p:nvSpPr>
          <p:cNvPr id="23" name="Shape 20"/>
          <p:cNvSpPr/>
          <p:nvPr/>
        </p:nvSpPr>
        <p:spPr>
          <a:xfrm>
            <a:off x="6126480" y="4956048"/>
            <a:ext cx="2606040" cy="868680"/>
          </a:xfrm>
          <a:prstGeom prst="roundRect">
            <a:avLst>
              <a:gd name="adj" fmla="val 9474"/>
            </a:avLst>
          </a:prstGeom>
          <a:solidFill>
            <a:srgbClr val="0B3D52"/>
          </a:solidFill>
          <a:ln/>
        </p:spPr>
      </p:sp>
      <p:sp>
        <p:nvSpPr>
          <p:cNvPr id="24" name="Text 21"/>
          <p:cNvSpPr/>
          <p:nvPr/>
        </p:nvSpPr>
        <p:spPr>
          <a:xfrm>
            <a:off x="6309360" y="4956048"/>
            <a:ext cx="2240280" cy="868680"/>
          </a:xfrm>
          <a:prstGeom prst="rect">
            <a:avLst/>
          </a:prstGeom>
          <a:noFill/>
          <a:ln/>
        </p:spPr>
        <p:txBody>
          <a:bodyPr wrap="square" lIns="0" tIns="0" rIns="0" bIns="0" rtlCol="0" anchor="ctr"/>
          <a:lstStyle/>
          <a:p>
            <a:pPr marL="0" indent="0" algn="ctr">
              <a:lnSpc>
                <a:spcPct val="105000"/>
              </a:lnSpc>
              <a:buNone/>
            </a:pPr>
            <a:r>
              <a:rPr lang="en-US" sz="1350" b="1" dirty="0">
                <a:solidFill>
                  <a:srgbClr val="8FE3DA"/>
                </a:solidFill>
                <a:latin typeface="Calibri" pitchFamily="34" charset="0"/>
                <a:ea typeface="Calibri" pitchFamily="34" charset="-122"/>
                <a:cs typeface="Calibri" pitchFamily="34" charset="-120"/>
              </a:rPr>
              <a:t>Intersections par ID</a:t>
            </a:r>
            <a:endParaRPr lang="en-US" sz="1350" dirty="0"/>
          </a:p>
        </p:txBody>
      </p:sp>
      <p:sp>
        <p:nvSpPr>
          <p:cNvPr id="25" name="Shape 22"/>
          <p:cNvSpPr/>
          <p:nvPr/>
        </p:nvSpPr>
        <p:spPr>
          <a:xfrm>
            <a:off x="8915400" y="4956048"/>
            <a:ext cx="2606040" cy="868680"/>
          </a:xfrm>
          <a:prstGeom prst="roundRect">
            <a:avLst>
              <a:gd name="adj" fmla="val 9474"/>
            </a:avLst>
          </a:prstGeom>
          <a:solidFill>
            <a:srgbClr val="0B3D52"/>
          </a:solidFill>
          <a:ln/>
        </p:spPr>
      </p:sp>
      <p:sp>
        <p:nvSpPr>
          <p:cNvPr id="26" name="Text 23"/>
          <p:cNvSpPr/>
          <p:nvPr/>
        </p:nvSpPr>
        <p:spPr>
          <a:xfrm>
            <a:off x="9098280" y="4956048"/>
            <a:ext cx="2240280" cy="868680"/>
          </a:xfrm>
          <a:prstGeom prst="rect">
            <a:avLst/>
          </a:prstGeom>
          <a:noFill/>
          <a:ln/>
        </p:spPr>
        <p:txBody>
          <a:bodyPr wrap="square" lIns="0" tIns="0" rIns="0" bIns="0" rtlCol="0" anchor="ctr"/>
          <a:lstStyle/>
          <a:p>
            <a:pPr marL="0" indent="0" algn="ctr">
              <a:lnSpc>
                <a:spcPct val="105000"/>
              </a:lnSpc>
              <a:buNone/>
            </a:pPr>
            <a:r>
              <a:rPr lang="en-US" sz="1350" b="1" dirty="0">
                <a:solidFill>
                  <a:srgbClr val="8FE3DA"/>
                </a:solidFill>
                <a:latin typeface="Calibri" pitchFamily="34" charset="0"/>
                <a:ea typeface="Calibri" pitchFamily="34" charset="-122"/>
                <a:cs typeface="Calibri" pitchFamily="34" charset="-120"/>
              </a:rPr>
              <a:t>Statistiques de jointure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EXÉCUTION MULTI-VARIABLES</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Intersections &amp; jointures</a:t>
            </a:r>
            <a:endParaRPr lang="en-US" sz="3000" dirty="0"/>
          </a:p>
        </p:txBody>
      </p:sp>
      <p:sp>
        <p:nvSpPr>
          <p:cNvPr id="6" name="Text 3"/>
          <p:cNvSpPr/>
          <p:nvPr/>
        </p:nvSpPr>
        <p:spPr>
          <a:xfrm>
            <a:off x="548640" y="1828800"/>
            <a:ext cx="5486400" cy="868680"/>
          </a:xfrm>
          <a:prstGeom prst="rect">
            <a:avLst/>
          </a:prstGeom>
          <a:noFill/>
          <a:ln/>
        </p:spPr>
        <p:txBody>
          <a:bodyPr wrap="square" lIns="0" tIns="0" rIns="0" bIns="0" rtlCol="0" anchor="ctr"/>
          <a:lstStyle/>
          <a:p>
            <a:pPr marL="0" indent="0">
              <a:lnSpc>
                <a:spcPct val="118000"/>
              </a:lnSpc>
              <a:buNone/>
            </a:pPr>
            <a:r>
              <a:rPr lang="en-US" sz="1450" b="1" dirty="0">
                <a:solidFill>
                  <a:srgbClr val="1C7293"/>
                </a:solidFill>
                <a:latin typeface="Calibri" pitchFamily="34" charset="0"/>
                <a:ea typeface="Calibri" pitchFamily="34" charset="-122"/>
                <a:cs typeface="Calibri" pitchFamily="34" charset="-120"/>
              </a:rPr>
              <a:t>Intersection</a:t>
            </a:r>
            <a:r>
              <a:rPr lang="en-US" sz="1450" dirty="0">
                <a:solidFill>
                  <a:srgbClr val="3C5560"/>
                </a:solidFill>
                <a:latin typeface="Calibri" pitchFamily="34" charset="0"/>
                <a:ea typeface="Calibri" pitchFamily="34" charset="-122"/>
                <a:cs typeface="Calibri" pitchFamily="34" charset="-120"/>
              </a:rPr>
              <a:t>  : </a:t>
            </a:r>
            <a:r>
              <a:rPr lang="en-US" sz="1450" dirty="0" err="1">
                <a:solidFill>
                  <a:srgbClr val="3C5560"/>
                </a:solidFill>
                <a:latin typeface="Calibri" pitchFamily="34" charset="0"/>
                <a:ea typeface="Calibri" pitchFamily="34" charset="-122"/>
                <a:cs typeface="Calibri" pitchFamily="34" charset="-120"/>
              </a:rPr>
              <a:t>garder</a:t>
            </a:r>
            <a:r>
              <a:rPr lang="en-US" sz="1450" dirty="0">
                <a:solidFill>
                  <a:srgbClr val="3C5560"/>
                </a:solidFill>
                <a:latin typeface="Calibri" pitchFamily="34" charset="0"/>
                <a:ea typeface="Calibri" pitchFamily="34" charset="-122"/>
                <a:cs typeface="Calibri" pitchFamily="34" charset="-120"/>
              </a:rPr>
              <a:t> les candidats présents dans plusieurs clauses, comparés </a:t>
            </a:r>
            <a:r>
              <a:rPr lang="en-US" sz="1450" b="1" dirty="0">
                <a:solidFill>
                  <a:srgbClr val="12303C"/>
                </a:solidFill>
                <a:latin typeface="Calibri" pitchFamily="34" charset="0"/>
                <a:ea typeface="Calibri" pitchFamily="34" charset="-122"/>
                <a:cs typeface="Calibri" pitchFamily="34" charset="-120"/>
              </a:rPr>
              <a:t>par identifiant</a:t>
            </a:r>
            <a:r>
              <a:rPr lang="en-US" sz="1450" dirty="0">
                <a:solidFill>
                  <a:srgbClr val="3C5560"/>
                </a:solidFill>
                <a:latin typeface="Calibri" pitchFamily="34" charset="0"/>
                <a:ea typeface="Calibri" pitchFamily="34" charset="-122"/>
                <a:cs typeface="Calibri" pitchFamily="34" charset="-120"/>
              </a:rPr>
              <a:t> (pas par nom), via des ensembles.</a:t>
            </a:r>
            <a:endParaRPr lang="en-US" sz="1450" dirty="0"/>
          </a:p>
        </p:txBody>
      </p:sp>
      <p:sp>
        <p:nvSpPr>
          <p:cNvPr id="7" name="Text 4"/>
          <p:cNvSpPr/>
          <p:nvPr/>
        </p:nvSpPr>
        <p:spPr>
          <a:xfrm>
            <a:off x="548640" y="2743200"/>
            <a:ext cx="5486400" cy="914400"/>
          </a:xfrm>
          <a:prstGeom prst="rect">
            <a:avLst/>
          </a:prstGeom>
          <a:noFill/>
          <a:ln/>
        </p:spPr>
        <p:txBody>
          <a:bodyPr wrap="square" lIns="0" tIns="0" rIns="0" bIns="0" rtlCol="0" anchor="ctr"/>
          <a:lstStyle/>
          <a:p>
            <a:pPr marL="0" indent="0">
              <a:lnSpc>
                <a:spcPct val="118000"/>
              </a:lnSpc>
              <a:buNone/>
            </a:pPr>
            <a:r>
              <a:rPr lang="en-US" sz="1450" b="1" dirty="0">
                <a:solidFill>
                  <a:srgbClr val="2EC4B6"/>
                </a:solidFill>
                <a:latin typeface="Calibri" pitchFamily="34" charset="0"/>
                <a:ea typeface="Calibri" pitchFamily="34" charset="-122"/>
                <a:cs typeface="Calibri" pitchFamily="34" charset="-120"/>
              </a:rPr>
              <a:t>Jointure</a:t>
            </a:r>
            <a:r>
              <a:rPr lang="en-US" sz="1450" dirty="0">
                <a:solidFill>
                  <a:srgbClr val="3C5560"/>
                </a:solidFill>
                <a:latin typeface="Calibri" pitchFamily="34" charset="0"/>
                <a:ea typeface="Calibri" pitchFamily="34" charset="-122"/>
                <a:cs typeface="Calibri" pitchFamily="34" charset="-120"/>
              </a:rPr>
              <a:t> :  relier deux variables, ex. </a:t>
            </a:r>
            <a:r>
              <a:rPr lang="en-US" sz="1450" b="1" dirty="0">
                <a:solidFill>
                  <a:srgbClr val="12303C"/>
                </a:solidFill>
                <a:latin typeface="Consolas" pitchFamily="34" charset="0"/>
                <a:ea typeface="Consolas" pitchFamily="34" charset="-122"/>
                <a:cs typeface="Consolas" pitchFamily="34" charset="-120"/>
              </a:rPr>
              <a:t>($x r_can_eat $y)</a:t>
            </a:r>
            <a:r>
              <a:rPr lang="en-US" sz="1450" dirty="0">
                <a:solidFill>
                  <a:srgbClr val="3C5560"/>
                </a:solidFill>
                <a:latin typeface="Calibri" pitchFamily="34" charset="0"/>
                <a:ea typeface="Calibri" pitchFamily="34" charset="-122"/>
                <a:cs typeface="Calibri" pitchFamily="34" charset="-120"/>
              </a:rPr>
              <a:t>. Le risque : le </a:t>
            </a:r>
            <a:r>
              <a:rPr lang="en-US" sz="1450" b="1" dirty="0">
                <a:solidFill>
                  <a:srgbClr val="12303C"/>
                </a:solidFill>
                <a:latin typeface="Calibri" pitchFamily="34" charset="0"/>
                <a:ea typeface="Calibri" pitchFamily="34" charset="-122"/>
                <a:cs typeface="Calibri" pitchFamily="34" charset="-120"/>
              </a:rPr>
              <a:t>produit cartésien</a:t>
            </a:r>
            <a:r>
              <a:rPr lang="en-US" sz="1450" dirty="0">
                <a:solidFill>
                  <a:srgbClr val="3C5560"/>
                </a:solidFill>
                <a:latin typeface="Calibri" pitchFamily="34" charset="0"/>
                <a:ea typeface="Calibri" pitchFamily="34" charset="-122"/>
                <a:cs typeface="Calibri" pitchFamily="34" charset="-120"/>
              </a:rPr>
              <a:t> de toutes les paires.</a:t>
            </a:r>
            <a:endParaRPr lang="en-US" sz="1450" dirty="0"/>
          </a:p>
        </p:txBody>
      </p:sp>
      <p:sp>
        <p:nvSpPr>
          <p:cNvPr id="8" name="Shape 5"/>
          <p:cNvSpPr/>
          <p:nvPr/>
        </p:nvSpPr>
        <p:spPr>
          <a:xfrm>
            <a:off x="548640" y="3794760"/>
            <a:ext cx="5486400" cy="2148840"/>
          </a:xfrm>
          <a:prstGeom prst="roundRect">
            <a:avLst>
              <a:gd name="adj" fmla="val 4255"/>
            </a:avLst>
          </a:prstGeom>
          <a:solidFill>
            <a:srgbClr val="E6F1F2"/>
          </a:solidFill>
          <a:ln/>
        </p:spPr>
      </p:sp>
      <p:pic>
        <p:nvPicPr>
          <p:cNvPr id="9" name="Image 1" descr="preencoded.png"/>
          <p:cNvPicPr>
            <a:picLocks noChangeAspect="1"/>
          </p:cNvPicPr>
          <p:nvPr/>
        </p:nvPicPr>
        <p:blipFill>
          <a:blip r:embed="rId4"/>
          <a:stretch>
            <a:fillRect/>
          </a:stretch>
        </p:blipFill>
        <p:spPr>
          <a:xfrm>
            <a:off x="822960" y="4041648"/>
            <a:ext cx="384048" cy="384048"/>
          </a:xfrm>
          <a:prstGeom prst="rect">
            <a:avLst/>
          </a:prstGeom>
        </p:spPr>
      </p:pic>
      <p:sp>
        <p:nvSpPr>
          <p:cNvPr id="10" name="Text 6"/>
          <p:cNvSpPr/>
          <p:nvPr/>
        </p:nvSpPr>
        <p:spPr>
          <a:xfrm>
            <a:off x="1325880" y="4023360"/>
            <a:ext cx="4480560" cy="411480"/>
          </a:xfrm>
          <a:prstGeom prst="rect">
            <a:avLst/>
          </a:prstGeom>
          <a:noFill/>
          <a:ln/>
        </p:spPr>
        <p:txBody>
          <a:bodyPr wrap="square" lIns="0" tIns="0" rIns="0" bIns="0" rtlCol="0" anchor="ctr"/>
          <a:lstStyle/>
          <a:p>
            <a:pPr marL="0" indent="0">
              <a:buNone/>
            </a:pPr>
            <a:r>
              <a:rPr lang="en-US" sz="1700" b="1" dirty="0">
                <a:solidFill>
                  <a:srgbClr val="12303C"/>
                </a:solidFill>
                <a:latin typeface="Georgia" pitchFamily="34" charset="0"/>
                <a:ea typeface="Georgia" pitchFamily="34" charset="-122"/>
                <a:cs typeface="Georgia" pitchFamily="34" charset="-120"/>
              </a:rPr>
              <a:t>Exploration directe</a:t>
            </a:r>
            <a:endParaRPr lang="en-US" sz="1700" dirty="0"/>
          </a:p>
        </p:txBody>
      </p:sp>
      <p:sp>
        <p:nvSpPr>
          <p:cNvPr id="11" name="Text 7"/>
          <p:cNvSpPr/>
          <p:nvPr/>
        </p:nvSpPr>
        <p:spPr>
          <a:xfrm>
            <a:off x="822960" y="4526280"/>
            <a:ext cx="4937760" cy="1325880"/>
          </a:xfrm>
          <a:prstGeom prst="rect">
            <a:avLst/>
          </a:prstGeom>
          <a:noFill/>
          <a:ln/>
        </p:spPr>
        <p:txBody>
          <a:bodyPr wrap="square" lIns="0" tIns="0" rIns="0" bIns="0" rtlCol="0" anchor="ctr"/>
          <a:lstStyle/>
          <a:p>
            <a:pPr marL="0" indent="0">
              <a:lnSpc>
                <a:spcPct val="120000"/>
              </a:lnSpc>
              <a:buNone/>
            </a:pPr>
            <a:r>
              <a:rPr lang="en-US" sz="1400" dirty="0">
                <a:solidFill>
                  <a:srgbClr val="3C5560"/>
                </a:solidFill>
                <a:latin typeface="Calibri" pitchFamily="34" charset="0"/>
                <a:ea typeface="Calibri" pitchFamily="34" charset="-122"/>
                <a:cs typeface="Calibri" pitchFamily="34" charset="-120"/>
              </a:rPr>
              <a:t>Plutôt que de tester toutes les combinaisons, le moteur explore directement les relations à partir d'une variable déjà connue. Plus efficace, et des statistiques de jointure rendent le comportement explicable.</a:t>
            </a:r>
            <a:endParaRPr lang="en-US" sz="1400" dirty="0"/>
          </a:p>
        </p:txBody>
      </p:sp>
      <p:sp>
        <p:nvSpPr>
          <p:cNvPr id="12" name="Shape 8"/>
          <p:cNvSpPr/>
          <p:nvPr/>
        </p:nvSpPr>
        <p:spPr>
          <a:xfrm>
            <a:off x="6400800" y="1828800"/>
            <a:ext cx="5212080" cy="4114800"/>
          </a:xfrm>
          <a:prstGeom prst="roundRect">
            <a:avLst>
              <a:gd name="adj" fmla="val 2222"/>
            </a:avLst>
          </a:prstGeom>
          <a:solidFill>
            <a:srgbClr val="0B3D52"/>
          </a:solidFill>
          <a:ln/>
          <a:effectLst>
            <a:outerShdw blurRad="88900" dist="38100" dir="8100000" algn="bl" rotWithShape="0">
              <a:srgbClr val="0B3D52">
                <a:alpha val="16000"/>
              </a:srgbClr>
            </a:outerShdw>
          </a:effectLst>
        </p:spPr>
      </p:sp>
      <p:sp>
        <p:nvSpPr>
          <p:cNvPr id="13" name="Text 9"/>
          <p:cNvSpPr/>
          <p:nvPr/>
        </p:nvSpPr>
        <p:spPr>
          <a:xfrm>
            <a:off x="6766560" y="2103120"/>
            <a:ext cx="4480560" cy="777240"/>
          </a:xfrm>
          <a:prstGeom prst="rect">
            <a:avLst/>
          </a:prstGeom>
          <a:noFill/>
          <a:ln/>
        </p:spPr>
        <p:txBody>
          <a:bodyPr wrap="square" lIns="0" tIns="0" rIns="0" bIns="0" rtlCol="0" anchor="ctr"/>
          <a:lstStyle/>
          <a:p>
            <a:pPr marL="0" indent="0">
              <a:lnSpc>
                <a:spcPct val="120000"/>
              </a:lnSpc>
              <a:buNone/>
            </a:pPr>
            <a:r>
              <a:rPr lang="en-US" sz="1300" dirty="0">
                <a:solidFill>
                  <a:srgbClr val="8FE3DA"/>
                </a:solidFill>
                <a:latin typeface="Consolas" pitchFamily="34" charset="0"/>
                <a:ea typeface="Consolas" pitchFamily="34" charset="-122"/>
                <a:cs typeface="Consolas" pitchFamily="34" charset="-120"/>
              </a:rPr>
              <a:t>($x r_isa animal) ET ($y r_isa animal)</a:t>
            </a:r>
            <a:endParaRPr lang="en-US" sz="1300" dirty="0"/>
          </a:p>
          <a:p>
            <a:pPr marL="0" indent="0">
              <a:lnSpc>
                <a:spcPct val="120000"/>
              </a:lnSpc>
              <a:buNone/>
            </a:pPr>
            <a:r>
              <a:rPr lang="en-US" sz="1300" dirty="0">
                <a:solidFill>
                  <a:srgbClr val="8FE3DA"/>
                </a:solidFill>
                <a:latin typeface="Consolas" pitchFamily="34" charset="0"/>
                <a:ea typeface="Consolas" pitchFamily="34" charset="-122"/>
                <a:cs typeface="Consolas" pitchFamily="34" charset="-120"/>
              </a:rPr>
              <a:t>ET ($x r_can_eat $y)</a:t>
            </a:r>
            <a:endParaRPr lang="en-US" sz="1300" dirty="0"/>
          </a:p>
        </p:txBody>
      </p:sp>
      <p:sp>
        <p:nvSpPr>
          <p:cNvPr id="14" name="Shape 10"/>
          <p:cNvSpPr/>
          <p:nvPr/>
        </p:nvSpPr>
        <p:spPr>
          <a:xfrm>
            <a:off x="7498080" y="3383280"/>
            <a:ext cx="2743200" cy="731520"/>
          </a:xfrm>
          <a:prstGeom prst="line">
            <a:avLst/>
          </a:prstGeom>
          <a:noFill/>
          <a:ln w="19050">
            <a:solidFill>
              <a:srgbClr val="2EC4B6">
                <a:alpha val="75000"/>
              </a:srgbClr>
            </a:solidFill>
            <a:prstDash val="solid"/>
          </a:ln>
        </p:spPr>
      </p:sp>
      <p:sp>
        <p:nvSpPr>
          <p:cNvPr id="15" name="Shape 11"/>
          <p:cNvSpPr/>
          <p:nvPr/>
        </p:nvSpPr>
        <p:spPr>
          <a:xfrm>
            <a:off x="7498080" y="4114800"/>
            <a:ext cx="2743200" cy="731520"/>
          </a:xfrm>
          <a:prstGeom prst="line">
            <a:avLst/>
          </a:prstGeom>
          <a:noFill/>
          <a:ln w="19050">
            <a:solidFill>
              <a:srgbClr val="2EC4B6">
                <a:alpha val="75000"/>
              </a:srgbClr>
            </a:solidFill>
            <a:prstDash val="solid"/>
          </a:ln>
        </p:spPr>
      </p:sp>
      <p:sp>
        <p:nvSpPr>
          <p:cNvPr id="16" name="Shape 12"/>
          <p:cNvSpPr/>
          <p:nvPr/>
        </p:nvSpPr>
        <p:spPr>
          <a:xfrm>
            <a:off x="7498080" y="3383280"/>
            <a:ext cx="2743200" cy="1463040"/>
          </a:xfrm>
          <a:prstGeom prst="line">
            <a:avLst/>
          </a:prstGeom>
          <a:noFill/>
          <a:ln w="19050">
            <a:solidFill>
              <a:srgbClr val="2EC4B6">
                <a:alpha val="75000"/>
              </a:srgbClr>
            </a:solidFill>
            <a:prstDash val="solid"/>
          </a:ln>
        </p:spPr>
      </p:sp>
      <p:sp>
        <p:nvSpPr>
          <p:cNvPr id="17" name="Shape 13"/>
          <p:cNvSpPr/>
          <p:nvPr/>
        </p:nvSpPr>
        <p:spPr>
          <a:xfrm>
            <a:off x="7351776" y="3236976"/>
            <a:ext cx="292608" cy="292608"/>
          </a:xfrm>
          <a:prstGeom prst="ellipse">
            <a:avLst/>
          </a:prstGeom>
          <a:solidFill>
            <a:srgbClr val="1C7293"/>
          </a:solidFill>
          <a:ln w="19050">
            <a:solidFill>
              <a:srgbClr val="FFFFFF"/>
            </a:solidFill>
            <a:prstDash val="solid"/>
          </a:ln>
        </p:spPr>
      </p:sp>
      <p:sp>
        <p:nvSpPr>
          <p:cNvPr id="18" name="Shape 14"/>
          <p:cNvSpPr/>
          <p:nvPr/>
        </p:nvSpPr>
        <p:spPr>
          <a:xfrm>
            <a:off x="7351776" y="3968496"/>
            <a:ext cx="292608" cy="292608"/>
          </a:xfrm>
          <a:prstGeom prst="ellipse">
            <a:avLst/>
          </a:prstGeom>
          <a:solidFill>
            <a:srgbClr val="1C7293"/>
          </a:solidFill>
          <a:ln w="19050">
            <a:solidFill>
              <a:srgbClr val="FFFFFF"/>
            </a:solidFill>
            <a:prstDash val="solid"/>
          </a:ln>
        </p:spPr>
      </p:sp>
      <p:sp>
        <p:nvSpPr>
          <p:cNvPr id="19" name="Shape 15"/>
          <p:cNvSpPr/>
          <p:nvPr/>
        </p:nvSpPr>
        <p:spPr>
          <a:xfrm>
            <a:off x="7351776" y="4700016"/>
            <a:ext cx="292608" cy="292608"/>
          </a:xfrm>
          <a:prstGeom prst="ellipse">
            <a:avLst/>
          </a:prstGeom>
          <a:solidFill>
            <a:srgbClr val="1C7293"/>
          </a:solidFill>
          <a:ln w="19050">
            <a:solidFill>
              <a:srgbClr val="FFFFFF"/>
            </a:solidFill>
            <a:prstDash val="solid"/>
          </a:ln>
        </p:spPr>
      </p:sp>
      <p:sp>
        <p:nvSpPr>
          <p:cNvPr id="20" name="Shape 16"/>
          <p:cNvSpPr/>
          <p:nvPr/>
        </p:nvSpPr>
        <p:spPr>
          <a:xfrm>
            <a:off x="10094976" y="3236976"/>
            <a:ext cx="292608" cy="292608"/>
          </a:xfrm>
          <a:prstGeom prst="ellipse">
            <a:avLst/>
          </a:prstGeom>
          <a:solidFill>
            <a:srgbClr val="2EC4B6"/>
          </a:solidFill>
          <a:ln w="19050">
            <a:solidFill>
              <a:srgbClr val="FFFFFF"/>
            </a:solidFill>
            <a:prstDash val="solid"/>
          </a:ln>
        </p:spPr>
      </p:sp>
      <p:sp>
        <p:nvSpPr>
          <p:cNvPr id="21" name="Shape 17"/>
          <p:cNvSpPr/>
          <p:nvPr/>
        </p:nvSpPr>
        <p:spPr>
          <a:xfrm>
            <a:off x="10094976" y="3968496"/>
            <a:ext cx="292608" cy="292608"/>
          </a:xfrm>
          <a:prstGeom prst="ellipse">
            <a:avLst/>
          </a:prstGeom>
          <a:solidFill>
            <a:srgbClr val="2EC4B6"/>
          </a:solidFill>
          <a:ln w="19050">
            <a:solidFill>
              <a:srgbClr val="FFFFFF"/>
            </a:solidFill>
            <a:prstDash val="solid"/>
          </a:ln>
        </p:spPr>
      </p:sp>
      <p:sp>
        <p:nvSpPr>
          <p:cNvPr id="22" name="Shape 18"/>
          <p:cNvSpPr/>
          <p:nvPr/>
        </p:nvSpPr>
        <p:spPr>
          <a:xfrm>
            <a:off x="10094976" y="4700016"/>
            <a:ext cx="292608" cy="292608"/>
          </a:xfrm>
          <a:prstGeom prst="ellipse">
            <a:avLst/>
          </a:prstGeom>
          <a:solidFill>
            <a:srgbClr val="2EC4B6"/>
          </a:solidFill>
          <a:ln w="19050">
            <a:solidFill>
              <a:srgbClr val="FFFFFF"/>
            </a:solidFill>
            <a:prstDash val="solid"/>
          </a:ln>
        </p:spPr>
      </p:sp>
      <p:sp>
        <p:nvSpPr>
          <p:cNvPr id="23" name="Text 19"/>
          <p:cNvSpPr/>
          <p:nvPr/>
        </p:nvSpPr>
        <p:spPr>
          <a:xfrm>
            <a:off x="7040880" y="2743200"/>
            <a:ext cx="914400" cy="365760"/>
          </a:xfrm>
          <a:prstGeom prst="rect">
            <a:avLst/>
          </a:prstGeom>
          <a:noFill/>
          <a:ln/>
        </p:spPr>
        <p:txBody>
          <a:bodyPr wrap="square" lIns="0" tIns="0" rIns="0" bIns="0" rtlCol="0" anchor="ctr"/>
          <a:lstStyle/>
          <a:p>
            <a:pPr marL="0" indent="0" algn="ctr">
              <a:buNone/>
            </a:pPr>
            <a:r>
              <a:rPr lang="en-US" sz="1600" b="1" dirty="0">
                <a:solidFill>
                  <a:srgbClr val="1C7293"/>
                </a:solidFill>
                <a:latin typeface="Georgia" pitchFamily="34" charset="0"/>
                <a:ea typeface="Georgia" pitchFamily="34" charset="-122"/>
                <a:cs typeface="Georgia" pitchFamily="34" charset="-120"/>
              </a:rPr>
              <a:t>$x</a:t>
            </a:r>
            <a:endParaRPr lang="en-US" sz="1600" dirty="0"/>
          </a:p>
        </p:txBody>
      </p:sp>
      <p:sp>
        <p:nvSpPr>
          <p:cNvPr id="24" name="Text 20"/>
          <p:cNvSpPr/>
          <p:nvPr/>
        </p:nvSpPr>
        <p:spPr>
          <a:xfrm>
            <a:off x="9784080" y="2743200"/>
            <a:ext cx="914400" cy="365760"/>
          </a:xfrm>
          <a:prstGeom prst="rect">
            <a:avLst/>
          </a:prstGeom>
          <a:noFill/>
          <a:ln/>
        </p:spPr>
        <p:txBody>
          <a:bodyPr wrap="square" lIns="0" tIns="0" rIns="0" bIns="0" rtlCol="0" anchor="ctr"/>
          <a:lstStyle/>
          <a:p>
            <a:pPr marL="0" indent="0" algn="ctr">
              <a:buNone/>
            </a:pPr>
            <a:r>
              <a:rPr lang="en-US" sz="1600" b="1" dirty="0">
                <a:solidFill>
                  <a:srgbClr val="2EC4B6"/>
                </a:solidFill>
                <a:latin typeface="Georgia" pitchFamily="34" charset="0"/>
                <a:ea typeface="Georgia" pitchFamily="34" charset="-122"/>
                <a:cs typeface="Georgia" pitchFamily="34" charset="-120"/>
              </a:rPr>
              <a:t>$y</a:t>
            </a:r>
            <a:endParaRPr lang="en-US" sz="1600" dirty="0"/>
          </a:p>
        </p:txBody>
      </p:sp>
      <p:sp>
        <p:nvSpPr>
          <p:cNvPr id="25" name="Text 21"/>
          <p:cNvSpPr/>
          <p:nvPr/>
        </p:nvSpPr>
        <p:spPr>
          <a:xfrm>
            <a:off x="6766560" y="5394960"/>
            <a:ext cx="4480560" cy="365760"/>
          </a:xfrm>
          <a:prstGeom prst="rect">
            <a:avLst/>
          </a:prstGeom>
          <a:noFill/>
          <a:ln/>
        </p:spPr>
        <p:txBody>
          <a:bodyPr wrap="square" lIns="0" tIns="0" rIns="0" bIns="0" rtlCol="0" anchor="ctr"/>
          <a:lstStyle/>
          <a:p>
            <a:pPr marL="0" indent="0" algn="ctr">
              <a:buNone/>
            </a:pPr>
            <a:r>
              <a:rPr lang="en-US" sz="1300" i="1" dirty="0">
                <a:solidFill>
                  <a:srgbClr val="8FE3DA"/>
                </a:solidFill>
                <a:latin typeface="Consolas" pitchFamily="34" charset="0"/>
                <a:ea typeface="Consolas" pitchFamily="34" charset="-122"/>
                <a:cs typeface="Consolas" pitchFamily="34" charset="-120"/>
              </a:rPr>
              <a:t>r_can_eat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UN MOTEUR EXPLICABLE</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Scores, preuves &amp; observabilité</a:t>
            </a:r>
            <a:endParaRPr lang="en-US" sz="3000" dirty="0"/>
          </a:p>
        </p:txBody>
      </p:sp>
      <p:sp>
        <p:nvSpPr>
          <p:cNvPr id="6" name="Text 3"/>
          <p:cNvSpPr/>
          <p:nvPr/>
        </p:nvSpPr>
        <p:spPr>
          <a:xfrm>
            <a:off x="548640" y="1783080"/>
            <a:ext cx="11064240" cy="457200"/>
          </a:xfrm>
          <a:prstGeom prst="rect">
            <a:avLst/>
          </a:prstGeom>
          <a:noFill/>
          <a:ln/>
        </p:spPr>
        <p:txBody>
          <a:bodyPr wrap="square" lIns="0" tIns="0" rIns="0" bIns="0" rtlCol="0" anchor="ctr"/>
          <a:lstStyle/>
          <a:p>
            <a:pPr marL="0" indent="0">
              <a:buNone/>
            </a:pPr>
            <a:r>
              <a:rPr lang="en-US" sz="1550" i="1" dirty="0">
                <a:solidFill>
                  <a:srgbClr val="3C5560"/>
                </a:solidFill>
                <a:latin typeface="Calibri" pitchFamily="34" charset="0"/>
                <a:ea typeface="Calibri" pitchFamily="34" charset="-122"/>
                <a:cs typeface="Calibri" pitchFamily="34" charset="-120"/>
              </a:rPr>
              <a:t>Le </a:t>
            </a:r>
            <a:r>
              <a:rPr lang="en-US" sz="1550" i="1" dirty="0" err="1">
                <a:solidFill>
                  <a:srgbClr val="3C5560"/>
                </a:solidFill>
                <a:latin typeface="Calibri" pitchFamily="34" charset="0"/>
                <a:ea typeface="Calibri" pitchFamily="34" charset="-122"/>
                <a:cs typeface="Calibri" pitchFamily="34" charset="-120"/>
              </a:rPr>
              <a:t>systeme</a:t>
            </a:r>
            <a:r>
              <a:rPr lang="en-US" sz="1550" i="1" dirty="0">
                <a:solidFill>
                  <a:srgbClr val="3C5560"/>
                </a:solidFill>
                <a:latin typeface="Calibri" pitchFamily="34" charset="0"/>
                <a:ea typeface="Calibri" pitchFamily="34" charset="-122"/>
                <a:cs typeface="Calibri" pitchFamily="34" charset="-120"/>
              </a:rPr>
              <a:t> ne renvoie pas qu'une liste : il montre pourquoi et comment il a répondu.</a:t>
            </a:r>
            <a:endParaRPr lang="en-US" sz="1550" dirty="0"/>
          </a:p>
        </p:txBody>
      </p:sp>
      <p:sp>
        <p:nvSpPr>
          <p:cNvPr id="7" name="Shape 4"/>
          <p:cNvSpPr/>
          <p:nvPr/>
        </p:nvSpPr>
        <p:spPr>
          <a:xfrm>
            <a:off x="548640" y="2377440"/>
            <a:ext cx="5394960" cy="1554480"/>
          </a:xfrm>
          <a:prstGeom prst="roundRect">
            <a:avLst>
              <a:gd name="adj" fmla="val 5882"/>
            </a:avLst>
          </a:prstGeom>
          <a:solidFill>
            <a:srgbClr val="F2F7F8"/>
          </a:solidFill>
          <a:ln w="12700">
            <a:solidFill>
              <a:srgbClr val="CDDDE0"/>
            </a:solidFill>
            <a:prstDash val="solid"/>
          </a:ln>
        </p:spPr>
      </p:sp>
      <p:sp>
        <p:nvSpPr>
          <p:cNvPr id="8" name="Shape 5"/>
          <p:cNvSpPr/>
          <p:nvPr/>
        </p:nvSpPr>
        <p:spPr>
          <a:xfrm>
            <a:off x="868680" y="2743200"/>
            <a:ext cx="777240" cy="777240"/>
          </a:xfrm>
          <a:prstGeom prst="ellipse">
            <a:avLst/>
          </a:prstGeom>
          <a:solidFill>
            <a:srgbClr val="0B3D52"/>
          </a:solidFill>
          <a:ln/>
        </p:spPr>
      </p:sp>
      <p:pic>
        <p:nvPicPr>
          <p:cNvPr id="9" name="Image 1" descr="preencoded.png"/>
          <p:cNvPicPr>
            <a:picLocks noChangeAspect="1"/>
          </p:cNvPicPr>
          <p:nvPr/>
        </p:nvPicPr>
        <p:blipFill>
          <a:blip r:embed="rId4"/>
          <a:stretch>
            <a:fillRect/>
          </a:stretch>
        </p:blipFill>
        <p:spPr>
          <a:xfrm>
            <a:off x="1069848" y="2944368"/>
            <a:ext cx="384048" cy="384048"/>
          </a:xfrm>
          <a:prstGeom prst="rect">
            <a:avLst/>
          </a:prstGeom>
        </p:spPr>
      </p:pic>
      <p:sp>
        <p:nvSpPr>
          <p:cNvPr id="10" name="Text 6"/>
          <p:cNvSpPr/>
          <p:nvPr/>
        </p:nvSpPr>
        <p:spPr>
          <a:xfrm>
            <a:off x="1874520" y="2697480"/>
            <a:ext cx="3840480" cy="457200"/>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Score &amp; poids</a:t>
            </a:r>
            <a:endParaRPr lang="en-US" sz="1800" dirty="0"/>
          </a:p>
        </p:txBody>
      </p:sp>
      <p:sp>
        <p:nvSpPr>
          <p:cNvPr id="11" name="Text 7"/>
          <p:cNvSpPr/>
          <p:nvPr/>
        </p:nvSpPr>
        <p:spPr>
          <a:xfrm>
            <a:off x="1874520" y="3154680"/>
            <a:ext cx="3840480" cy="640080"/>
          </a:xfrm>
          <a:prstGeom prst="rect">
            <a:avLst/>
          </a:prstGeom>
          <a:noFill/>
          <a:ln/>
        </p:spPr>
        <p:txBody>
          <a:bodyPr wrap="square" lIns="0" tIns="0" rIns="0" bIns="0" rtlCol="0" anchor="ctr"/>
          <a:lstStyle/>
          <a:p>
            <a:pPr marL="0" indent="0">
              <a:lnSpc>
                <a:spcPct val="112000"/>
              </a:lnSpc>
              <a:buNone/>
            </a:pPr>
            <a:r>
              <a:rPr lang="en-US" sz="1350" dirty="0">
                <a:solidFill>
                  <a:srgbClr val="3C5560"/>
                </a:solidFill>
                <a:latin typeface="Calibri" pitchFamily="34" charset="0"/>
                <a:ea typeface="Calibri" pitchFamily="34" charset="-122"/>
                <a:cs typeface="Calibri" pitchFamily="34" charset="-120"/>
              </a:rPr>
              <a:t>Tri par pertinence à partir des poids JeuxDeMots.</a:t>
            </a:r>
            <a:endParaRPr lang="en-US" sz="1350" dirty="0"/>
          </a:p>
        </p:txBody>
      </p:sp>
      <p:sp>
        <p:nvSpPr>
          <p:cNvPr id="12" name="Shape 8"/>
          <p:cNvSpPr/>
          <p:nvPr/>
        </p:nvSpPr>
        <p:spPr>
          <a:xfrm>
            <a:off x="6263640" y="2377440"/>
            <a:ext cx="5394960" cy="1554480"/>
          </a:xfrm>
          <a:prstGeom prst="roundRect">
            <a:avLst>
              <a:gd name="adj" fmla="val 5882"/>
            </a:avLst>
          </a:prstGeom>
          <a:solidFill>
            <a:srgbClr val="F2F7F8"/>
          </a:solidFill>
          <a:ln w="12700">
            <a:solidFill>
              <a:srgbClr val="CDDDE0"/>
            </a:solidFill>
            <a:prstDash val="solid"/>
          </a:ln>
        </p:spPr>
      </p:sp>
      <p:sp>
        <p:nvSpPr>
          <p:cNvPr id="13" name="Shape 9"/>
          <p:cNvSpPr/>
          <p:nvPr/>
        </p:nvSpPr>
        <p:spPr>
          <a:xfrm>
            <a:off x="6583680" y="2743200"/>
            <a:ext cx="777240" cy="777240"/>
          </a:xfrm>
          <a:prstGeom prst="ellipse">
            <a:avLst/>
          </a:prstGeom>
          <a:solidFill>
            <a:srgbClr val="0B3D52"/>
          </a:solidFill>
          <a:ln/>
        </p:spPr>
      </p:sp>
      <p:pic>
        <p:nvPicPr>
          <p:cNvPr id="14" name="Image 2" descr="preencoded.png"/>
          <p:cNvPicPr>
            <a:picLocks noChangeAspect="1"/>
          </p:cNvPicPr>
          <p:nvPr/>
        </p:nvPicPr>
        <p:blipFill>
          <a:blip r:embed="rId5"/>
          <a:stretch>
            <a:fillRect/>
          </a:stretch>
        </p:blipFill>
        <p:spPr>
          <a:xfrm>
            <a:off x="6784848" y="2944368"/>
            <a:ext cx="384048" cy="384048"/>
          </a:xfrm>
          <a:prstGeom prst="rect">
            <a:avLst/>
          </a:prstGeom>
        </p:spPr>
      </p:pic>
      <p:sp>
        <p:nvSpPr>
          <p:cNvPr id="15" name="Text 10"/>
          <p:cNvSpPr/>
          <p:nvPr/>
        </p:nvSpPr>
        <p:spPr>
          <a:xfrm>
            <a:off x="7589520" y="2697480"/>
            <a:ext cx="3840480" cy="457200"/>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Preuves</a:t>
            </a:r>
            <a:endParaRPr lang="en-US" sz="1800" dirty="0"/>
          </a:p>
        </p:txBody>
      </p:sp>
      <p:sp>
        <p:nvSpPr>
          <p:cNvPr id="16" name="Text 11"/>
          <p:cNvSpPr/>
          <p:nvPr/>
        </p:nvSpPr>
        <p:spPr>
          <a:xfrm>
            <a:off x="7589520" y="3154680"/>
            <a:ext cx="3840480" cy="640080"/>
          </a:xfrm>
          <a:prstGeom prst="rect">
            <a:avLst/>
          </a:prstGeom>
          <a:noFill/>
          <a:ln/>
        </p:spPr>
        <p:txBody>
          <a:bodyPr wrap="square" lIns="0" tIns="0" rIns="0" bIns="0" rtlCol="0" anchor="ctr"/>
          <a:lstStyle/>
          <a:p>
            <a:pPr marL="0" indent="0">
              <a:lnSpc>
                <a:spcPct val="112000"/>
              </a:lnSpc>
              <a:buNone/>
            </a:pPr>
            <a:r>
              <a:rPr lang="en-US" sz="1350" dirty="0">
                <a:solidFill>
                  <a:srgbClr val="3C5560"/>
                </a:solidFill>
                <a:latin typeface="Calibri" pitchFamily="34" charset="0"/>
                <a:ea typeface="Calibri" pitchFamily="34" charset="-122"/>
                <a:cs typeface="Calibri" pitchFamily="34" charset="-120"/>
              </a:rPr>
              <a:t>Les relations qui justifient chaque résultat affiché.</a:t>
            </a:r>
            <a:endParaRPr lang="en-US" sz="1350" dirty="0"/>
          </a:p>
        </p:txBody>
      </p:sp>
      <p:sp>
        <p:nvSpPr>
          <p:cNvPr id="17" name="Shape 12"/>
          <p:cNvSpPr/>
          <p:nvPr/>
        </p:nvSpPr>
        <p:spPr>
          <a:xfrm>
            <a:off x="548640" y="4160520"/>
            <a:ext cx="5394960" cy="1554480"/>
          </a:xfrm>
          <a:prstGeom prst="roundRect">
            <a:avLst>
              <a:gd name="adj" fmla="val 5882"/>
            </a:avLst>
          </a:prstGeom>
          <a:solidFill>
            <a:srgbClr val="F2F7F8"/>
          </a:solidFill>
          <a:ln w="12700">
            <a:solidFill>
              <a:srgbClr val="CDDDE0"/>
            </a:solidFill>
            <a:prstDash val="solid"/>
          </a:ln>
        </p:spPr>
      </p:sp>
      <p:sp>
        <p:nvSpPr>
          <p:cNvPr id="18" name="Shape 13"/>
          <p:cNvSpPr/>
          <p:nvPr/>
        </p:nvSpPr>
        <p:spPr>
          <a:xfrm>
            <a:off x="868680" y="4526280"/>
            <a:ext cx="777240" cy="777240"/>
          </a:xfrm>
          <a:prstGeom prst="ellipse">
            <a:avLst/>
          </a:prstGeom>
          <a:solidFill>
            <a:srgbClr val="0B3D52"/>
          </a:solidFill>
          <a:ln/>
        </p:spPr>
      </p:sp>
      <p:pic>
        <p:nvPicPr>
          <p:cNvPr id="19" name="Image 3" descr="preencoded.png"/>
          <p:cNvPicPr>
            <a:picLocks noChangeAspect="1"/>
          </p:cNvPicPr>
          <p:nvPr/>
        </p:nvPicPr>
        <p:blipFill>
          <a:blip r:embed="rId6"/>
          <a:stretch>
            <a:fillRect/>
          </a:stretch>
        </p:blipFill>
        <p:spPr>
          <a:xfrm>
            <a:off x="1069848" y="4727448"/>
            <a:ext cx="384048" cy="384048"/>
          </a:xfrm>
          <a:prstGeom prst="rect">
            <a:avLst/>
          </a:prstGeom>
        </p:spPr>
      </p:pic>
      <p:sp>
        <p:nvSpPr>
          <p:cNvPr id="20" name="Text 14"/>
          <p:cNvSpPr/>
          <p:nvPr/>
        </p:nvSpPr>
        <p:spPr>
          <a:xfrm>
            <a:off x="1874520" y="4480560"/>
            <a:ext cx="3840480" cy="457200"/>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Warnings</a:t>
            </a:r>
            <a:endParaRPr lang="en-US" sz="1800" dirty="0"/>
          </a:p>
        </p:txBody>
      </p:sp>
      <p:sp>
        <p:nvSpPr>
          <p:cNvPr id="21" name="Text 15"/>
          <p:cNvSpPr/>
          <p:nvPr/>
        </p:nvSpPr>
        <p:spPr>
          <a:xfrm>
            <a:off x="1874520" y="4937760"/>
            <a:ext cx="3840480" cy="640080"/>
          </a:xfrm>
          <a:prstGeom prst="rect">
            <a:avLst/>
          </a:prstGeom>
          <a:noFill/>
          <a:ln/>
        </p:spPr>
        <p:txBody>
          <a:bodyPr wrap="square" lIns="0" tIns="0" rIns="0" bIns="0" rtlCol="0" anchor="ctr"/>
          <a:lstStyle/>
          <a:p>
            <a:pPr marL="0" indent="0">
              <a:lnSpc>
                <a:spcPct val="112000"/>
              </a:lnSpc>
              <a:buNone/>
            </a:pPr>
            <a:r>
              <a:rPr lang="en-US" sz="1350" dirty="0">
                <a:solidFill>
                  <a:srgbClr val="3C5560"/>
                </a:solidFill>
                <a:latin typeface="Calibri" pitchFamily="34" charset="0"/>
                <a:ea typeface="Calibri" pitchFamily="34" charset="-122"/>
                <a:cs typeface="Calibri" pitchFamily="34" charset="-120"/>
              </a:rPr>
              <a:t>Signale relations pauvres, résultats partiels, limites atteintes.</a:t>
            </a:r>
            <a:endParaRPr lang="en-US" sz="1350" dirty="0"/>
          </a:p>
        </p:txBody>
      </p:sp>
      <p:sp>
        <p:nvSpPr>
          <p:cNvPr id="22" name="Shape 16"/>
          <p:cNvSpPr/>
          <p:nvPr/>
        </p:nvSpPr>
        <p:spPr>
          <a:xfrm>
            <a:off x="6263640" y="4160520"/>
            <a:ext cx="5394960" cy="1554480"/>
          </a:xfrm>
          <a:prstGeom prst="roundRect">
            <a:avLst>
              <a:gd name="adj" fmla="val 5882"/>
            </a:avLst>
          </a:prstGeom>
          <a:solidFill>
            <a:srgbClr val="F2F7F8"/>
          </a:solidFill>
          <a:ln w="12700">
            <a:solidFill>
              <a:srgbClr val="CDDDE0"/>
            </a:solidFill>
            <a:prstDash val="solid"/>
          </a:ln>
        </p:spPr>
      </p:sp>
      <p:sp>
        <p:nvSpPr>
          <p:cNvPr id="23" name="Shape 17"/>
          <p:cNvSpPr/>
          <p:nvPr/>
        </p:nvSpPr>
        <p:spPr>
          <a:xfrm>
            <a:off x="6583680" y="4526280"/>
            <a:ext cx="777240" cy="777240"/>
          </a:xfrm>
          <a:prstGeom prst="ellipse">
            <a:avLst/>
          </a:prstGeom>
          <a:solidFill>
            <a:srgbClr val="0B3D52"/>
          </a:solidFill>
          <a:ln/>
        </p:spPr>
      </p:sp>
      <p:pic>
        <p:nvPicPr>
          <p:cNvPr id="24" name="Image 4" descr="preencoded.png"/>
          <p:cNvPicPr>
            <a:picLocks noChangeAspect="1"/>
          </p:cNvPicPr>
          <p:nvPr/>
        </p:nvPicPr>
        <p:blipFill>
          <a:blip r:embed="rId7"/>
          <a:stretch>
            <a:fillRect/>
          </a:stretch>
        </p:blipFill>
        <p:spPr>
          <a:xfrm>
            <a:off x="6784848" y="4727448"/>
            <a:ext cx="384048" cy="384048"/>
          </a:xfrm>
          <a:prstGeom prst="rect">
            <a:avLst/>
          </a:prstGeom>
        </p:spPr>
      </p:pic>
      <p:sp>
        <p:nvSpPr>
          <p:cNvPr id="25" name="Text 18"/>
          <p:cNvSpPr/>
          <p:nvPr/>
        </p:nvSpPr>
        <p:spPr>
          <a:xfrm>
            <a:off x="7589520" y="4480560"/>
            <a:ext cx="3840480" cy="457200"/>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Plan d'exécution</a:t>
            </a:r>
            <a:endParaRPr lang="en-US" sz="1800" dirty="0"/>
          </a:p>
        </p:txBody>
      </p:sp>
      <p:sp>
        <p:nvSpPr>
          <p:cNvPr id="26" name="Text 19"/>
          <p:cNvSpPr/>
          <p:nvPr/>
        </p:nvSpPr>
        <p:spPr>
          <a:xfrm>
            <a:off x="7589520" y="4937760"/>
            <a:ext cx="3840480" cy="640080"/>
          </a:xfrm>
          <a:prstGeom prst="rect">
            <a:avLst/>
          </a:prstGeom>
          <a:noFill/>
          <a:ln/>
        </p:spPr>
        <p:txBody>
          <a:bodyPr wrap="square" lIns="0" tIns="0" rIns="0" bIns="0" rtlCol="0" anchor="ctr"/>
          <a:lstStyle/>
          <a:p>
            <a:pPr marL="0" indent="0">
              <a:lnSpc>
                <a:spcPct val="112000"/>
              </a:lnSpc>
              <a:buNone/>
            </a:pPr>
            <a:r>
              <a:rPr lang="en-US" sz="1350" dirty="0">
                <a:solidFill>
                  <a:srgbClr val="3C5560"/>
                </a:solidFill>
                <a:latin typeface="Calibri" pitchFamily="34" charset="0"/>
                <a:ea typeface="Calibri" pitchFamily="34" charset="-122"/>
                <a:cs typeface="Calibri" pitchFamily="34" charset="-120"/>
              </a:rPr>
              <a:t>L'ordre réellement choisi par l'heuristique.</a:t>
            </a:r>
            <a:endParaRPr lang="en-US" sz="1350" dirty="0"/>
          </a:p>
        </p:txBody>
      </p:sp>
      <p:sp>
        <p:nvSpPr>
          <p:cNvPr id="27" name="Shape 20"/>
          <p:cNvSpPr/>
          <p:nvPr/>
        </p:nvSpPr>
        <p:spPr>
          <a:xfrm>
            <a:off x="548640" y="5989320"/>
            <a:ext cx="11064240" cy="566928"/>
          </a:xfrm>
          <a:prstGeom prst="roundRect">
            <a:avLst>
              <a:gd name="adj" fmla="val 16129"/>
            </a:avLst>
          </a:prstGeom>
          <a:solidFill>
            <a:srgbClr val="0B3D52"/>
          </a:solidFill>
          <a:ln/>
        </p:spPr>
      </p:sp>
      <p:sp>
        <p:nvSpPr>
          <p:cNvPr id="28" name="Text 21"/>
          <p:cNvSpPr/>
          <p:nvPr/>
        </p:nvSpPr>
        <p:spPr>
          <a:xfrm>
            <a:off x="868680" y="5989320"/>
            <a:ext cx="10515600" cy="566928"/>
          </a:xfrm>
          <a:prstGeom prst="rect">
            <a:avLst/>
          </a:prstGeom>
          <a:noFill/>
          <a:ln/>
        </p:spPr>
        <p:txBody>
          <a:bodyPr wrap="square" lIns="0" tIns="0" rIns="0" bIns="0" rtlCol="0" anchor="ctr"/>
          <a:lstStyle/>
          <a:p>
            <a:pPr marL="0" indent="0">
              <a:buNone/>
            </a:pPr>
            <a:r>
              <a:rPr lang="en-US" sz="1250" b="1" kern="0" spc="100" dirty="0">
                <a:solidFill>
                  <a:srgbClr val="2EC4B6"/>
                </a:solidFill>
                <a:latin typeface="Calibri" pitchFamily="34" charset="0"/>
                <a:ea typeface="Calibri" pitchFamily="34" charset="-122"/>
                <a:cs typeface="Calibri" pitchFamily="34" charset="-120"/>
              </a:rPr>
              <a:t>MÉTRIQUES   </a:t>
            </a:r>
            <a:r>
              <a:rPr lang="en-US" sz="1250" dirty="0">
                <a:solidFill>
                  <a:srgbClr val="8FE3DA"/>
                </a:solidFill>
                <a:latin typeface="Calibri" pitchFamily="34" charset="0"/>
                <a:ea typeface="Calibri" pitchFamily="34" charset="-122"/>
                <a:cs typeface="Calibri" pitchFamily="34" charset="-120"/>
              </a:rPr>
              <a:t>temps de parsing · cardinalité · planification · exécution · appels &amp; erreurs API · cache · pagination · jointures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75488"/>
            <a:ext cx="384048" cy="384048"/>
          </a:xfrm>
          <a:prstGeom prst="rect">
            <a:avLst/>
          </a:prstGeom>
        </p:spPr>
      </p:pic>
      <p:sp>
        <p:nvSpPr>
          <p:cNvPr id="3" name="Text 0"/>
          <p:cNvSpPr/>
          <p:nvPr/>
        </p:nvSpPr>
        <p:spPr>
          <a:xfrm>
            <a:off x="1024128" y="457200"/>
            <a:ext cx="7315200" cy="411480"/>
          </a:xfrm>
          <a:prstGeom prst="rect">
            <a:avLst/>
          </a:prstGeom>
          <a:noFill/>
          <a:ln/>
        </p:spPr>
        <p:txBody>
          <a:bodyPr wrap="square" lIns="0" tIns="0" rIns="0" bIns="0" rtlCol="0" anchor="ctr"/>
          <a:lstStyle/>
          <a:p>
            <a:pPr marL="0" indent="0">
              <a:buNone/>
            </a:pPr>
            <a:r>
              <a:rPr lang="en-US" sz="1250" b="1" kern="0" spc="300" dirty="0">
                <a:solidFill>
                  <a:srgbClr val="1C7293"/>
                </a:solidFill>
                <a:latin typeface="Calibri" pitchFamily="34" charset="0"/>
                <a:ea typeface="Calibri" pitchFamily="34" charset="-122"/>
                <a:cs typeface="Calibri" pitchFamily="34" charset="-120"/>
              </a:rPr>
              <a:t>MESURES &amp; BENCHMARK</a:t>
            </a:r>
            <a:endParaRPr lang="en-US" sz="1250" dirty="0"/>
          </a:p>
        </p:txBody>
      </p:sp>
      <p:sp>
        <p:nvSpPr>
          <p:cNvPr id="4" name="Text 1"/>
          <p:cNvSpPr/>
          <p:nvPr/>
        </p:nvSpPr>
        <p:spPr>
          <a:xfrm>
            <a:off x="548640" y="868680"/>
            <a:ext cx="10607040" cy="822960"/>
          </a:xfrm>
          <a:prstGeom prst="rect">
            <a:avLst/>
          </a:prstGeom>
          <a:noFill/>
          <a:ln/>
        </p:spPr>
        <p:txBody>
          <a:bodyPr wrap="square" lIns="0" tIns="0" rIns="0" bIns="0" rtlCol="0" anchor="ctr"/>
          <a:lstStyle/>
          <a:p>
            <a:pPr marL="0" indent="0">
              <a:buNone/>
            </a:pPr>
            <a:r>
              <a:rPr lang="en-US" sz="3000" b="1" dirty="0">
                <a:solidFill>
                  <a:srgbClr val="12303C"/>
                </a:solidFill>
                <a:latin typeface="Georgia" pitchFamily="34" charset="0"/>
                <a:ea typeface="Georgia" pitchFamily="34" charset="-122"/>
                <a:cs typeface="Georgia" pitchFamily="34" charset="-120"/>
              </a:rPr>
              <a:t>Que nous disent les chiffres ?</a:t>
            </a:r>
            <a:endParaRPr lang="en-US" sz="3000" dirty="0"/>
          </a:p>
        </p:txBody>
      </p:sp>
      <p:sp>
        <p:nvSpPr>
          <p:cNvPr id="6" name="Text 3"/>
          <p:cNvSpPr/>
          <p:nvPr/>
        </p:nvSpPr>
        <p:spPr>
          <a:xfrm>
            <a:off x="548640" y="1783080"/>
            <a:ext cx="11064240" cy="457200"/>
          </a:xfrm>
          <a:prstGeom prst="rect">
            <a:avLst/>
          </a:prstGeom>
          <a:noFill/>
          <a:ln/>
        </p:spPr>
        <p:txBody>
          <a:bodyPr wrap="square" lIns="0" tIns="0" rIns="0" bIns="0" rtlCol="0" anchor="ctr"/>
          <a:lstStyle/>
          <a:p>
            <a:pPr marL="0" indent="0">
              <a:buNone/>
            </a:pPr>
            <a:r>
              <a:rPr lang="en-US" sz="1550" i="1" dirty="0">
                <a:solidFill>
                  <a:srgbClr val="3C5560"/>
                </a:solidFill>
                <a:latin typeface="Calibri" pitchFamily="34" charset="0"/>
                <a:ea typeface="Calibri" pitchFamily="34" charset="-122"/>
                <a:cs typeface="Calibri" pitchFamily="34" charset="-120"/>
              </a:rPr>
              <a:t>Trois </a:t>
            </a:r>
            <a:r>
              <a:rPr lang="en-US" sz="1550" i="1" dirty="0" err="1">
                <a:solidFill>
                  <a:srgbClr val="3C5560"/>
                </a:solidFill>
                <a:latin typeface="Calibri" pitchFamily="34" charset="0"/>
                <a:ea typeface="Calibri" pitchFamily="34" charset="-122"/>
                <a:cs typeface="Calibri" pitchFamily="34" charset="-120"/>
              </a:rPr>
              <a:t>requêtes types</a:t>
            </a:r>
            <a:r>
              <a:rPr lang="en-US" sz="1550" i="1" dirty="0">
                <a:solidFill>
                  <a:srgbClr val="3C5560"/>
                </a:solidFill>
                <a:latin typeface="Calibri" pitchFamily="34" charset="0"/>
                <a:ea typeface="Calibri" pitchFamily="34" charset="-122"/>
                <a:cs typeface="Calibri" pitchFamily="34" charset="-120"/>
              </a:rPr>
              <a:t> benchmarkées : l'impact du cache et de l'heuristique se mesure concrètement.</a:t>
            </a:r>
            <a:endParaRPr lang="en-US" sz="1550" dirty="0"/>
          </a:p>
        </p:txBody>
      </p:sp>
      <p:sp>
        <p:nvSpPr>
          <p:cNvPr id="7" name="Shape 4"/>
          <p:cNvSpPr/>
          <p:nvPr/>
        </p:nvSpPr>
        <p:spPr>
          <a:xfrm>
            <a:off x="548640" y="2377440"/>
            <a:ext cx="5394960" cy="1554480"/>
          </a:xfrm>
          <a:prstGeom prst="roundRect">
            <a:avLst>
              <a:gd name="adj" fmla="val 5882"/>
            </a:avLst>
          </a:prstGeom>
          <a:solidFill>
            <a:srgbClr val="F2F7F8"/>
          </a:solidFill>
          <a:ln w="12700">
            <a:solidFill>
              <a:srgbClr val="CDDDE0"/>
            </a:solidFill>
            <a:prstDash val="solid"/>
          </a:ln>
        </p:spPr>
      </p:sp>
      <p:sp>
        <p:nvSpPr>
          <p:cNvPr id="8" name="Shape 5"/>
          <p:cNvSpPr/>
          <p:nvPr/>
        </p:nvSpPr>
        <p:spPr>
          <a:xfrm>
            <a:off x="868680" y="2743200"/>
            <a:ext cx="777240" cy="777240"/>
          </a:xfrm>
          <a:prstGeom prst="ellipse">
            <a:avLst/>
          </a:prstGeom>
          <a:solidFill>
            <a:srgbClr val="0B3D52"/>
          </a:solidFill>
          <a:ln/>
        </p:spPr>
      </p:sp>
      <p:pic>
        <p:nvPicPr>
          <p:cNvPr id="9" name="Image 1" descr="preencoded.png"/>
          <p:cNvPicPr>
            <a:picLocks noChangeAspect="1"/>
          </p:cNvPicPr>
          <p:nvPr/>
        </p:nvPicPr>
        <p:blipFill>
          <a:blip r:embed="rId3"/>
          <a:stretch>
            <a:fillRect/>
          </a:stretch>
        </p:blipFill>
        <p:spPr>
          <a:xfrm>
            <a:off x="1069848" y="2944368"/>
            <a:ext cx="384048" cy="384048"/>
          </a:xfrm>
          <a:prstGeom prst="rect">
            <a:avLst/>
          </a:prstGeom>
        </p:spPr>
      </p:pic>
      <p:sp>
        <p:nvSpPr>
          <p:cNvPr id="10" name="Text 6"/>
          <p:cNvSpPr/>
          <p:nvPr/>
        </p:nvSpPr>
        <p:spPr>
          <a:xfrm>
            <a:off x="1874520" y="2697480"/>
            <a:ext cx="3840480" cy="457200"/>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Niveau 1 · 1 clause</a:t>
            </a:r>
            <a:endParaRPr lang="en-US" sz="1800" dirty="0"/>
          </a:p>
        </p:txBody>
      </p:sp>
      <p:sp>
        <p:nvSpPr>
          <p:cNvPr id="11" name="Text 7"/>
          <p:cNvSpPr/>
          <p:nvPr/>
        </p:nvSpPr>
        <p:spPr>
          <a:xfrm>
            <a:off x="1874520" y="3154680"/>
            <a:ext cx="3840480" cy="640080"/>
          </a:xfrm>
          <a:prstGeom prst="rect">
            <a:avLst/>
          </a:prstGeom>
          <a:noFill/>
          <a:ln/>
        </p:spPr>
        <p:txBody>
          <a:bodyPr wrap="square" lIns="0" tIns="0" rIns="0" bIns="0" rtlCol="0" anchor="ctr"/>
          <a:lstStyle/>
          <a:p>
            <a:pPr marL="0" indent="0">
              <a:lnSpc>
                <a:spcPct val="112000"/>
              </a:lnSpc>
              <a:buNone/>
            </a:pPr>
            <a:r>
              <a:rPr lang="en-US" sz="1350" dirty="0">
                <a:solidFill>
                  <a:srgbClr val="3C5560"/>
                </a:solidFill>
                <a:latin typeface="Calibri" pitchFamily="34" charset="0"/>
                <a:ea typeface="Calibri" pitchFamily="34" charset="-122"/>
                <a:cs typeface="Calibri" pitchFamily="34" charset="-120"/>
              </a:rPr>
              <a:t>~80 ms · 12 résultats · 4 appels API · cache 25 % hit · base de référence.</a:t>
            </a:r>
            <a:endParaRPr lang="en-US" sz="1350" dirty="0"/>
          </a:p>
        </p:txBody>
      </p:sp>
      <p:sp>
        <p:nvSpPr>
          <p:cNvPr id="12" name="Shape 8"/>
          <p:cNvSpPr/>
          <p:nvPr/>
        </p:nvSpPr>
        <p:spPr>
          <a:xfrm>
            <a:off x="6263640" y="2377440"/>
            <a:ext cx="5394960" cy="1554480"/>
          </a:xfrm>
          <a:prstGeom prst="roundRect">
            <a:avLst>
              <a:gd name="adj" fmla="val 5882"/>
            </a:avLst>
          </a:prstGeom>
          <a:solidFill>
            <a:srgbClr val="F2F7F8"/>
          </a:solidFill>
          <a:ln w="12700">
            <a:solidFill>
              <a:srgbClr val="CDDDE0"/>
            </a:solidFill>
            <a:prstDash val="solid"/>
          </a:ln>
        </p:spPr>
      </p:sp>
      <p:sp>
        <p:nvSpPr>
          <p:cNvPr id="13" name="Shape 9"/>
          <p:cNvSpPr/>
          <p:nvPr/>
        </p:nvSpPr>
        <p:spPr>
          <a:xfrm>
            <a:off x="6583680" y="2743200"/>
            <a:ext cx="777240" cy="777240"/>
          </a:xfrm>
          <a:prstGeom prst="ellipse">
            <a:avLst/>
          </a:prstGeom>
          <a:solidFill>
            <a:srgbClr val="0B3D52"/>
          </a:solidFill>
          <a:ln/>
        </p:spPr>
      </p:sp>
      <p:pic>
        <p:nvPicPr>
          <p:cNvPr id="14" name="Image 2" descr="preencoded.png"/>
          <p:cNvPicPr>
            <a:picLocks noChangeAspect="1"/>
          </p:cNvPicPr>
          <p:nvPr/>
        </p:nvPicPr>
        <p:blipFill>
          <a:blip r:embed="rId4"/>
          <a:stretch>
            <a:fillRect/>
          </a:stretch>
        </p:blipFill>
        <p:spPr>
          <a:xfrm>
            <a:off x="6784848" y="2944368"/>
            <a:ext cx="384048" cy="384048"/>
          </a:xfrm>
          <a:prstGeom prst="rect">
            <a:avLst/>
          </a:prstGeom>
        </p:spPr>
      </p:pic>
      <p:sp>
        <p:nvSpPr>
          <p:cNvPr id="15" name="Text 10"/>
          <p:cNvSpPr/>
          <p:nvPr/>
        </p:nvSpPr>
        <p:spPr>
          <a:xfrm>
            <a:off x="7589520" y="2697480"/>
            <a:ext cx="3840480" cy="457200"/>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Niveau 2 · 2 clauses ET</a:t>
            </a:r>
            <a:endParaRPr lang="en-US" sz="1800" dirty="0"/>
          </a:p>
        </p:txBody>
      </p:sp>
      <p:sp>
        <p:nvSpPr>
          <p:cNvPr id="16" name="Text 11"/>
          <p:cNvSpPr/>
          <p:nvPr/>
        </p:nvSpPr>
        <p:spPr>
          <a:xfrm>
            <a:off x="7589520" y="3154680"/>
            <a:ext cx="3840480" cy="640080"/>
          </a:xfrm>
          <a:prstGeom prst="rect">
            <a:avLst/>
          </a:prstGeom>
          <a:noFill/>
          <a:ln/>
        </p:spPr>
        <p:txBody>
          <a:bodyPr wrap="square" lIns="0" tIns="0" rIns="0" bIns="0" rtlCol="0" anchor="ctr"/>
          <a:lstStyle/>
          <a:p>
            <a:pPr marL="0" indent="0">
              <a:lnSpc>
                <a:spcPct val="112000"/>
              </a:lnSpc>
              <a:buNone/>
            </a:pPr>
            <a:r>
              <a:rPr lang="en-US" sz="1350" dirty="0">
                <a:solidFill>
                  <a:srgbClr val="3C5560"/>
                </a:solidFill>
                <a:latin typeface="Calibri" pitchFamily="34" charset="0"/>
                <a:ea typeface="Calibri" pitchFamily="34" charset="-122"/>
                <a:cs typeface="Calibri" pitchFamily="34" charset="-120"/>
              </a:rPr>
              <a:t>~150 ms · 47 résultats · 18 appels · cache 60 % hit · ordre heuristique : ×3 plus rapide qu’un ordre naïf.</a:t>
            </a:r>
            <a:endParaRPr lang="en-US" sz="1350" dirty="0"/>
          </a:p>
        </p:txBody>
      </p:sp>
      <p:sp>
        <p:nvSpPr>
          <p:cNvPr id="17" name="Shape 12"/>
          <p:cNvSpPr/>
          <p:nvPr/>
        </p:nvSpPr>
        <p:spPr>
          <a:xfrm>
            <a:off x="548640" y="4160520"/>
            <a:ext cx="5394960" cy="1554480"/>
          </a:xfrm>
          <a:prstGeom prst="roundRect">
            <a:avLst>
              <a:gd name="adj" fmla="val 5882"/>
            </a:avLst>
          </a:prstGeom>
          <a:solidFill>
            <a:srgbClr val="F2F7F8"/>
          </a:solidFill>
          <a:ln w="12700">
            <a:solidFill>
              <a:srgbClr val="CDDDE0"/>
            </a:solidFill>
            <a:prstDash val="solid"/>
          </a:ln>
        </p:spPr>
      </p:sp>
      <p:sp>
        <p:nvSpPr>
          <p:cNvPr id="18" name="Shape 13"/>
          <p:cNvSpPr/>
          <p:nvPr/>
        </p:nvSpPr>
        <p:spPr>
          <a:xfrm>
            <a:off x="868680" y="4526280"/>
            <a:ext cx="777240" cy="777240"/>
          </a:xfrm>
          <a:prstGeom prst="ellipse">
            <a:avLst/>
          </a:prstGeom>
          <a:solidFill>
            <a:srgbClr val="0B3D52"/>
          </a:solidFill>
          <a:ln/>
        </p:spPr>
      </p:sp>
      <p:pic>
        <p:nvPicPr>
          <p:cNvPr id="19" name="Image 3" descr="preencoded.png"/>
          <p:cNvPicPr>
            <a:picLocks noChangeAspect="1"/>
          </p:cNvPicPr>
          <p:nvPr/>
        </p:nvPicPr>
        <p:blipFill>
          <a:blip r:embed="rId5"/>
          <a:stretch>
            <a:fillRect/>
          </a:stretch>
        </p:blipFill>
        <p:spPr>
          <a:xfrm>
            <a:off x="1069848" y="4727448"/>
            <a:ext cx="384048" cy="384048"/>
          </a:xfrm>
          <a:prstGeom prst="rect">
            <a:avLst/>
          </a:prstGeom>
        </p:spPr>
      </p:pic>
      <p:sp>
        <p:nvSpPr>
          <p:cNvPr id="20" name="Text 14"/>
          <p:cNvSpPr/>
          <p:nvPr/>
        </p:nvSpPr>
        <p:spPr>
          <a:xfrm>
            <a:off x="1874520" y="4480560"/>
            <a:ext cx="3840480" cy="457200"/>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Niveau 3 · jointure</a:t>
            </a:r>
            <a:endParaRPr lang="en-US" sz="1800" dirty="0"/>
          </a:p>
        </p:txBody>
      </p:sp>
      <p:sp>
        <p:nvSpPr>
          <p:cNvPr id="21" name="Text 15"/>
          <p:cNvSpPr/>
          <p:nvPr/>
        </p:nvSpPr>
        <p:spPr>
          <a:xfrm>
            <a:off x="1874520" y="4937760"/>
            <a:ext cx="3840480" cy="640080"/>
          </a:xfrm>
          <a:prstGeom prst="rect">
            <a:avLst/>
          </a:prstGeom>
          <a:noFill/>
          <a:ln/>
        </p:spPr>
        <p:txBody>
          <a:bodyPr wrap="square" lIns="0" tIns="0" rIns="0" bIns="0" rtlCol="0" anchor="ctr"/>
          <a:lstStyle/>
          <a:p>
            <a:pPr marL="0" indent="0">
              <a:lnSpc>
                <a:spcPct val="112000"/>
              </a:lnSpc>
              <a:buNone/>
            </a:pPr>
            <a:r>
              <a:rPr lang="en-US" sz="1350" dirty="0">
                <a:solidFill>
                  <a:srgbClr val="3C5560"/>
                </a:solidFill>
                <a:latin typeface="Calibri" pitchFamily="34" charset="0"/>
                <a:ea typeface="Calibri" pitchFamily="34" charset="-122"/>
                <a:cs typeface="Calibri" pitchFamily="34" charset="-120"/>
              </a:rPr>
              <a:t>~420 ms · 196 paires · 30 appels · pas d’explosion combinatoire grâce à l’exploration directe.</a:t>
            </a:r>
            <a:endParaRPr lang="en-US" sz="1350" dirty="0"/>
          </a:p>
        </p:txBody>
      </p:sp>
      <p:sp>
        <p:nvSpPr>
          <p:cNvPr id="22" name="Shape 16"/>
          <p:cNvSpPr/>
          <p:nvPr/>
        </p:nvSpPr>
        <p:spPr>
          <a:xfrm>
            <a:off x="6263640" y="4160520"/>
            <a:ext cx="5394960" cy="1554480"/>
          </a:xfrm>
          <a:prstGeom prst="roundRect">
            <a:avLst>
              <a:gd name="adj" fmla="val 5882"/>
            </a:avLst>
          </a:prstGeom>
          <a:solidFill>
            <a:srgbClr val="F2F7F8"/>
          </a:solidFill>
          <a:ln w="12700">
            <a:solidFill>
              <a:srgbClr val="CDDDE0"/>
            </a:solidFill>
            <a:prstDash val="solid"/>
          </a:ln>
        </p:spPr>
      </p:sp>
      <p:sp>
        <p:nvSpPr>
          <p:cNvPr id="23" name="Shape 17"/>
          <p:cNvSpPr/>
          <p:nvPr/>
        </p:nvSpPr>
        <p:spPr>
          <a:xfrm>
            <a:off x="6583680" y="4526280"/>
            <a:ext cx="777240" cy="777240"/>
          </a:xfrm>
          <a:prstGeom prst="ellipse">
            <a:avLst/>
          </a:prstGeom>
          <a:solidFill>
            <a:srgbClr val="0B3D52"/>
          </a:solidFill>
          <a:ln/>
        </p:spPr>
      </p:sp>
      <p:pic>
        <p:nvPicPr>
          <p:cNvPr id="24" name="Image 4" descr="preencoded.png"/>
          <p:cNvPicPr>
            <a:picLocks noChangeAspect="1"/>
          </p:cNvPicPr>
          <p:nvPr/>
        </p:nvPicPr>
        <p:blipFill>
          <a:blip r:embed="rId6"/>
          <a:stretch>
            <a:fillRect/>
          </a:stretch>
        </p:blipFill>
        <p:spPr>
          <a:xfrm>
            <a:off x="6784848" y="4727448"/>
            <a:ext cx="384048" cy="384048"/>
          </a:xfrm>
          <a:prstGeom prst="rect">
            <a:avLst/>
          </a:prstGeom>
        </p:spPr>
      </p:pic>
      <p:sp>
        <p:nvSpPr>
          <p:cNvPr id="25" name="Text 18"/>
          <p:cNvSpPr/>
          <p:nvPr/>
        </p:nvSpPr>
        <p:spPr>
          <a:xfrm>
            <a:off x="7589520" y="4480560"/>
            <a:ext cx="3840480" cy="457200"/>
          </a:xfrm>
          <a:prstGeom prst="rect">
            <a:avLst/>
          </a:prstGeom>
          <a:noFill/>
          <a:ln/>
        </p:spPr>
        <p:txBody>
          <a:bodyPr wrap="square" lIns="0" tIns="0" rIns="0" bIns="0" rtlCol="0" anchor="ctr"/>
          <a:lstStyle/>
          <a:p>
            <a:pPr marL="0" indent="0">
              <a:buNone/>
            </a:pPr>
            <a:r>
              <a:rPr lang="en-US" sz="1800" b="1" dirty="0">
                <a:solidFill>
                  <a:srgbClr val="12303C"/>
                </a:solidFill>
                <a:latin typeface="Georgia" pitchFamily="34" charset="0"/>
                <a:ea typeface="Georgia" pitchFamily="34" charset="-122"/>
                <a:cs typeface="Georgia" pitchFamily="34" charset="-120"/>
              </a:rPr>
              <a:t>Mode exhaustif</a:t>
            </a:r>
            <a:endParaRPr lang="en-US" sz="1800" dirty="0"/>
          </a:p>
        </p:txBody>
      </p:sp>
      <p:sp>
        <p:nvSpPr>
          <p:cNvPr id="26" name="Text 19"/>
          <p:cNvSpPr/>
          <p:nvPr/>
        </p:nvSpPr>
        <p:spPr>
          <a:xfrm>
            <a:off x="7589520" y="4937760"/>
            <a:ext cx="3840480" cy="640080"/>
          </a:xfrm>
          <a:prstGeom prst="rect">
            <a:avLst/>
          </a:prstGeom>
          <a:noFill/>
          <a:ln/>
        </p:spPr>
        <p:txBody>
          <a:bodyPr wrap="square" lIns="0" tIns="0" rIns="0" bIns="0" rtlCol="0" anchor="ctr"/>
          <a:lstStyle/>
          <a:p>
            <a:pPr marL="0" indent="0">
              <a:lnSpc>
                <a:spcPct val="112000"/>
              </a:lnSpc>
              <a:buNone/>
            </a:pPr>
            <a:r>
              <a:rPr lang="en-US" sz="1350" dirty="0">
                <a:solidFill>
                  <a:srgbClr val="3C5560"/>
                </a:solidFill>
                <a:latin typeface="Calibri" pitchFamily="34" charset="0"/>
                <a:ea typeface="Calibri" pitchFamily="34" charset="-122"/>
                <a:cs typeface="Calibri" pitchFamily="34" charset="-120"/>
              </a:rPr>
              <a:t>~1,8 s sur N1 · ~6,4 s sur N3 · cardinalité plus fiable, mais 4 à 5× plus lent que le mode normal.</a:t>
            </a:r>
            <a:endParaRPr lang="en-US" sz="1350" dirty="0"/>
          </a:p>
        </p:txBody>
      </p:sp>
      <p:sp>
        <p:nvSpPr>
          <p:cNvPr id="27" name="Shape 20"/>
          <p:cNvSpPr/>
          <p:nvPr/>
        </p:nvSpPr>
        <p:spPr>
          <a:xfrm>
            <a:off x="548640" y="5989320"/>
            <a:ext cx="11064240" cy="566928"/>
          </a:xfrm>
          <a:prstGeom prst="roundRect">
            <a:avLst>
              <a:gd name="adj" fmla="val 16129"/>
            </a:avLst>
          </a:prstGeom>
          <a:solidFill>
            <a:srgbClr val="0B3D52"/>
          </a:solidFill>
          <a:ln/>
        </p:spPr>
      </p:sp>
      <p:sp>
        <p:nvSpPr>
          <p:cNvPr id="28" name="Text 21"/>
          <p:cNvSpPr/>
          <p:nvPr/>
        </p:nvSpPr>
        <p:spPr>
          <a:xfrm>
            <a:off x="868680" y="5989320"/>
            <a:ext cx="10515600" cy="566928"/>
          </a:xfrm>
          <a:prstGeom prst="rect">
            <a:avLst/>
          </a:prstGeom>
          <a:noFill/>
          <a:ln/>
        </p:spPr>
        <p:txBody>
          <a:bodyPr wrap="square" lIns="0" tIns="0" rIns="0" bIns="0" rtlCol="0" anchor="ctr"/>
          <a:lstStyle/>
          <a:p>
            <a:pPr marL="0" indent="0">
              <a:buNone/>
            </a:pPr>
            <a:r>
              <a:rPr lang="en-US" sz="1250" b="1" kern="0" spc="100" dirty="0">
                <a:solidFill>
                  <a:srgbClr val="2EC4B6"/>
                </a:solidFill>
                <a:latin typeface="Calibri" pitchFamily="34" charset="0"/>
                <a:ea typeface="Calibri" pitchFamily="34" charset="-122"/>
                <a:cs typeface="Calibri" pitchFamily="34" charset="-120"/>
              </a:rPr>
              <a:t>GAINS OBSERVÉS   </a:t>
            </a:r>
            <a:r>
              <a:rPr lang="en-US" sz="1250" dirty="0">
                <a:solidFill>
                  <a:srgbClr val="8FE3DA"/>
                </a:solidFill>
                <a:latin typeface="Calibri" pitchFamily="34" charset="0"/>
                <a:ea typeface="Calibri" pitchFamily="34" charset="-122"/>
                <a:cs typeface="Calibri" pitchFamily="34" charset="-120"/>
              </a:rPr>
              <a:t>cache : −60 % d’appels réseau · heuristique : ×3 plus rapide sur N2 · jointure ciblée évite ~10⁹ combinaisons sur N3</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B3D52"/>
        </a:solidFill>
        <a:effectLst/>
      </p:bgPr>
    </p:bg>
    <p:spTree>
      <p:nvGrpSpPr>
        <p:cNvPr id="1" name=""/>
        <p:cNvGrpSpPr/>
        <p:nvPr/>
      </p:nvGrpSpPr>
      <p:grpSpPr>
        <a:xfrm>
          <a:off x="0" y="0"/>
          <a:ext cx="0" cy="0"/>
          <a:chOff x="0" y="0"/>
          <a:chExt cx="0" cy="0"/>
        </a:xfrm>
      </p:grpSpPr>
      <p:sp>
        <p:nvSpPr>
          <p:cNvPr id="2" name="Shape 0"/>
          <p:cNvSpPr/>
          <p:nvPr/>
        </p:nvSpPr>
        <p:spPr>
          <a:xfrm>
            <a:off x="10561320" y="5806440"/>
            <a:ext cx="824789" cy="0"/>
          </a:xfrm>
          <a:prstGeom prst="line">
            <a:avLst/>
          </a:prstGeom>
          <a:noFill/>
          <a:ln w="15875">
            <a:solidFill>
              <a:srgbClr val="1C7293">
                <a:alpha val="70000"/>
              </a:srgbClr>
            </a:solidFill>
            <a:prstDash val="solid"/>
          </a:ln>
        </p:spPr>
      </p:sp>
      <p:sp>
        <p:nvSpPr>
          <p:cNvPr id="3" name="Shape 1"/>
          <p:cNvSpPr/>
          <p:nvPr/>
        </p:nvSpPr>
        <p:spPr>
          <a:xfrm>
            <a:off x="10561320" y="5806440"/>
            <a:ext cx="749808" cy="524866"/>
          </a:xfrm>
          <a:prstGeom prst="line">
            <a:avLst/>
          </a:prstGeom>
          <a:noFill/>
          <a:ln w="15875">
            <a:solidFill>
              <a:srgbClr val="1C7293">
                <a:alpha val="70000"/>
              </a:srgbClr>
            </a:solidFill>
            <a:prstDash val="solid"/>
          </a:ln>
        </p:spPr>
      </p:sp>
      <p:sp>
        <p:nvSpPr>
          <p:cNvPr id="5" name="Shape 3"/>
          <p:cNvSpPr/>
          <p:nvPr/>
        </p:nvSpPr>
        <p:spPr>
          <a:xfrm>
            <a:off x="11311128" y="6331306"/>
            <a:ext cx="824789" cy="0"/>
          </a:xfrm>
          <a:prstGeom prst="line">
            <a:avLst/>
          </a:prstGeom>
          <a:noFill/>
          <a:ln w="15875">
            <a:solidFill>
              <a:srgbClr val="1C7293">
                <a:alpha val="70000"/>
              </a:srgbClr>
            </a:solidFill>
            <a:prstDash val="solid"/>
          </a:ln>
        </p:spPr>
      </p:sp>
      <p:sp>
        <p:nvSpPr>
          <p:cNvPr id="7" name="Shape 5"/>
          <p:cNvSpPr/>
          <p:nvPr/>
        </p:nvSpPr>
        <p:spPr>
          <a:xfrm>
            <a:off x="11311128" y="6331306"/>
            <a:ext cx="0" cy="449885"/>
          </a:xfrm>
          <a:prstGeom prst="line">
            <a:avLst/>
          </a:prstGeom>
          <a:noFill/>
          <a:ln w="15875">
            <a:solidFill>
              <a:srgbClr val="1C7293">
                <a:alpha val="70000"/>
              </a:srgbClr>
            </a:solidFill>
            <a:prstDash val="solid"/>
          </a:ln>
        </p:spPr>
      </p:sp>
      <p:sp>
        <p:nvSpPr>
          <p:cNvPr id="8" name="Shape 6"/>
          <p:cNvSpPr/>
          <p:nvPr/>
        </p:nvSpPr>
        <p:spPr>
          <a:xfrm>
            <a:off x="10471343" y="5716463"/>
            <a:ext cx="179954" cy="179954"/>
          </a:xfrm>
          <a:prstGeom prst="ellipse">
            <a:avLst/>
          </a:prstGeom>
          <a:solidFill>
            <a:srgbClr val="1C7293"/>
          </a:solidFill>
          <a:ln/>
        </p:spPr>
      </p:sp>
      <p:sp>
        <p:nvSpPr>
          <p:cNvPr id="9" name="Shape 7"/>
          <p:cNvSpPr/>
          <p:nvPr/>
        </p:nvSpPr>
        <p:spPr>
          <a:xfrm>
            <a:off x="11307361" y="5694152"/>
            <a:ext cx="179954" cy="179954"/>
          </a:xfrm>
          <a:prstGeom prst="ellipse">
            <a:avLst/>
          </a:prstGeom>
          <a:solidFill>
            <a:srgbClr val="1C7293"/>
          </a:solidFill>
          <a:ln/>
        </p:spPr>
      </p:sp>
      <p:sp>
        <p:nvSpPr>
          <p:cNvPr id="10" name="Shape 8"/>
          <p:cNvSpPr/>
          <p:nvPr/>
        </p:nvSpPr>
        <p:spPr>
          <a:xfrm>
            <a:off x="11221151" y="6241329"/>
            <a:ext cx="179954" cy="179954"/>
          </a:xfrm>
          <a:prstGeom prst="ellipse">
            <a:avLst/>
          </a:prstGeom>
          <a:solidFill>
            <a:srgbClr val="1C7293"/>
          </a:solidFill>
          <a:ln/>
        </p:spPr>
      </p:sp>
      <p:sp>
        <p:nvSpPr>
          <p:cNvPr id="13" name="Text 11"/>
          <p:cNvSpPr/>
          <p:nvPr/>
        </p:nvSpPr>
        <p:spPr>
          <a:xfrm>
            <a:off x="822960" y="640080"/>
            <a:ext cx="7315200" cy="365760"/>
          </a:xfrm>
          <a:prstGeom prst="rect">
            <a:avLst/>
          </a:prstGeom>
          <a:noFill/>
          <a:ln/>
        </p:spPr>
        <p:txBody>
          <a:bodyPr wrap="square" lIns="0" tIns="0" rIns="0" bIns="0" rtlCol="0" anchor="ctr"/>
          <a:lstStyle/>
          <a:p>
            <a:pPr marL="0" indent="0">
              <a:buNone/>
            </a:pPr>
            <a:r>
              <a:rPr lang="en-US" sz="1300" b="1" kern="0" spc="300" dirty="0">
                <a:solidFill>
                  <a:srgbClr val="8FE3DA"/>
                </a:solidFill>
                <a:latin typeface="Calibri" pitchFamily="34" charset="0"/>
                <a:ea typeface="Calibri" pitchFamily="34" charset="-122"/>
                <a:cs typeface="Calibri" pitchFamily="34" charset="-120"/>
              </a:rPr>
              <a:t>CONCLUSION</a:t>
            </a:r>
            <a:endParaRPr lang="en-US" sz="1300" dirty="0"/>
          </a:p>
        </p:txBody>
      </p:sp>
      <p:sp>
        <p:nvSpPr>
          <p:cNvPr id="14" name="Text 12"/>
          <p:cNvSpPr/>
          <p:nvPr/>
        </p:nvSpPr>
        <p:spPr>
          <a:xfrm>
            <a:off x="786384" y="1005840"/>
            <a:ext cx="10515600" cy="822960"/>
          </a:xfrm>
          <a:prstGeom prst="rect">
            <a:avLst/>
          </a:prstGeom>
          <a:noFill/>
          <a:ln/>
        </p:spPr>
        <p:txBody>
          <a:bodyPr wrap="square" lIns="0" tIns="0" rIns="0" bIns="0" rtlCol="0" anchor="ctr"/>
          <a:lstStyle/>
          <a:p>
            <a:pPr marL="0" indent="0">
              <a:buNone/>
            </a:pPr>
            <a:r>
              <a:rPr lang="en-US" sz="3300" b="1" dirty="0">
                <a:solidFill>
                  <a:srgbClr val="FFFFFF"/>
                </a:solidFill>
                <a:latin typeface="Georgia" pitchFamily="34" charset="0"/>
                <a:ea typeface="Georgia" pitchFamily="34" charset="-122"/>
                <a:cs typeface="Georgia" pitchFamily="34" charset="-120"/>
              </a:rPr>
              <a:t>D'une interface simple à un moteur complet</a:t>
            </a:r>
            <a:endParaRPr lang="en-US" sz="3300" dirty="0"/>
          </a:p>
        </p:txBody>
      </p:sp>
      <p:sp>
        <p:nvSpPr>
          <p:cNvPr id="15" name="Text 13"/>
          <p:cNvSpPr/>
          <p:nvPr/>
        </p:nvSpPr>
        <p:spPr>
          <a:xfrm>
            <a:off x="822960" y="1874520"/>
            <a:ext cx="10607040" cy="411480"/>
          </a:xfrm>
          <a:prstGeom prst="rect">
            <a:avLst/>
          </a:prstGeom>
          <a:noFill/>
          <a:ln/>
        </p:spPr>
        <p:txBody>
          <a:bodyPr wrap="square" lIns="0" tIns="0" rIns="0" bIns="0" rtlCol="0" anchor="ctr"/>
          <a:lstStyle/>
          <a:p>
            <a:pPr marL="0" indent="0">
              <a:buNone/>
            </a:pPr>
            <a:r>
              <a:rPr lang="en-US" sz="1350" dirty="0">
                <a:solidFill>
                  <a:srgbClr val="8FE3DA"/>
                </a:solidFill>
                <a:latin typeface="Consolas" pitchFamily="34" charset="0"/>
                <a:ea typeface="Consolas" pitchFamily="34" charset="-122"/>
                <a:cs typeface="Consolas" pitchFamily="34" charset="-120"/>
              </a:rPr>
              <a:t>interface  →  parseur  →  serveur  →  moteur de requêtes  →  système optimisé &amp; observable</a:t>
            </a:r>
            <a:endParaRPr lang="en-US" sz="1350" dirty="0"/>
          </a:p>
        </p:txBody>
      </p:sp>
      <p:sp>
        <p:nvSpPr>
          <p:cNvPr id="16" name="Text 14"/>
          <p:cNvSpPr/>
          <p:nvPr/>
        </p:nvSpPr>
        <p:spPr>
          <a:xfrm>
            <a:off x="822960" y="2514600"/>
            <a:ext cx="3383280" cy="365760"/>
          </a:xfrm>
          <a:prstGeom prst="rect">
            <a:avLst/>
          </a:prstGeom>
          <a:noFill/>
          <a:ln/>
        </p:spPr>
        <p:txBody>
          <a:bodyPr wrap="square" lIns="0" tIns="0" rIns="0" bIns="0" rtlCol="0" anchor="ctr"/>
          <a:lstStyle/>
          <a:p>
            <a:pPr marL="0" indent="0">
              <a:buNone/>
            </a:pPr>
            <a:r>
              <a:rPr lang="en-US" sz="1300" b="1" kern="0" spc="150" dirty="0">
                <a:solidFill>
                  <a:srgbClr val="2EC4B6"/>
                </a:solidFill>
                <a:latin typeface="Calibri" pitchFamily="34" charset="0"/>
                <a:ea typeface="Calibri" pitchFamily="34" charset="-122"/>
                <a:cs typeface="Calibri" pitchFamily="34" charset="-120"/>
              </a:rPr>
              <a:t>ACQUIS</a:t>
            </a:r>
            <a:endParaRPr lang="en-US" sz="1300" dirty="0"/>
          </a:p>
        </p:txBody>
      </p:sp>
      <p:sp>
        <p:nvSpPr>
          <p:cNvPr id="17" name="Shape 15"/>
          <p:cNvSpPr/>
          <p:nvPr/>
        </p:nvSpPr>
        <p:spPr>
          <a:xfrm>
            <a:off x="822960" y="2880360"/>
            <a:ext cx="822960" cy="36576"/>
          </a:xfrm>
          <a:prstGeom prst="rect">
            <a:avLst/>
          </a:prstGeom>
          <a:solidFill>
            <a:srgbClr val="2EC4B6"/>
          </a:solidFill>
          <a:ln/>
        </p:spPr>
      </p:sp>
      <p:sp>
        <p:nvSpPr>
          <p:cNvPr id="18" name="Text 16"/>
          <p:cNvSpPr/>
          <p:nvPr/>
        </p:nvSpPr>
        <p:spPr>
          <a:xfrm>
            <a:off x="822960" y="3063240"/>
            <a:ext cx="3383280" cy="2834640"/>
          </a:xfrm>
          <a:prstGeom prst="rect">
            <a:avLst/>
          </a:prstGeom>
          <a:noFill/>
          <a:ln/>
        </p:spPr>
        <p:txBody>
          <a:bodyPr wrap="square" lIns="0" tIns="0" rIns="0" bIns="0" rtlCol="0" anchor="ctr"/>
          <a:lstStyle/>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Langage simple mais expressif</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Architecture claire en couches</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Requêtes multi-variables &amp; jointures</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Optimisations : cache, ID, heuristique</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Moteur transparent et mesuré</a:t>
            </a:r>
            <a:endParaRPr lang="en-US" sz="1350" dirty="0"/>
          </a:p>
        </p:txBody>
      </p:sp>
      <p:sp>
        <p:nvSpPr>
          <p:cNvPr id="19" name="Text 17"/>
          <p:cNvSpPr/>
          <p:nvPr/>
        </p:nvSpPr>
        <p:spPr>
          <a:xfrm>
            <a:off x="4434840" y="2514600"/>
            <a:ext cx="3383280" cy="365760"/>
          </a:xfrm>
          <a:prstGeom prst="rect">
            <a:avLst/>
          </a:prstGeom>
          <a:noFill/>
          <a:ln/>
        </p:spPr>
        <p:txBody>
          <a:bodyPr wrap="square" lIns="0" tIns="0" rIns="0" bIns="0" rtlCol="0" anchor="ctr"/>
          <a:lstStyle/>
          <a:p>
            <a:pPr marL="0" indent="0">
              <a:buNone/>
            </a:pPr>
            <a:r>
              <a:rPr lang="en-US" sz="1300" b="1" kern="0" spc="150" dirty="0">
                <a:solidFill>
                  <a:srgbClr val="8FE3DA"/>
                </a:solidFill>
                <a:latin typeface="Calibri" pitchFamily="34" charset="0"/>
                <a:ea typeface="Calibri" pitchFamily="34" charset="-122"/>
                <a:cs typeface="Calibri" pitchFamily="34" charset="-120"/>
              </a:rPr>
              <a:t>LIMITES ASSUMÉES</a:t>
            </a:r>
            <a:endParaRPr lang="en-US" sz="1300" dirty="0"/>
          </a:p>
        </p:txBody>
      </p:sp>
      <p:sp>
        <p:nvSpPr>
          <p:cNvPr id="20" name="Shape 18"/>
          <p:cNvSpPr/>
          <p:nvPr/>
        </p:nvSpPr>
        <p:spPr>
          <a:xfrm>
            <a:off x="4434840" y="2880360"/>
            <a:ext cx="822960" cy="36576"/>
          </a:xfrm>
          <a:prstGeom prst="rect">
            <a:avLst/>
          </a:prstGeom>
          <a:solidFill>
            <a:srgbClr val="8FE3DA"/>
          </a:solidFill>
          <a:ln/>
        </p:spPr>
      </p:sp>
      <p:sp>
        <p:nvSpPr>
          <p:cNvPr id="21" name="Text 19"/>
          <p:cNvSpPr/>
          <p:nvPr/>
        </p:nvSpPr>
        <p:spPr>
          <a:xfrm>
            <a:off x="4434840" y="3063240"/>
            <a:ext cx="3383280" cy="2834640"/>
          </a:xfrm>
          <a:prstGeom prst="rect">
            <a:avLst/>
          </a:prstGeom>
          <a:noFill/>
          <a:ln/>
        </p:spPr>
        <p:txBody>
          <a:bodyPr wrap="square" lIns="0" tIns="0" rIns="0" bIns="0" rtlCol="0" anchor="ctr"/>
          <a:lstStyle/>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Dépend entièrement de JeuxDeMots</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Langage formel, non naturel</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Mode exhaustif plus coûteux</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Heuristique non toujours optimale</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Explosion combinatoire possible</a:t>
            </a:r>
            <a:endParaRPr lang="en-US" sz="1350" dirty="0"/>
          </a:p>
        </p:txBody>
      </p:sp>
      <p:sp>
        <p:nvSpPr>
          <p:cNvPr id="22" name="Text 20"/>
          <p:cNvSpPr/>
          <p:nvPr/>
        </p:nvSpPr>
        <p:spPr>
          <a:xfrm>
            <a:off x="8046720" y="2514600"/>
            <a:ext cx="3383280" cy="365760"/>
          </a:xfrm>
          <a:prstGeom prst="rect">
            <a:avLst/>
          </a:prstGeom>
          <a:noFill/>
          <a:ln/>
        </p:spPr>
        <p:txBody>
          <a:bodyPr wrap="square" lIns="0" tIns="0" rIns="0" bIns="0" rtlCol="0" anchor="ctr"/>
          <a:lstStyle/>
          <a:p>
            <a:pPr marL="0" indent="0">
              <a:buNone/>
            </a:pPr>
            <a:r>
              <a:rPr lang="en-US" sz="1300" b="1" kern="0" spc="150" dirty="0">
                <a:solidFill>
                  <a:srgbClr val="2EC4B6"/>
                </a:solidFill>
                <a:latin typeface="Calibri" pitchFamily="34" charset="0"/>
                <a:ea typeface="Calibri" pitchFamily="34" charset="-122"/>
                <a:cs typeface="Calibri" pitchFamily="34" charset="-120"/>
              </a:rPr>
              <a:t>PERSPECTIVES</a:t>
            </a:r>
            <a:endParaRPr lang="en-US" sz="1300" dirty="0"/>
          </a:p>
        </p:txBody>
      </p:sp>
      <p:sp>
        <p:nvSpPr>
          <p:cNvPr id="23" name="Shape 21"/>
          <p:cNvSpPr/>
          <p:nvPr/>
        </p:nvSpPr>
        <p:spPr>
          <a:xfrm>
            <a:off x="8046720" y="2880360"/>
            <a:ext cx="822960" cy="36576"/>
          </a:xfrm>
          <a:prstGeom prst="rect">
            <a:avLst/>
          </a:prstGeom>
          <a:solidFill>
            <a:srgbClr val="2EC4B6"/>
          </a:solidFill>
          <a:ln/>
        </p:spPr>
      </p:sp>
      <p:sp>
        <p:nvSpPr>
          <p:cNvPr id="24" name="Text 22"/>
          <p:cNvSpPr/>
          <p:nvPr/>
        </p:nvSpPr>
        <p:spPr>
          <a:xfrm>
            <a:off x="8046720" y="3063240"/>
            <a:ext cx="3383280" cy="2834640"/>
          </a:xfrm>
          <a:prstGeom prst="rect">
            <a:avLst/>
          </a:prstGeom>
          <a:noFill/>
          <a:ln/>
        </p:spPr>
        <p:txBody>
          <a:bodyPr wrap="square" lIns="0" tIns="0" rIns="0" bIns="0" rtlCol="0" anchor="ctr"/>
          <a:lstStyle/>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Visualisation graphique du graphe</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Autocomplétion relations &amp; termes</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Export &amp; historique des requêtes</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Négation &amp; filtres sur les poids</a:t>
            </a:r>
            <a:endParaRPr lang="en-US" sz="1350" dirty="0"/>
          </a:p>
          <a:p>
            <a:pPr marL="165100" indent="-165100">
              <a:lnSpc>
                <a:spcPct val="1050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Se rapprocher d'un langage type SPARQL</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5" name="Text 23"/>
          <p:cNvSpPr/>
          <p:nvPr/>
        </p:nvSpPr>
        <p:spPr>
          <a:xfrm>
            <a:off x="4369870" y="2842095"/>
            <a:ext cx="3984859" cy="411480"/>
          </a:xfrm>
          <a:prstGeom prst="rect">
            <a:avLst/>
          </a:prstGeom>
          <a:noFill/>
          <a:ln/>
        </p:spPr>
        <p:txBody>
          <a:bodyPr wrap="square" lIns="0" tIns="0" rIns="0" bIns="0" rtlCol="0" anchor="ctr"/>
          <a:lstStyle/>
          <a:p>
            <a:pPr marL="0" indent="0">
              <a:buNone/>
            </a:pPr>
            <a:r>
              <a:rPr lang="en-US" sz="2400" i="1" dirty="0">
                <a:solidFill>
                  <a:srgbClr val="8FE3DA"/>
                </a:solidFill>
                <a:latin typeface="Georgia" pitchFamily="34" charset="0"/>
                <a:ea typeface="Georgia" pitchFamily="34" charset="-122"/>
                <a:cs typeface="Georgia" pitchFamily="34" charset="-120"/>
              </a:rPr>
              <a:t>Merci de votre attention !!!!</a:t>
            </a:r>
            <a:endParaRPr lang="en-US" sz="2400" dirty="0"/>
          </a:p>
        </p:txBody>
      </p:sp>
    </p:spTree>
    <p:extLst>
      <p:ext uri="{BB962C8B-B14F-4D97-AF65-F5344CB8AC3E}">
        <p14:creationId xmlns:p14="http://schemas.microsoft.com/office/powerpoint/2010/main" val="4212654238"/>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92</TotalTime>
  <Words>1853</Words>
  <Application>Microsoft Office PowerPoint</Application>
  <PresentationFormat>Grand écran</PresentationFormat>
  <Paragraphs>261</Paragraphs>
  <Slides>18</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18</vt:i4>
      </vt:variant>
    </vt:vector>
  </HeadingPairs>
  <TitlesOfParts>
    <vt:vector size="25" baseType="lpstr">
      <vt:lpstr>Aptos</vt:lpstr>
      <vt:lpstr>Aptos Display</vt:lpstr>
      <vt:lpstr>Arial</vt:lpstr>
      <vt:lpstr>Calibri</vt:lpstr>
      <vt:lpstr>Consolas</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WIDO — Moteur sémantique d'interrogation de JeuxDeMots</dc:title>
  <dc:subject>PptxGenJS Presentation</dc:subject>
  <dc:creator>Groupe WIDO</dc:creator>
  <cp:lastModifiedBy>Dangué Sacko</cp:lastModifiedBy>
  <cp:revision>7</cp:revision>
  <dcterms:created xsi:type="dcterms:W3CDTF">2026-05-24T18:25:47Z</dcterms:created>
  <dcterms:modified xsi:type="dcterms:W3CDTF">2026-05-31T10:21:32Z</dcterms:modified>
</cp:coreProperties>
</file>